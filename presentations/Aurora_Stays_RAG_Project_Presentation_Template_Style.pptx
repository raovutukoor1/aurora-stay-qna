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5"/>
    <p:sldMasterId id="214748368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y="5143500" cx="9144000"/>
  <p:notesSz cx="6858000" cy="9144000"/>
  <p:embeddedFontLst>
    <p:embeddedFont>
      <p:font typeface="Nunito SemiBold"/>
      <p:regular r:id="rId40"/>
      <p:bold r:id="rId41"/>
      <p:italic r:id="rId42"/>
      <p:boldItalic r:id="rId43"/>
    </p:embeddedFont>
    <p:embeddedFont>
      <p:font typeface="Nunito"/>
      <p:regular r:id="rId44"/>
      <p:bold r:id="rId45"/>
      <p:italic r:id="rId46"/>
      <p:boldItalic r:id="rId47"/>
    </p:embeddedFont>
    <p:embeddedFont>
      <p:font typeface="Montserrat"/>
      <p:regular r:id="rId48"/>
      <p:bold r:id="rId49"/>
      <p:italic r:id="rId50"/>
      <p:boldItalic r:id="rId51"/>
    </p:embeddedFont>
    <p:embeddedFont>
      <p:font typeface="Nunito ExtraBold"/>
      <p:bold r:id="rId52"/>
      <p:boldItalic r:id="rId53"/>
    </p:embeddedFont>
    <p:embeddedFont>
      <p:font typeface="Century Gothic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5698273-5225-4557-BD2E-0B8C5CF09AB3}">
  <a:tblStyle styleId="{A5698273-5225-4557-BD2E-0B8C5CF09AB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40" Type="http://schemas.openxmlformats.org/officeDocument/2006/relationships/font" Target="fonts/NunitoSemiBold-regular.fntdata"/><Relationship Id="rId41" Type="http://schemas.openxmlformats.org/officeDocument/2006/relationships/font" Target="fonts/NunitoSemiBold-bold.fntdata"/><Relationship Id="rId42" Type="http://schemas.openxmlformats.org/officeDocument/2006/relationships/font" Target="fonts/NunitoSemiBold-italic.fntdata"/><Relationship Id="rId43" Type="http://schemas.openxmlformats.org/officeDocument/2006/relationships/font" Target="fonts/NunitoSemiBold-boldItalic.fntdata"/><Relationship Id="rId44" Type="http://schemas.openxmlformats.org/officeDocument/2006/relationships/font" Target="fonts/Nunito-regular.fntdata"/><Relationship Id="rId45" Type="http://schemas.openxmlformats.org/officeDocument/2006/relationships/font" Target="fonts/Nunito-bold.fntdata"/><Relationship Id="rId46" Type="http://schemas.openxmlformats.org/officeDocument/2006/relationships/font" Target="fonts/Nunito-italic.fntdata"/><Relationship Id="rId47" Type="http://schemas.openxmlformats.org/officeDocument/2006/relationships/font" Target="fonts/Nunito-boldItalic.fntdata"/><Relationship Id="rId48" Type="http://schemas.openxmlformats.org/officeDocument/2006/relationships/font" Target="fonts/Montserrat-regular.fntdata"/><Relationship Id="rId49" Type="http://schemas.openxmlformats.org/officeDocument/2006/relationships/font" Target="fonts/Montserrat-bold.fntdata"/><Relationship Id="rId50" Type="http://schemas.openxmlformats.org/officeDocument/2006/relationships/font" Target="fonts/Montserrat-italic.fntdata"/><Relationship Id="rId51" Type="http://schemas.openxmlformats.org/officeDocument/2006/relationships/font" Target="fonts/Montserrat-boldItalic.fntdata"/><Relationship Id="rId52" Type="http://schemas.openxmlformats.org/officeDocument/2006/relationships/font" Target="fonts/NunitoExtraBold-bold.fntdata"/><Relationship Id="rId53" Type="http://schemas.openxmlformats.org/officeDocument/2006/relationships/font" Target="fonts/NunitoExtraBold-boldItalic.fntdata"/><Relationship Id="rId54" Type="http://schemas.openxmlformats.org/officeDocument/2006/relationships/font" Target="fonts/CenturyGothic-regular.fntdata"/><Relationship Id="rId55" Type="http://schemas.openxmlformats.org/officeDocument/2006/relationships/font" Target="fonts/CenturyGothic-bold.fntdata"/><Relationship Id="rId56" Type="http://schemas.openxmlformats.org/officeDocument/2006/relationships/font" Target="fonts/CenturyGothic-italic.fntdata"/><Relationship Id="rId57" Type="http://schemas.openxmlformats.org/officeDocument/2006/relationships/font" Target="fonts/CenturyGothic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c275fce4f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c275fce4f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h1ee84572765e4f1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h1ee84572765e4f1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h1ee84572765e4f1b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h1ee84572765e4f1b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h1ee84572765e4f1b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h1ee84572765e4f1b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h1ee84572765e4f1b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h1ee84572765e4f1b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h1ee84572765e4f1b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h1ee84572765e4f1b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h1ee84572765e4f1b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h1ee84572765e4f1b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h1ee84572765e4f1b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h1ee84572765e4f1b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h1ee84572765e4f1b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h1ee84572765e4f1b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h1ee84572765e4f1b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h1ee84572765e4f1b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h1ee84572765e4f1b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h1ee84572765e4f1b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h1ee84572765e4f1b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h1ee84572765e4f1b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h1ee84572765e4f1b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h1ee84572765e4f1b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h1ee84572765e4f1b_1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h1ee84572765e4f1b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h1ee84572765e4f1b_1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h1ee84572765e4f1b_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h1ee84572765e4f1b_1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h1ee84572765e4f1b_1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h1ee84572765e4f1b_1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h1ee84572765e4f1b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h1ee84572765e4f1b_1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h1ee84572765e4f1b_1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h1ee84572765e4f1b_1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h1ee84572765e4f1b_1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h1ee84572765e4f1b_1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h1ee84572765e4f1b_1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h1ee84572765e4f1b_1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h1ee84572765e4f1b_1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h1ee84572765e4f1b_1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h1ee84572765e4f1b_1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h1ee84572765e4f1b_1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h1ee84572765e4f1b_1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h1ee84572765e4f1b_1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h1ee84572765e4f1b_1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26" name="Google Shape;26;p5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{A5698273-5225-4557-BD2E-0B8C5CF09AB3}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49" name="Google Shape;49;p11"/>
          <p:cNvPicPr preferRelativeResize="0"/>
          <p:nvPr/>
        </p:nvPicPr>
        <p:blipFill rotWithShape="1">
          <a:blip r:embed="rId2">
            <a:alphaModFix/>
          </a:blip>
          <a:srcRect b="19149" l="42816" r="37294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1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11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52" name="Google Shape;5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type="title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9pPr>
          </a:lstStyle>
          <a:p/>
        </p:txBody>
      </p:sp>
      <p:sp>
        <p:nvSpPr>
          <p:cNvPr id="55" name="Google Shape;55;p12"/>
          <p:cNvSpPr txBox="1"/>
          <p:nvPr>
            <p:ph idx="1" type="body"/>
          </p:nvPr>
        </p:nvSpPr>
        <p:spPr>
          <a:xfrm>
            <a:off x="457200" y="102184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0" type="dt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2"/>
          <p:cNvSpPr txBox="1"/>
          <p:nvPr>
            <p:ph idx="11" type="ftr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idx="10" type="dt"/>
          </p:nvPr>
        </p:nvSpPr>
        <p:spPr>
          <a:xfrm>
            <a:off x="457200" y="4857749"/>
            <a:ext cx="2133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1" type="ftr"/>
          </p:nvPr>
        </p:nvSpPr>
        <p:spPr>
          <a:xfrm>
            <a:off x="2640596" y="4857749"/>
            <a:ext cx="5507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204396" y="4857749"/>
            <a:ext cx="73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med"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569519" y="142741"/>
            <a:ext cx="80049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1412081" y="930269"/>
            <a:ext cx="6319800" cy="23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1574006" y="4988871"/>
            <a:ext cx="55650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 Only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932967" y="348900"/>
            <a:ext cx="1278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1" type="ftr"/>
          </p:nvPr>
        </p:nvSpPr>
        <p:spPr>
          <a:xfrm>
            <a:off x="1712499" y="5010073"/>
            <a:ext cx="55644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 Only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932967" y="348900"/>
            <a:ext cx="1278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1" type="ftr"/>
          </p:nvPr>
        </p:nvSpPr>
        <p:spPr>
          <a:xfrm>
            <a:off x="1712499" y="5010073"/>
            <a:ext cx="55644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 Only_3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90424" y="497078"/>
            <a:ext cx="83631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1" type="ftr"/>
          </p:nvPr>
        </p:nvSpPr>
        <p:spPr>
          <a:xfrm>
            <a:off x="2879178" y="4948409"/>
            <a:ext cx="35034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1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OBJECT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ctrTitle"/>
          </p:nvPr>
        </p:nvSpPr>
        <p:spPr>
          <a:xfrm>
            <a:off x="2938259" y="1851799"/>
            <a:ext cx="32676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5200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" type="subTitle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1" type="ftr"/>
          </p:nvPr>
        </p:nvSpPr>
        <p:spPr>
          <a:xfrm>
            <a:off x="2879178" y="4948409"/>
            <a:ext cx="35034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OBJECT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368992" y="2453440"/>
            <a:ext cx="2406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20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368992" y="2453440"/>
            <a:ext cx="2406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2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">
  <p:cSld name="OBJECT_1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2936867" y="2199322"/>
            <a:ext cx="32754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43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1" type="ftr"/>
          </p:nvPr>
        </p:nvSpPr>
        <p:spPr>
          <a:xfrm>
            <a:off x="708292" y="4920311"/>
            <a:ext cx="64473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22"/>
          <p:cNvSpPr txBox="1"/>
          <p:nvPr>
            <p:ph idx="10" type="dt"/>
          </p:nvPr>
        </p:nvSpPr>
        <p:spPr>
          <a:xfrm>
            <a:off x="457452" y="4783454"/>
            <a:ext cx="210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22"/>
          <p:cNvSpPr txBox="1"/>
          <p:nvPr>
            <p:ph idx="12" type="sldNum"/>
          </p:nvPr>
        </p:nvSpPr>
        <p:spPr>
          <a:xfrm>
            <a:off x="7529030" y="4838548"/>
            <a:ext cx="188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 sz="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">
  <p:cSld name="TITLE_AND_BODY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 1">
  <p:cSld name="Blank 2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125" name="Google Shape;125;p26"/>
          <p:cNvPicPr preferRelativeResize="0"/>
          <p:nvPr/>
        </p:nvPicPr>
        <p:blipFill rotWithShape="1">
          <a:blip r:embed="rId2">
            <a:alphaModFix/>
          </a:blip>
          <a:srcRect b="19147" l="42816" r="37294" t="18360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6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26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Power Ahead!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128" name="Google Shape;12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"/>
          <p:cNvSpPr txBox="1"/>
          <p:nvPr>
            <p:ph type="ctrTitle"/>
          </p:nvPr>
        </p:nvSpPr>
        <p:spPr>
          <a:xfrm>
            <a:off x="1260908" y="717750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31" name="Google Shape;131;p27"/>
          <p:cNvSpPr txBox="1"/>
          <p:nvPr>
            <p:ph idx="1" type="subTitle"/>
          </p:nvPr>
        </p:nvSpPr>
        <p:spPr>
          <a:xfrm>
            <a:off x="1260902" y="2770350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134" name="Google Shape;134;p2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37" name="Google Shape;137;p29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38" name="Google Shape;138;p2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141" name="Google Shape;141;p30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{A5698273-5225-4557-BD2E-0B8C5CF09AB3}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142" name="Google Shape;142;p3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45" name="Google Shape;145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6" name="Google Shape;146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7" name="Google Shape;147;p3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50" name="Google Shape;150;p3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3" name="Google Shape;153;p3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7" name="Google Shape;157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8" name="Google Shape;158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159" name="Google Shape;159;p3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" name="Google Shape;12;p1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116" name="Google Shape;116;p25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17" name="Google Shape;117;p25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8" name="Google Shape;118;p2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9" name="Google Shape;119;p2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5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25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1" name="Google Shape;121;p25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5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6"/>
          <p:cNvSpPr txBox="1"/>
          <p:nvPr/>
        </p:nvSpPr>
        <p:spPr>
          <a:xfrm>
            <a:off x="1627632" y="1227550"/>
            <a:ext cx="621792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rPr sz="4100" b="1">
                <a:solidFill>
                  <a:srgbClr val="0E39A9"/>
                </a:solidFill>
                <a:latin typeface="Nunito"/>
              </a:rPr>
              <a:t>Aurora Stays Q&amp;A</a:t>
            </a:r>
          </a:p>
        </p:txBody>
      </p:sp>
      <p:sp>
        <p:nvSpPr>
          <p:cNvPr id="167" name="Google Shape;167;p36"/>
          <p:cNvSpPr txBox="1"/>
          <p:nvPr/>
        </p:nvSpPr>
        <p:spPr>
          <a:xfrm>
            <a:off x="1627632" y="1940550"/>
            <a:ext cx="694944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rPr sz="2300">
                <a:solidFill>
                  <a:srgbClr val="0E39A9"/>
                </a:solidFill>
                <a:latin typeface="Nunito"/>
              </a:rPr>
              <a:t>Retrieval-Augmented Generation (RAG) POC</a:t>
            </a:r>
          </a:p>
        </p:txBody>
      </p:sp>
      <p:sp>
        <p:nvSpPr>
          <p:cNvPr id="168" name="Google Shape;168;p36"/>
          <p:cNvSpPr txBox="1"/>
          <p:nvPr/>
        </p:nvSpPr>
        <p:spPr>
          <a:xfrm>
            <a:off x="1627632" y="2586175"/>
            <a:ext cx="384048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rPr sz="2200">
                <a:solidFill>
                  <a:srgbClr val="0E39A9"/>
                </a:solidFill>
                <a:latin typeface="Nunito"/>
              </a:rPr>
              <a:t>14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Contents / Agenda</a:t>
            </a:r>
          </a:p>
        </p:txBody>
      </p:sp>
      <p:sp>
        <p:nvSpPr>
          <p:cNvPr id="174" name="Google Shape;174;p37"/>
          <p:cNvSpPr/>
          <p:nvPr/>
        </p:nvSpPr>
        <p:spPr>
          <a:xfrm>
            <a:off x="356221" y="11373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5" name="Google Shape;175;p37"/>
          <p:cNvSpPr txBox="1"/>
          <p:nvPr/>
        </p:nvSpPr>
        <p:spPr>
          <a:xfrm>
            <a:off x="644599" y="101337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Montserrat"/>
              </a:rPr>
              <a:t>Executive Summary</a:t>
            </a:r>
          </a:p>
        </p:txBody>
      </p:sp>
      <p:sp>
        <p:nvSpPr>
          <p:cNvPr id="176" name="Google Shape;176;p37"/>
          <p:cNvSpPr/>
          <p:nvPr/>
        </p:nvSpPr>
        <p:spPr>
          <a:xfrm>
            <a:off x="356221" y="1608689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7" name="Google Shape;177;p37"/>
          <p:cNvSpPr txBox="1"/>
          <p:nvPr/>
        </p:nvSpPr>
        <p:spPr>
          <a:xfrm>
            <a:off x="644599" y="148775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Montserrat"/>
              </a:rPr>
              <a:t>Business Problem and Solution Approach</a:t>
            </a:r>
          </a:p>
        </p:txBody>
      </p:sp>
      <p:sp>
        <p:nvSpPr>
          <p:cNvPr id="178" name="Google Shape;178;p37"/>
          <p:cNvSpPr/>
          <p:nvPr/>
        </p:nvSpPr>
        <p:spPr>
          <a:xfrm>
            <a:off x="356221" y="207999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9" name="Google Shape;179;p37"/>
          <p:cNvSpPr txBox="1"/>
          <p:nvPr/>
        </p:nvSpPr>
        <p:spPr>
          <a:xfrm>
            <a:off x="644599" y="196213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Montserrat"/>
              </a:rPr>
              <a:t>Data Understanding</a:t>
            </a:r>
          </a:p>
        </p:txBody>
      </p:sp>
      <p:sp>
        <p:nvSpPr>
          <p:cNvPr id="180" name="Google Shape;180;p37"/>
          <p:cNvSpPr/>
          <p:nvPr/>
        </p:nvSpPr>
        <p:spPr>
          <a:xfrm>
            <a:off x="356221" y="2551299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1" name="Google Shape;181;p37"/>
          <p:cNvSpPr txBox="1"/>
          <p:nvPr/>
        </p:nvSpPr>
        <p:spPr>
          <a:xfrm>
            <a:off x="644599" y="243651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Montserrat"/>
              </a:rPr>
              <a:t>Retrieval-Augmented Generation System</a:t>
            </a:r>
          </a:p>
        </p:txBody>
      </p:sp>
      <p:sp>
        <p:nvSpPr>
          <p:cNvPr id="182" name="Google Shape;182;p37"/>
          <p:cNvSpPr/>
          <p:nvPr/>
        </p:nvSpPr>
        <p:spPr>
          <a:xfrm>
            <a:off x="356227" y="302260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3" name="Google Shape;183;p37"/>
          <p:cNvSpPr txBox="1"/>
          <p:nvPr/>
        </p:nvSpPr>
        <p:spPr>
          <a:xfrm>
            <a:off x="644605" y="291089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Montserrat"/>
              </a:rPr>
              <a:t>Evaluation</a:t>
            </a:r>
          </a:p>
        </p:txBody>
      </p:sp>
      <p:sp>
        <p:nvSpPr>
          <p:cNvPr id="184" name="Google Shape;184;p37"/>
          <p:cNvSpPr/>
          <p:nvPr/>
        </p:nvSpPr>
        <p:spPr>
          <a:xfrm>
            <a:off x="356227" y="3493909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5" name="Google Shape;185;p37"/>
          <p:cNvSpPr txBox="1"/>
          <p:nvPr/>
        </p:nvSpPr>
        <p:spPr>
          <a:xfrm>
            <a:off x="644605" y="338527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Montserrat"/>
              </a:rPr>
              <a:t>Deployment, Inference and Handoff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502920" y="932688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Executive Summary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94944" y="132588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Built a source-grounded RAG assistant for Aurora Stays hotel-policy questions.</a:t>
            </a:r>
          </a:p>
        </p:txBody>
      </p:sp>
      <p:sp>
        <p:nvSpPr>
          <p:cNvPr id="193" name="Oval 192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694944" y="180594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Four policy PDFs are converted to structured Markdown, chunked, embedded, and indexed in FAISS.</a:t>
            </a:r>
          </a:p>
        </p:txBody>
      </p:sp>
      <p:sp>
        <p:nvSpPr>
          <p:cNvPr id="195" name="Oval 194"/>
          <p:cNvSpPr/>
          <p:nvPr/>
        </p:nvSpPr>
        <p:spPr>
          <a:xfrm>
            <a:off x="402336" y="190652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694944" y="228600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Selected baseline: k=5, MMR lambda=0.50, fetch_k=20, CrossEncoder reranking.</a:t>
            </a:r>
          </a:p>
        </p:txBody>
      </p:sp>
      <p:sp>
        <p:nvSpPr>
          <p:cNvPr id="197" name="Oval 196"/>
          <p:cNvSpPr/>
          <p:nvPr/>
        </p:nvSpPr>
        <p:spPr>
          <a:xfrm>
            <a:off x="402336" y="238658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94944" y="2766060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Held-out result: 9/10 cases passed; composite score 0.941.</a:t>
            </a:r>
          </a:p>
        </p:txBody>
      </p:sp>
      <p:sp>
        <p:nvSpPr>
          <p:cNvPr id="199" name="Oval 198"/>
          <p:cNvSpPr/>
          <p:nvPr/>
        </p:nvSpPr>
        <p:spPr>
          <a:xfrm>
            <a:off x="402336" y="286664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694944" y="305409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Average metrics: Faithfulness 0.993 | Recall 0.977 | Precision 0.808 | Relevancy 0.939.</a:t>
            </a:r>
          </a:p>
        </p:txBody>
      </p:sp>
      <p:sp>
        <p:nvSpPr>
          <p:cNvPr id="201" name="Oval 200"/>
          <p:cNvSpPr/>
          <p:nvPr/>
        </p:nvSpPr>
        <p:spPr>
          <a:xfrm>
            <a:off x="402336" y="3154679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694944" y="3534156"/>
            <a:ext cx="6729984" cy="649224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Main remaining issue: the Accessible King benchmark question is underspecified; a focused clarification experiment raised precision to 0.961.</a:t>
            </a:r>
          </a:p>
        </p:txBody>
      </p:sp>
      <p:sp>
        <p:nvSpPr>
          <p:cNvPr id="203" name="Oval 202"/>
          <p:cNvSpPr/>
          <p:nvPr/>
        </p:nvSpPr>
        <p:spPr>
          <a:xfrm>
            <a:off x="402336" y="3634739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Business Problem Overview and Solution Approach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694944" y="1325880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39A9"/>
                </a:solidFill>
                <a:latin typeface="Montserrat"/>
              </a:rPr>
              <a:t>Problem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694944" y="161391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Staff handle about 1,200 guest queries per week; roughly 40% require multiple policy documents.</a:t>
            </a:r>
          </a:p>
        </p:txBody>
      </p:sp>
      <p:sp>
        <p:nvSpPr>
          <p:cNvPr id="201" name="Oval 200"/>
          <p:cNvSpPr/>
          <p:nvPr/>
        </p:nvSpPr>
        <p:spPr>
          <a:xfrm>
            <a:off x="402336" y="171450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694944" y="209397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Manual lookup takes 8–12 minutes and creates a 15–20% risk of incomplete or incorrect answers.</a:t>
            </a:r>
          </a:p>
        </p:txBody>
      </p:sp>
      <p:sp>
        <p:nvSpPr>
          <p:cNvPr id="203" name="Oval 202"/>
          <p:cNvSpPr/>
          <p:nvPr/>
        </p:nvSpPr>
        <p:spPr>
          <a:xfrm>
            <a:off x="402336" y="219456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694944" y="257403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Property-specific fees, room features, cancellation rules, and accessibility guidance are easy to mix up.</a:t>
            </a:r>
          </a:p>
        </p:txBody>
      </p:sp>
      <p:sp>
        <p:nvSpPr>
          <p:cNvPr id="205" name="Oval 204"/>
          <p:cNvSpPr/>
          <p:nvPr/>
        </p:nvSpPr>
        <p:spPr>
          <a:xfrm>
            <a:off x="402336" y="267462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694944" y="3054096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39A9"/>
                </a:solidFill>
                <a:latin typeface="Montserrat"/>
              </a:rPr>
              <a:t>Solution approach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694944" y="3342132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Extract policy PDFs with Docling; preserve headings and tables as Markdown.</a:t>
            </a:r>
          </a:p>
        </p:txBody>
      </p:sp>
      <p:sp>
        <p:nvSpPr>
          <p:cNvPr id="208" name="Oval 207"/>
          <p:cNvSpPr/>
          <p:nvPr/>
        </p:nvSpPr>
        <p:spPr>
          <a:xfrm>
            <a:off x="402336" y="3442715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694944" y="3822191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Use token-aware chunking, domain embeddings, FAISS retrieval, MMR, and CrossEncoder reranking.</a:t>
            </a:r>
          </a:p>
        </p:txBody>
      </p:sp>
      <p:sp>
        <p:nvSpPr>
          <p:cNvPr id="210" name="Oval 209"/>
          <p:cNvSpPr/>
          <p:nvPr/>
        </p:nvSpPr>
        <p:spPr>
          <a:xfrm>
            <a:off x="402336" y="3922776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694944" y="4302252"/>
            <a:ext cx="6729984" cy="37947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Generate concise answers with GPT-4o-mini using a strict retrieved-context-only prompt.</a:t>
            </a:r>
          </a:p>
        </p:txBody>
      </p:sp>
      <p:sp>
        <p:nvSpPr>
          <p:cNvPr id="212" name="Oval 211"/>
          <p:cNvSpPr/>
          <p:nvPr/>
        </p:nvSpPr>
        <p:spPr>
          <a:xfrm>
            <a:off x="402336" y="4402836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Data Understanding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694944" y="1325880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Knowledge base: four selectable-text PDF policy guides.</a:t>
            </a:r>
          </a:p>
        </p:txBody>
      </p:sp>
      <p:sp>
        <p:nvSpPr>
          <p:cNvPr id="209" name="Oval 208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694944" y="161391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Coverage: room/property information; booking and cancellation; refunds and additional charges; conduct and accessibility.</a:t>
            </a:r>
          </a:p>
        </p:txBody>
      </p:sp>
      <p:sp>
        <p:nvSpPr>
          <p:cNvPr id="211" name="Oval 210"/>
          <p:cNvSpPr/>
          <p:nvPr/>
        </p:nvSpPr>
        <p:spPr>
          <a:xfrm>
            <a:off x="402336" y="171450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694944" y="209397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Source structure includes headings, policy sections, Markdown tables, and a six-property matrix.</a:t>
            </a:r>
          </a:p>
        </p:txBody>
      </p:sp>
      <p:sp>
        <p:nvSpPr>
          <p:cNvPr id="213" name="Oval 212"/>
          <p:cNvSpPr/>
          <p:nvPr/>
        </p:nvSpPr>
        <p:spPr>
          <a:xfrm>
            <a:off x="402336" y="219456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694944" y="257403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Properties represented: ASH-ATL, ASH-BOS, ASH-CHI, ASH-DEN, ASH-MIA, and ASH-SEA.</a:t>
            </a:r>
          </a:p>
        </p:txBody>
      </p:sp>
      <p:sp>
        <p:nvSpPr>
          <p:cNvPr id="215" name="Oval 214"/>
          <p:cNvSpPr/>
          <p:nvPr/>
        </p:nvSpPr>
        <p:spPr>
          <a:xfrm>
            <a:off x="402336" y="267462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694944" y="305409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OCR is disabled because the supplied PDFs contain selectable text.</a:t>
            </a:r>
          </a:p>
        </p:txBody>
      </p:sp>
      <p:sp>
        <p:nvSpPr>
          <p:cNvPr id="217" name="Oval 216"/>
          <p:cNvSpPr/>
          <p:nvPr/>
        </p:nvSpPr>
        <p:spPr>
          <a:xfrm>
            <a:off x="402336" y="3154679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694944" y="353415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Chunks are enriched with source, section, property-code, and topic metadata for focused retrieval.</a:t>
            </a:r>
          </a:p>
        </p:txBody>
      </p:sp>
      <p:sp>
        <p:nvSpPr>
          <p:cNvPr id="219" name="Oval 218"/>
          <p:cNvSpPr/>
          <p:nvPr/>
        </p:nvSpPr>
        <p:spPr>
          <a:xfrm>
            <a:off x="402336" y="3634739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1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RAG - Chunking - Embedding Model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694944" y="1325880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Embedding model: HarishMaths/Hotel-Policy-Embedding.</a:t>
            </a:r>
          </a:p>
        </p:txBody>
      </p:sp>
      <p:sp>
        <p:nvSpPr>
          <p:cNvPr id="217" name="Oval 216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694944" y="1613916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Tokenizer maximum length: 128 tokens.</a:t>
            </a:r>
          </a:p>
        </p:txBody>
      </p:sp>
      <p:sp>
        <p:nvSpPr>
          <p:cNvPr id="219" name="Oval 218"/>
          <p:cNvSpPr/>
          <p:nvPr/>
        </p:nvSpPr>
        <p:spPr>
          <a:xfrm>
            <a:off x="402336" y="171450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694944" y="1901952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Embeddings run on CPU with normalized vectors and progress rendering disabled.</a:t>
            </a:r>
          </a:p>
        </p:txBody>
      </p:sp>
      <p:sp>
        <p:nvSpPr>
          <p:cNvPr id="221" name="Oval 220"/>
          <p:cNvSpPr/>
          <p:nvPr/>
        </p:nvSpPr>
        <p:spPr>
          <a:xfrm>
            <a:off x="402336" y="2002536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694944" y="2382012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The same model is used when building and loading the FAISS index.</a:t>
            </a:r>
          </a:p>
        </p:txBody>
      </p:sp>
      <p:sp>
        <p:nvSpPr>
          <p:cNvPr id="223" name="Oval 222"/>
          <p:cNvSpPr/>
          <p:nvPr/>
        </p:nvSpPr>
        <p:spPr>
          <a:xfrm>
            <a:off x="402336" y="2482596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694944" y="2862072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Domain-specific embeddings improve matching for hotel-policy terms such as late checkout, pet fees, and room features.</a:t>
            </a:r>
          </a:p>
        </p:txBody>
      </p:sp>
      <p:sp>
        <p:nvSpPr>
          <p:cNvPr id="225" name="Oval 224"/>
          <p:cNvSpPr/>
          <p:nvPr/>
        </p:nvSpPr>
        <p:spPr>
          <a:xfrm>
            <a:off x="402336" y="2962656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RAG - Chunking - Chunker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694944" y="132588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Chunker: RecursiveCharacterTextSplitter.from_huggingface_tokenizer.</a:t>
            </a:r>
          </a:p>
        </p:txBody>
      </p:sp>
      <p:sp>
        <p:nvSpPr>
          <p:cNvPr id="225" name="Oval 224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694944" y="1805940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Chunk size: 512 tokens; overlap: 64 tokens.</a:t>
            </a:r>
          </a:p>
        </p:txBody>
      </p:sp>
      <p:sp>
        <p:nvSpPr>
          <p:cNvPr id="227" name="Oval 226"/>
          <p:cNvSpPr/>
          <p:nvPr/>
        </p:nvSpPr>
        <p:spPr>
          <a:xfrm>
            <a:off x="402336" y="190652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694944" y="209397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Split priority: paragraph, line, heading, sentence, word, then character boundaries.</a:t>
            </a:r>
          </a:p>
        </p:txBody>
      </p:sp>
      <p:sp>
        <p:nvSpPr>
          <p:cNvPr id="229" name="Oval 228"/>
          <p:cNvSpPr/>
          <p:nvPr/>
        </p:nvSpPr>
        <p:spPr>
          <a:xfrm>
            <a:off x="402336" y="219456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694944" y="257403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Atomic property rows are added for property-matrix entries so a single property and fee can be retrieved precisely.</a:t>
            </a:r>
          </a:p>
        </p:txBody>
      </p:sp>
      <p:sp>
        <p:nvSpPr>
          <p:cNvPr id="231" name="Oval 230"/>
          <p:cNvSpPr/>
          <p:nvPr/>
        </p:nvSpPr>
        <p:spPr>
          <a:xfrm>
            <a:off x="402336" y="267462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694944" y="305409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Metadata is added after splitting to preserve section, topic, and property identity.</a:t>
            </a:r>
          </a:p>
        </p:txBody>
      </p:sp>
      <p:sp>
        <p:nvSpPr>
          <p:cNvPr id="233" name="Oval 232"/>
          <p:cNvSpPr/>
          <p:nvPr/>
        </p:nvSpPr>
        <p:spPr>
          <a:xfrm>
            <a:off x="402336" y="3154679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3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RAG - Chunking - Chunk Documents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694944" y="1325880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Total chunks created: 43, including atomic property rows.</a:t>
            </a:r>
          </a:p>
        </p:txBody>
      </p:sp>
      <p:sp>
        <p:nvSpPr>
          <p:cNvPr id="233" name="Oval 232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694944" y="1613916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39A9"/>
                </a:solidFill>
                <a:latin typeface="Montserrat"/>
              </a:rPr>
              <a:t>Example focused chunk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694944" y="1901952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## Property-specific matrix | Property: ASH-MIA</a:t>
            </a:r>
          </a:p>
        </p:txBody>
      </p:sp>
      <p:sp>
        <p:nvSpPr>
          <p:cNvPr id="236" name="Oval 235"/>
          <p:cNvSpPr/>
          <p:nvPr/>
        </p:nvSpPr>
        <p:spPr>
          <a:xfrm>
            <a:off x="402336" y="2002536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694944" y="2189988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ASH-MIA Brickell | Parking: Valet, $55 per night | Pets: $100 per stay; 2 pets max</a:t>
            </a:r>
          </a:p>
        </p:txBody>
      </p:sp>
      <p:sp>
        <p:nvSpPr>
          <p:cNvPr id="238" name="Oval 237"/>
          <p:cNvSpPr/>
          <p:nvPr/>
        </p:nvSpPr>
        <p:spPr>
          <a:xfrm>
            <a:off x="402336" y="2290572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694944" y="2670048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One-property rows reduce contamination from unrelated properties and broad policy sections.</a:t>
            </a:r>
          </a:p>
        </p:txBody>
      </p:sp>
      <p:sp>
        <p:nvSpPr>
          <p:cNvPr id="240" name="Oval 239"/>
          <p:cNvSpPr/>
          <p:nvPr/>
        </p:nvSpPr>
        <p:spPr>
          <a:xfrm>
            <a:off x="402336" y="2770632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694944" y="3150108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Each chunk carries source, section, property_codes, and topics metadata.</a:t>
            </a:r>
          </a:p>
        </p:txBody>
      </p:sp>
      <p:sp>
        <p:nvSpPr>
          <p:cNvPr id="242" name="Oval 241"/>
          <p:cNvSpPr/>
          <p:nvPr/>
        </p:nvSpPr>
        <p:spPr>
          <a:xfrm>
            <a:off x="402336" y="3250691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RAG - Vector Database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694944" y="1325880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Vector database: FAISS with 43 normalized document vectors.</a:t>
            </a:r>
          </a:p>
        </p:txBody>
      </p:sp>
      <p:sp>
        <p:nvSpPr>
          <p:cNvPr id="241" name="Oval 240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694944" y="1613916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Index is persisted for the backend under backend/faiss_index.</a:t>
            </a:r>
          </a:p>
        </p:txBody>
      </p:sp>
      <p:sp>
        <p:nvSpPr>
          <p:cNvPr id="243" name="Oval 242"/>
          <p:cNvSpPr/>
          <p:nvPr/>
        </p:nvSpPr>
        <p:spPr>
          <a:xfrm>
            <a:off x="402336" y="171450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694944" y="1901952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Final retrieval setting: k=5 chunks.</a:t>
            </a:r>
          </a:p>
        </p:txBody>
      </p:sp>
      <p:sp>
        <p:nvSpPr>
          <p:cNvPr id="245" name="Oval 244"/>
          <p:cNvSpPr/>
          <p:nvPr/>
        </p:nvSpPr>
        <p:spPr>
          <a:xfrm>
            <a:off x="402336" y="2002536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694944" y="2189988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Candidate search uses MMR lambda=0.50 and fetch_k=20.</a:t>
            </a:r>
          </a:p>
        </p:txBody>
      </p:sp>
      <p:sp>
        <p:nvSpPr>
          <p:cNvPr id="247" name="Oval 246"/>
          <p:cNvSpPr/>
          <p:nvPr/>
        </p:nvSpPr>
        <p:spPr>
          <a:xfrm>
            <a:off x="402336" y="2290572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694944" y="2478024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CrossEncoder ms-marco-MiniLM-L-6-v2 reranks candidates; topic and property metadata provide additional boosts.</a:t>
            </a:r>
          </a:p>
        </p:txBody>
      </p:sp>
      <p:sp>
        <p:nvSpPr>
          <p:cNvPr id="249" name="Oval 248"/>
          <p:cNvSpPr/>
          <p:nvPr/>
        </p:nvSpPr>
        <p:spPr>
          <a:xfrm>
            <a:off x="402336" y="2578608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RAG - Vector Database - Retrieval Function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694944" y="132588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Query: What are the parking fees at the Atlanta and Miami hotels?</a:t>
            </a:r>
          </a:p>
        </p:txBody>
      </p:sp>
      <p:sp>
        <p:nvSpPr>
          <p:cNvPr id="249" name="Oval 248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694944" y="180594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Property routing identifies ASH-ATL and ASH-MIA; topic routing identifies parking.</a:t>
            </a:r>
          </a:p>
        </p:txBody>
      </p:sp>
      <p:sp>
        <p:nvSpPr>
          <p:cNvPr id="251" name="Oval 250"/>
          <p:cNvSpPr/>
          <p:nvPr/>
        </p:nvSpPr>
        <p:spPr>
          <a:xfrm>
            <a:off x="402336" y="190652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694944" y="228600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Candidate chunks are retrieved with MMR, then reranked for direct relevance.</a:t>
            </a:r>
          </a:p>
        </p:txBody>
      </p:sp>
      <p:sp>
        <p:nvSpPr>
          <p:cNvPr id="253" name="Oval 252"/>
          <p:cNvSpPr/>
          <p:nvPr/>
        </p:nvSpPr>
        <p:spPr>
          <a:xfrm>
            <a:off x="402336" y="238658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694944" y="2766060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39A9"/>
                </a:solidFill>
                <a:latin typeface="Montserrat"/>
              </a:rPr>
              <a:t>Relevant evidence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694944" y="3054096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ASH-ATL Midtown: self parking, $28 per night.</a:t>
            </a:r>
          </a:p>
        </p:txBody>
      </p:sp>
      <p:sp>
        <p:nvSpPr>
          <p:cNvPr id="256" name="Oval 255"/>
          <p:cNvSpPr/>
          <p:nvPr/>
        </p:nvSpPr>
        <p:spPr>
          <a:xfrm>
            <a:off x="402336" y="3154679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694944" y="3342132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ASH-MIA Brickell: valet, $55 per night.</a:t>
            </a:r>
          </a:p>
        </p:txBody>
      </p:sp>
      <p:sp>
        <p:nvSpPr>
          <p:cNvPr id="258" name="Oval 257"/>
          <p:cNvSpPr/>
          <p:nvPr/>
        </p:nvSpPr>
        <p:spPr>
          <a:xfrm>
            <a:off x="402336" y="3442715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694944" y="3630168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The final context contains the two requested property rows instead of unrelated policy sections.</a:t>
            </a:r>
          </a:p>
        </p:txBody>
      </p:sp>
      <p:sp>
        <p:nvSpPr>
          <p:cNvPr id="260" name="Oval 259"/>
          <p:cNvSpPr/>
          <p:nvPr/>
        </p:nvSpPr>
        <p:spPr>
          <a:xfrm>
            <a:off x="402336" y="3730752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6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RAG - Generation System - Load the LLM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694944" y="1325880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Generator: OpenAI-compatible ChatOpenAI wrapper.</a:t>
            </a:r>
          </a:p>
        </p:txBody>
      </p:sp>
      <p:sp>
        <p:nvSpPr>
          <p:cNvPr id="257" name="Oval 256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694944" y="1613916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Model: gpt-4o-mini.</a:t>
            </a:r>
          </a:p>
        </p:txBody>
      </p:sp>
      <p:sp>
        <p:nvSpPr>
          <p:cNvPr id="259" name="Oval 258"/>
          <p:cNvSpPr/>
          <p:nvPr/>
        </p:nvSpPr>
        <p:spPr>
          <a:xfrm>
            <a:off x="402336" y="171450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694944" y="1901952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temperature=0.0 | top_p=1.0 | max_tokens=512.</a:t>
            </a:r>
          </a:p>
        </p:txBody>
      </p:sp>
      <p:sp>
        <p:nvSpPr>
          <p:cNvPr id="261" name="Oval 260"/>
          <p:cNvSpPr/>
          <p:nvPr/>
        </p:nvSpPr>
        <p:spPr>
          <a:xfrm>
            <a:off x="402336" y="2002536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694944" y="2189988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API key and base URL are loaded from environment/configuration rather than hard-coded.</a:t>
            </a:r>
          </a:p>
        </p:txBody>
      </p:sp>
      <p:sp>
        <p:nvSpPr>
          <p:cNvPr id="263" name="Oval 262"/>
          <p:cNvSpPr/>
          <p:nvPr/>
        </p:nvSpPr>
        <p:spPr>
          <a:xfrm>
            <a:off x="402336" y="2290572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694944" y="2670048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Deterministic settings favor repeatable, concise policy answers for evaluation and operations.</a:t>
            </a:r>
          </a:p>
        </p:txBody>
      </p:sp>
      <p:sp>
        <p:nvSpPr>
          <p:cNvPr id="265" name="Oval 264"/>
          <p:cNvSpPr/>
          <p:nvPr/>
        </p:nvSpPr>
        <p:spPr>
          <a:xfrm>
            <a:off x="402336" y="2770632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RAG - Generation System - Generation Prompt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694944" y="1325880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Prompt inputs: user query + retrieved policy information.</a:t>
            </a:r>
          </a:p>
        </p:txBody>
      </p:sp>
      <p:sp>
        <p:nvSpPr>
          <p:cNvPr id="265" name="Oval 264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694944" y="161391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Core system prompt: You are the Aurora Stays policy assistant. Use only the retrieved policy context to answer.</a:t>
            </a:r>
          </a:p>
        </p:txBody>
      </p:sp>
      <p:sp>
        <p:nvSpPr>
          <p:cNvPr id="267" name="Oval 266"/>
          <p:cNvSpPr/>
          <p:nvPr/>
        </p:nvSpPr>
        <p:spPr>
          <a:xfrm>
            <a:off x="402336" y="171450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694944" y="209397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Use only information explicitly supported by retrieved policy text.</a:t>
            </a:r>
          </a:p>
        </p:txBody>
      </p:sp>
      <p:sp>
        <p:nvSpPr>
          <p:cNvPr id="269" name="Oval 268"/>
          <p:cNvSpPr/>
          <p:nvPr/>
        </p:nvSpPr>
        <p:spPr>
          <a:xfrm>
            <a:off x="402336" y="219456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694944" y="257403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Include relevant conditions, exclusions, limits, exceptions, and coverage details.</a:t>
            </a:r>
          </a:p>
        </p:txBody>
      </p:sp>
      <p:sp>
        <p:nvSpPr>
          <p:cNvPr id="271" name="Oval 270"/>
          <p:cNvSpPr/>
          <p:nvPr/>
        </p:nvSpPr>
        <p:spPr>
          <a:xfrm>
            <a:off x="402336" y="267462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694944" y="305409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Focus on the question; omit unrelated content and do not invent facts.</a:t>
            </a:r>
          </a:p>
        </p:txBody>
      </p:sp>
      <p:sp>
        <p:nvSpPr>
          <p:cNvPr id="273" name="Oval 272"/>
          <p:cNvSpPr/>
          <p:nvPr/>
        </p:nvSpPr>
        <p:spPr>
          <a:xfrm>
            <a:off x="402336" y="3154679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694944" y="3534156"/>
            <a:ext cx="6729984" cy="649224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If evidence is insufficient, return: The available policy documents do not contain enough information to answer this question.</a:t>
            </a:r>
          </a:p>
        </p:txBody>
      </p:sp>
      <p:sp>
        <p:nvSpPr>
          <p:cNvPr id="275" name="Oval 274"/>
          <p:cNvSpPr/>
          <p:nvPr/>
        </p:nvSpPr>
        <p:spPr>
          <a:xfrm>
            <a:off x="402336" y="3634739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694944" y="4215383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Additional guards focus Advance Purchase, Accessible King, and late-checkout questions on their relevant evidence.</a:t>
            </a:r>
          </a:p>
        </p:txBody>
      </p:sp>
      <p:sp>
        <p:nvSpPr>
          <p:cNvPr id="277" name="Oval 276"/>
          <p:cNvSpPr/>
          <p:nvPr/>
        </p:nvSpPr>
        <p:spPr>
          <a:xfrm>
            <a:off x="402336" y="4315968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RAG - Generation System - RAG Function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694944" y="132588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Pipeline: query -&gt; retrieve top-k chunks -&gt; generate grounded answer -&gt; return answer and evidence.</a:t>
            </a:r>
          </a:p>
        </p:txBody>
      </p:sp>
      <p:sp>
        <p:nvSpPr>
          <p:cNvPr id="273" name="Oval 272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694944" y="180594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Example query: What is the cancellation policy for a flexible reservation?</a:t>
            </a:r>
          </a:p>
        </p:txBody>
      </p:sp>
      <p:sp>
        <p:nvSpPr>
          <p:cNvPr id="275" name="Oval 274"/>
          <p:cNvSpPr/>
          <p:nvPr/>
        </p:nvSpPr>
        <p:spPr>
          <a:xfrm>
            <a:off x="402336" y="190652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694944" y="2286000"/>
            <a:ext cx="6729984" cy="85039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Example answer: Flexible rates can normally be canceled by 6:00 PM local property time one day before arrival without a room charge. Later cancellation or no-show may be charged one night plus tax; the confirmation controls if it differs.</a:t>
            </a:r>
          </a:p>
        </p:txBody>
      </p:sp>
      <p:sp>
        <p:nvSpPr>
          <p:cNvPr id="277" name="Oval 276"/>
          <p:cNvSpPr/>
          <p:nvPr/>
        </p:nvSpPr>
        <p:spPr>
          <a:xfrm>
            <a:off x="402336" y="238658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694944" y="316839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The response endpoint can return the answer alone or the answer plus relevant chunks for verification.</a:t>
            </a:r>
          </a:p>
        </p:txBody>
      </p:sp>
      <p:sp>
        <p:nvSpPr>
          <p:cNvPr id="279" name="Oval 278"/>
          <p:cNvSpPr/>
          <p:nvPr/>
        </p:nvSpPr>
        <p:spPr>
          <a:xfrm>
            <a:off x="402336" y="3268979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Evaluation - Load the Evaluation Data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694944" y="1325880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Development evaluation file: data/evaluation.csv.</a:t>
            </a:r>
          </a:p>
        </p:txBody>
      </p:sp>
      <p:sp>
        <p:nvSpPr>
          <p:cNvPr id="281" name="Oval 280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694944" y="161391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10 records with question, expected answer, and ground-truth relevant context.</a:t>
            </a:r>
          </a:p>
        </p:txBody>
      </p:sp>
      <p:sp>
        <p:nvSpPr>
          <p:cNvPr id="283" name="Oval 282"/>
          <p:cNvSpPr/>
          <p:nvPr/>
        </p:nvSpPr>
        <p:spPr>
          <a:xfrm>
            <a:off x="402336" y="171450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694944" y="209397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Sample question: What time can I check in at ASH-CHI Loop, and when do I need to be out?</a:t>
            </a:r>
          </a:p>
        </p:txBody>
      </p:sp>
      <p:sp>
        <p:nvSpPr>
          <p:cNvPr id="285" name="Oval 284"/>
          <p:cNvSpPr/>
          <p:nvPr/>
        </p:nvSpPr>
        <p:spPr>
          <a:xfrm>
            <a:off x="402336" y="219456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694944" y="2574036"/>
            <a:ext cx="6729984" cy="649224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Expected answer: Standard check-in is 3:00 PM and standard check-out is 12:00 PM local property time; early arrival and late departure depend on availability and approval.</a:t>
            </a:r>
          </a:p>
        </p:txBody>
      </p:sp>
      <p:sp>
        <p:nvSpPr>
          <p:cNvPr id="287" name="Oval 286"/>
          <p:cNvSpPr/>
          <p:nvPr/>
        </p:nvSpPr>
        <p:spPr>
          <a:xfrm>
            <a:off x="402336" y="267462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694944" y="3255264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Multi-context records use &lt;&gt; separators so relevant policy sections can be evaluated together.</a:t>
            </a:r>
          </a:p>
        </p:txBody>
      </p:sp>
      <p:sp>
        <p:nvSpPr>
          <p:cNvPr id="289" name="Oval 288"/>
          <p:cNvSpPr/>
          <p:nvPr/>
        </p:nvSpPr>
        <p:spPr>
          <a:xfrm>
            <a:off x="402336" y="3355848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Evaluation - Define the Evaluation Model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694944" y="1444752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Judge model: gpt-4o through the DeepEval OpenAIModel wrapper.</a:t>
            </a:r>
          </a:p>
        </p:txBody>
      </p:sp>
      <p:sp>
        <p:nvSpPr>
          <p:cNvPr id="289" name="Oval 288"/>
          <p:cNvSpPr/>
          <p:nvPr/>
        </p:nvSpPr>
        <p:spPr>
          <a:xfrm>
            <a:off x="402336" y="1545336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694944" y="1732788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The generator remains gpt-4o-mini with temperature=0.0, top_p=1.0, and max_tokens=512.</a:t>
            </a:r>
          </a:p>
        </p:txBody>
      </p:sp>
      <p:sp>
        <p:nvSpPr>
          <p:cNvPr id="291" name="Oval 290"/>
          <p:cNvSpPr/>
          <p:nvPr/>
        </p:nvSpPr>
        <p:spPr>
          <a:xfrm>
            <a:off x="402336" y="1833372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694944" y="2212848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The stronger judge model scores factual support, retrieval coverage, retrieval focus, and answer relevance.</a:t>
            </a:r>
          </a:p>
        </p:txBody>
      </p:sp>
      <p:sp>
        <p:nvSpPr>
          <p:cNvPr id="293" name="Oval 292"/>
          <p:cNvSpPr/>
          <p:nvPr/>
        </p:nvSpPr>
        <p:spPr>
          <a:xfrm>
            <a:off x="402336" y="2313432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694944" y="2692908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Evaluations run synchronously so each test case has a stable, auditable metric result.</a:t>
            </a:r>
          </a:p>
        </p:txBody>
      </p:sp>
      <p:sp>
        <p:nvSpPr>
          <p:cNvPr id="295" name="Oval 294"/>
          <p:cNvSpPr/>
          <p:nvPr/>
        </p:nvSpPr>
        <p:spPr>
          <a:xfrm>
            <a:off x="402336" y="2793491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1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Evaluation - Define the Evaluation Metrics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694944" y="132588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Faithfulness &gt;= 0.85: every important answer claim is supported by retrieved context.</a:t>
            </a:r>
          </a:p>
        </p:txBody>
      </p:sp>
      <p:sp>
        <p:nvSpPr>
          <p:cNvPr id="297" name="Oval 296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TextBox 297"/>
          <p:cNvSpPr txBox="1"/>
          <p:nvPr/>
        </p:nvSpPr>
        <p:spPr>
          <a:xfrm>
            <a:off x="694944" y="180594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Contextual Recall &gt;= 0.80: retrieved context contains information needed for the expected answer.</a:t>
            </a:r>
          </a:p>
        </p:txBody>
      </p:sp>
      <p:sp>
        <p:nvSpPr>
          <p:cNvPr id="299" name="Oval 298"/>
          <p:cNvSpPr/>
          <p:nvPr/>
        </p:nvSpPr>
        <p:spPr>
          <a:xfrm>
            <a:off x="402336" y="190652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TextBox 299"/>
          <p:cNvSpPr txBox="1"/>
          <p:nvPr/>
        </p:nvSpPr>
        <p:spPr>
          <a:xfrm>
            <a:off x="694944" y="228600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Contextual Precision &gt;= 0.75: relevant context is prioritized over unrelated content.</a:t>
            </a:r>
          </a:p>
        </p:txBody>
      </p:sp>
      <p:sp>
        <p:nvSpPr>
          <p:cNvPr id="301" name="Oval 300"/>
          <p:cNvSpPr/>
          <p:nvPr/>
        </p:nvSpPr>
        <p:spPr>
          <a:xfrm>
            <a:off x="402336" y="238658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TextBox 301"/>
          <p:cNvSpPr txBox="1"/>
          <p:nvPr/>
        </p:nvSpPr>
        <p:spPr>
          <a:xfrm>
            <a:off x="694944" y="276606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Answer Relevancy &gt;= 0.75: answer directly addresses the user question.</a:t>
            </a:r>
          </a:p>
        </p:txBody>
      </p:sp>
      <p:sp>
        <p:nvSpPr>
          <p:cNvPr id="303" name="Oval 302"/>
          <p:cNvSpPr/>
          <p:nvPr/>
        </p:nvSpPr>
        <p:spPr>
          <a:xfrm>
            <a:off x="402336" y="286664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694944" y="324612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Composite = 0.35F + 0.25Recall + 0.20Precision + 0.20Relevancy.</a:t>
            </a:r>
          </a:p>
        </p:txBody>
      </p:sp>
      <p:sp>
        <p:nvSpPr>
          <p:cNvPr id="305" name="Oval 304"/>
          <p:cNvSpPr/>
          <p:nvPr/>
        </p:nvSpPr>
        <p:spPr>
          <a:xfrm>
            <a:off x="402336" y="3346703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694944" y="3726180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A case passes only when all four metric thresholds are met.</a:t>
            </a:r>
          </a:p>
        </p:txBody>
      </p:sp>
      <p:sp>
        <p:nvSpPr>
          <p:cNvPr id="307" name="Oval 306"/>
          <p:cNvSpPr/>
          <p:nvPr/>
        </p:nvSpPr>
        <p:spPr>
          <a:xfrm>
            <a:off x="402336" y="38267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Evaluation - Build and Run the Evaluation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694944" y="132588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Retrieval tuning matrix selected chunk_size=512, overlap=64, MMR lambda=0.50, and fetch_k=20.</a:t>
            </a:r>
          </a:p>
        </p:txBody>
      </p:sp>
      <p:sp>
        <p:nvSpPr>
          <p:cNvPr id="305" name="Oval 304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694944" y="180594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Dev proxy coverage: 0.836; held-out test proxy coverage: 0.850.</a:t>
            </a:r>
          </a:p>
        </p:txBody>
      </p:sp>
      <p:sp>
        <p:nvSpPr>
          <p:cNvPr id="307" name="Oval 306"/>
          <p:cNvSpPr/>
          <p:nvPr/>
        </p:nvSpPr>
        <p:spPr>
          <a:xfrm>
            <a:off x="402336" y="190652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TextBox 307"/>
          <p:cNvSpPr txBox="1"/>
          <p:nvPr/>
        </p:nvSpPr>
        <p:spPr>
          <a:xfrm>
            <a:off x="694944" y="228600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Full DeepEval is the acceptance test; proxy coverage is used only to narrow candidates.</a:t>
            </a:r>
          </a:p>
        </p:txBody>
      </p:sp>
      <p:sp>
        <p:nvSpPr>
          <p:cNvPr id="309" name="Oval 308"/>
          <p:cNvSpPr/>
          <p:nvPr/>
        </p:nvSpPr>
        <p:spPr>
          <a:xfrm>
            <a:off x="402336" y="238658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694944" y="2766060"/>
            <a:ext cx="6729984" cy="649224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The evaluation creates LLMTestCase objects with input, expected output, actual output, retrieval context, and reference context.</a:t>
            </a:r>
          </a:p>
        </p:txBody>
      </p:sp>
      <p:sp>
        <p:nvSpPr>
          <p:cNvPr id="311" name="Oval 310"/>
          <p:cNvSpPr/>
          <p:nvPr/>
        </p:nvSpPr>
        <p:spPr>
          <a:xfrm>
            <a:off x="402336" y="286664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TextBox 311"/>
          <p:cNvSpPr txBox="1"/>
          <p:nvPr/>
        </p:nvSpPr>
        <p:spPr>
          <a:xfrm>
            <a:off x="694944" y="3447288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Output artifacts: deepeval_options_summary.csv and deepeval_options_cases.csv.</a:t>
            </a:r>
          </a:p>
        </p:txBody>
      </p:sp>
      <p:sp>
        <p:nvSpPr>
          <p:cNvPr id="313" name="Oval 312"/>
          <p:cNvSpPr/>
          <p:nvPr/>
        </p:nvSpPr>
        <p:spPr>
          <a:xfrm>
            <a:off x="402336" y="3547872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694944" y="3927348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Cases are classified as AUTO ANSWER, ASSISTED REVIEW, or MANUAL LOOKUP from the composite score.</a:t>
            </a:r>
          </a:p>
        </p:txBody>
      </p:sp>
      <p:sp>
        <p:nvSpPr>
          <p:cNvPr id="315" name="Oval 314"/>
          <p:cNvSpPr/>
          <p:nvPr/>
        </p:nvSpPr>
        <p:spPr>
          <a:xfrm>
            <a:off x="402336" y="4027932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694944" y="4407408"/>
            <a:ext cx="6729984" cy="274319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Result: baseline k=5 is the selected configuration by highest composite score.</a:t>
            </a:r>
          </a:p>
        </p:txBody>
      </p:sp>
      <p:sp>
        <p:nvSpPr>
          <p:cNvPr id="317" name="Oval 316"/>
          <p:cNvSpPr/>
          <p:nvPr/>
        </p:nvSpPr>
        <p:spPr>
          <a:xfrm>
            <a:off x="402336" y="4507992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3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Evaluation - Load the Test Data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TextBox 311"/>
          <p:cNvSpPr txBox="1"/>
          <p:nvPr/>
        </p:nvSpPr>
        <p:spPr>
          <a:xfrm>
            <a:off x="694944" y="1444752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Held-out file: data/test.xlsx.</a:t>
            </a:r>
          </a:p>
        </p:txBody>
      </p:sp>
      <p:sp>
        <p:nvSpPr>
          <p:cNvPr id="313" name="Oval 312"/>
          <p:cNvSpPr/>
          <p:nvPr/>
        </p:nvSpPr>
        <p:spPr>
          <a:xfrm>
            <a:off x="402336" y="1545336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694944" y="1732788"/>
            <a:ext cx="6729984" cy="649224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10 unseen questions covering cancellation, discounts, room occupancy, accessibility, parking, breakfast, rate changes, checkout, pets, and incidental holds.</a:t>
            </a:r>
          </a:p>
        </p:txBody>
      </p:sp>
      <p:sp>
        <p:nvSpPr>
          <p:cNvPr id="315" name="Oval 314"/>
          <p:cNvSpPr/>
          <p:nvPr/>
        </p:nvSpPr>
        <p:spPr>
          <a:xfrm>
            <a:off x="402336" y="1833372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694944" y="241401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Sample question: How many people can stay in a Double Queen room?</a:t>
            </a:r>
          </a:p>
        </p:txBody>
      </p:sp>
      <p:sp>
        <p:nvSpPr>
          <p:cNvPr id="317" name="Oval 316"/>
          <p:cNvSpPr/>
          <p:nvPr/>
        </p:nvSpPr>
        <p:spPr>
          <a:xfrm>
            <a:off x="402336" y="251460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TextBox 317"/>
          <p:cNvSpPr txBox="1"/>
          <p:nvPr/>
        </p:nvSpPr>
        <p:spPr>
          <a:xfrm>
            <a:off x="694944" y="2894076"/>
            <a:ext cx="6729984" cy="649224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Expected answer: Up to 4 guests, subject to fire-code and property occupancy limits; recheck the room and rate if the group size changes.</a:t>
            </a:r>
          </a:p>
        </p:txBody>
      </p:sp>
      <p:sp>
        <p:nvSpPr>
          <p:cNvPr id="319" name="Oval 318"/>
          <p:cNvSpPr/>
          <p:nvPr/>
        </p:nvSpPr>
        <p:spPr>
          <a:xfrm>
            <a:off x="402336" y="299466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TextBox 319"/>
          <p:cNvSpPr txBox="1"/>
          <p:nvPr/>
        </p:nvSpPr>
        <p:spPr>
          <a:xfrm>
            <a:off x="694944" y="3575304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The held-out set is used only for final comparison and selection of the baseline.</a:t>
            </a:r>
          </a:p>
        </p:txBody>
      </p:sp>
      <p:sp>
        <p:nvSpPr>
          <p:cNvPr id="321" name="Oval 320"/>
          <p:cNvSpPr/>
          <p:nvPr/>
        </p:nvSpPr>
        <p:spPr>
          <a:xfrm>
            <a:off x="402336" y="3675888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Evaluation - Build and Run the Evaluation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20" name="Table 319"/>
          <p:cNvGraphicFramePr>
            <a:graphicFrameLocks noGrp="1"/>
          </p:cNvGraphicFramePr>
          <p:nvPr/>
        </p:nvGraphicFramePr>
        <p:xfrm>
          <a:off x="438912" y="1207008"/>
          <a:ext cx="6821424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"/>
                <a:gridCol w="2743200"/>
                <a:gridCol w="530352"/>
                <a:gridCol w="530352"/>
                <a:gridCol w="530352"/>
                <a:gridCol w="530352"/>
                <a:gridCol w="777240"/>
                <a:gridCol w="749808"/>
              </a:tblGrid>
              <a:tr h="3092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FFFFFF"/>
                          </a:solidFill>
                          <a:latin typeface="Montserrat"/>
                        </a:rPr>
                        <a:t>Case</a:t>
                      </a:r>
                    </a:p>
                  </a:txBody>
                  <a:tcPr marL="32004" marR="32004" marT="9144" marB="9144">
                    <a:solidFill>
                      <a:srgbClr val="0E39A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FFFFFF"/>
                          </a:solidFill>
                          <a:latin typeface="Montserrat"/>
                        </a:rPr>
                        <a:t>Test case</a:t>
                      </a:r>
                    </a:p>
                  </a:txBody>
                  <a:tcPr marL="32004" marR="32004" marT="9144" marB="9144">
                    <a:solidFill>
                      <a:srgbClr val="0E39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FFFFFF"/>
                          </a:solidFill>
                          <a:latin typeface="Montserrat"/>
                        </a:rPr>
                        <a:t>F</a:t>
                      </a:r>
                    </a:p>
                  </a:txBody>
                  <a:tcPr marL="32004" marR="32004" marT="9144" marB="9144">
                    <a:solidFill>
                      <a:srgbClr val="0E39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FFFFFF"/>
                          </a:solidFill>
                          <a:latin typeface="Montserrat"/>
                        </a:rPr>
                        <a:t>R</a:t>
                      </a:r>
                    </a:p>
                  </a:txBody>
                  <a:tcPr marL="32004" marR="32004" marT="9144" marB="9144">
                    <a:solidFill>
                      <a:srgbClr val="0E39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FFFFFF"/>
                          </a:solidFill>
                          <a:latin typeface="Montserrat"/>
                        </a:rPr>
                        <a:t>P</a:t>
                      </a:r>
                    </a:p>
                  </a:txBody>
                  <a:tcPr marL="32004" marR="32004" marT="9144" marB="9144">
                    <a:solidFill>
                      <a:srgbClr val="0E39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FFFFFF"/>
                          </a:solidFill>
                          <a:latin typeface="Montserrat"/>
                        </a:rPr>
                        <a:t>AR</a:t>
                      </a:r>
                    </a:p>
                  </a:txBody>
                  <a:tcPr marL="32004" marR="32004" marT="9144" marB="9144">
                    <a:solidFill>
                      <a:srgbClr val="0E39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FFFFFF"/>
                          </a:solidFill>
                          <a:latin typeface="Montserrat"/>
                        </a:rPr>
                        <a:t>Composite</a:t>
                      </a:r>
                    </a:p>
                  </a:txBody>
                  <a:tcPr marL="32004" marR="32004" marT="9144" marB="9144">
                    <a:solidFill>
                      <a:srgbClr val="0E39A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9" b="1">
                          <a:solidFill>
                            <a:srgbClr val="FFFFFF"/>
                          </a:solidFill>
                          <a:latin typeface="Montserrat"/>
                        </a:rPr>
                        <a:t>Result</a:t>
                      </a:r>
                    </a:p>
                  </a:txBody>
                  <a:tcPr marL="32004" marR="32004" marT="9144" marB="9144">
                    <a:solidFill>
                      <a:srgbClr val="0E39A9"/>
                    </a:solidFill>
                  </a:tcPr>
                </a:tc>
              </a:tr>
              <a:tr h="3092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01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OTA cancellation/refund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.991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.946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.826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.977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.944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1F7752"/>
                          </a:solidFill>
                          <a:latin typeface="Montserrat"/>
                        </a:rPr>
                        <a:t>PASS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</a:tr>
              <a:tr h="3092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02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Member discount/cancellation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1.000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.995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.814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.971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.956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1F7752"/>
                          </a:solidFill>
                          <a:latin typeface="Montserrat"/>
                        </a:rPr>
                        <a:t>PASS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</a:tr>
              <a:tr h="3092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03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Double Queen occupancy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1.000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.994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.958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.990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.988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1F7752"/>
                          </a:solidFill>
                          <a:latin typeface="Montserrat"/>
                        </a:rPr>
                        <a:t>PASS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</a:tr>
              <a:tr h="3092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04</a:t>
                      </a:r>
                    </a:p>
                  </a:txBody>
                  <a:tcPr marL="32004" marR="32004" marT="9144" marB="9144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Accessible King inclusions</a:t>
                      </a:r>
                    </a:p>
                  </a:txBody>
                  <a:tcPr marL="32004" marR="32004" marT="9144" marB="9144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.989</a:t>
                      </a:r>
                    </a:p>
                  </a:txBody>
                  <a:tcPr marL="32004" marR="32004" marT="9144" marB="9144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.913</a:t>
                      </a:r>
                    </a:p>
                  </a:txBody>
                  <a:tcPr marL="32004" marR="32004" marT="9144" marB="9144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.451</a:t>
                      </a:r>
                    </a:p>
                  </a:txBody>
                  <a:tcPr marL="32004" marR="32004" marT="9144" marB="9144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.801</a:t>
                      </a:r>
                    </a:p>
                  </a:txBody>
                  <a:tcPr marL="32004" marR="32004" marT="9144" marB="9144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.825</a:t>
                      </a:r>
                    </a:p>
                  </a:txBody>
                  <a:tcPr marL="32004" marR="32004" marT="9144" marB="9144">
                    <a:solidFill>
                      <a:srgbClr val="FF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A62A2A"/>
                          </a:solidFill>
                          <a:latin typeface="Montserrat"/>
                        </a:rPr>
                        <a:t>FAIL</a:t>
                      </a:r>
                    </a:p>
                  </a:txBody>
                  <a:tcPr marL="32004" marR="32004" marT="9144" marB="9144">
                    <a:solidFill>
                      <a:srgbClr val="FFEBEB"/>
                    </a:solidFill>
                  </a:tcPr>
                </a:tc>
              </a:tr>
              <a:tr h="3092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05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Atlanta/Miami parking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1.000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1.000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.893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.982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.975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1F7752"/>
                          </a:solidFill>
                          <a:latin typeface="Montserrat"/>
                        </a:rPr>
                        <a:t>PASS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</a:tr>
              <a:tr h="3092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06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Miami breakfast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1.000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.994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.828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.994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.963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1F7752"/>
                          </a:solidFill>
                          <a:latin typeface="Montserrat"/>
                        </a:rPr>
                        <a:t>PASS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</a:tr>
              <a:tr h="3092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07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Advance Purchase change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.956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.962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.809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.896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.916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1F7752"/>
                          </a:solidFill>
                          <a:latin typeface="Montserrat"/>
                        </a:rPr>
                        <a:t>PASS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</a:tr>
              <a:tr h="3092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08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Denver late checkout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.998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.986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.834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.884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.939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1F7752"/>
                          </a:solidFill>
                          <a:latin typeface="Montserrat"/>
                        </a:rPr>
                        <a:t>PASS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</a:tr>
              <a:tr h="3092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09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ASH-CHI pet fee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1.000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.986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.888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1.000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.974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1F7752"/>
                          </a:solidFill>
                          <a:latin typeface="Montserrat"/>
                        </a:rPr>
                        <a:t>PASS</a:t>
                      </a:r>
                    </a:p>
                  </a:txBody>
                  <a:tcPr marL="32004" marR="32004" marT="9144" marB="9144">
                    <a:solidFill>
                      <a:srgbClr val="FFFFFF"/>
                    </a:solidFill>
                  </a:tcPr>
                </a:tc>
              </a:tr>
              <a:tr h="30923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10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Card-hold difference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.999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.998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.781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.895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0">
                          <a:solidFill>
                            <a:srgbClr val="000000"/>
                          </a:solidFill>
                          <a:latin typeface="Montserrat"/>
                        </a:rPr>
                        <a:t>.934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40" b="1">
                          <a:solidFill>
                            <a:srgbClr val="1F7752"/>
                          </a:solidFill>
                          <a:latin typeface="Montserrat"/>
                        </a:rPr>
                        <a:t>PASS</a:t>
                      </a:r>
                    </a:p>
                  </a:txBody>
                  <a:tcPr marL="32004" marR="32004" marT="9144" marB="9144">
                    <a:solidFill>
                      <a:srgbClr val="F2F6FF"/>
                    </a:solidFill>
                  </a:tcPr>
                </a:tc>
              </a:tr>
            </a:tbl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502920" y="4681728"/>
            <a:ext cx="813816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E39A9"/>
                </a:solidFill>
                <a:latin typeface="Montserrat"/>
              </a:rPr>
              <a:t>Selected baseline: 9/10 passed; weighted composite .941. The only failure is Accessible King Precision=.451.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Deployment - Backend - Serialize the Vector Database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TextBox 327"/>
          <p:cNvSpPr txBox="1"/>
          <p:nvPr/>
        </p:nvSpPr>
        <p:spPr>
          <a:xfrm>
            <a:off x="694944" y="1325880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Backend artifact: backend/faiss_index/index.faiss.</a:t>
            </a:r>
          </a:p>
        </p:txBody>
      </p:sp>
      <p:sp>
        <p:nvSpPr>
          <p:cNvPr id="329" name="Oval 328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TextBox 329"/>
          <p:cNvSpPr txBox="1"/>
          <p:nvPr/>
        </p:nvSpPr>
        <p:spPr>
          <a:xfrm>
            <a:off x="694944" y="1613916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Metadata and document store: backend/faiss_index/index.pkl.</a:t>
            </a:r>
          </a:p>
        </p:txBody>
      </p:sp>
      <p:sp>
        <p:nvSpPr>
          <p:cNvPr id="331" name="Oval 330"/>
          <p:cNvSpPr/>
          <p:nvPr/>
        </p:nvSpPr>
        <p:spPr>
          <a:xfrm>
            <a:off x="402336" y="171450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TextBox 331"/>
          <p:cNvSpPr txBox="1"/>
          <p:nvPr/>
        </p:nvSpPr>
        <p:spPr>
          <a:xfrm>
            <a:off x="694944" y="1901952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The persisted FAISS index contains 43 normalized vectors from the policy knowledge base.</a:t>
            </a:r>
          </a:p>
        </p:txBody>
      </p:sp>
      <p:sp>
        <p:nvSpPr>
          <p:cNvPr id="333" name="Oval 332"/>
          <p:cNvSpPr/>
          <p:nvPr/>
        </p:nvSpPr>
        <p:spPr>
          <a:xfrm>
            <a:off x="402336" y="2002536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TextBox 333"/>
          <p:cNvSpPr txBox="1"/>
          <p:nvPr/>
        </p:nvSpPr>
        <p:spPr>
          <a:xfrm>
            <a:off x="694944" y="2382012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The backend loads the trusted local artifact at startup; the Docker image copies the index into /app/faiss_index.</a:t>
            </a:r>
          </a:p>
        </p:txBody>
      </p:sp>
      <p:sp>
        <p:nvSpPr>
          <p:cNvPr id="335" name="Oval 334"/>
          <p:cNvSpPr/>
          <p:nvPr/>
        </p:nvSpPr>
        <p:spPr>
          <a:xfrm>
            <a:off x="402336" y="2482596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694944" y="2862072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The artifact must be rebuilt whenever source documents, chunking, or embeddings change.</a:t>
            </a:r>
          </a:p>
        </p:txBody>
      </p:sp>
      <p:sp>
        <p:nvSpPr>
          <p:cNvPr id="337" name="Oval 336"/>
          <p:cNvSpPr/>
          <p:nvPr/>
        </p:nvSpPr>
        <p:spPr>
          <a:xfrm>
            <a:off x="402336" y="2962656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6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Deployment - Backend - Define the Flask Application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694944" y="132588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Service entry point: backend/app.py; production command uses Gunicorn and app:rag_api.</a:t>
            </a:r>
          </a:p>
        </p:txBody>
      </p:sp>
      <p:sp>
        <p:nvSpPr>
          <p:cNvPr id="337" name="Oval 336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TextBox 337"/>
          <p:cNvSpPr txBox="1"/>
          <p:nvPr/>
        </p:nvSpPr>
        <p:spPr>
          <a:xfrm>
            <a:off x="694944" y="1805940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GET / returns a lightweight readiness message.</a:t>
            </a:r>
          </a:p>
        </p:txBody>
      </p:sp>
      <p:sp>
        <p:nvSpPr>
          <p:cNvPr id="339" name="Oval 338"/>
          <p:cNvSpPr/>
          <p:nvPr/>
        </p:nvSpPr>
        <p:spPr>
          <a:xfrm>
            <a:off x="402336" y="190652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TextBox 339"/>
          <p:cNvSpPr txBox="1"/>
          <p:nvPr/>
        </p:nvSpPr>
        <p:spPr>
          <a:xfrm>
            <a:off x="694944" y="209397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POST /v1/relevant_chunks returns the top-k retrieved policy chunks.</a:t>
            </a:r>
          </a:p>
        </p:txBody>
      </p:sp>
      <p:sp>
        <p:nvSpPr>
          <p:cNvPr id="341" name="Oval 340"/>
          <p:cNvSpPr/>
          <p:nvPr/>
        </p:nvSpPr>
        <p:spPr>
          <a:xfrm>
            <a:off x="402336" y="219456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TextBox 341"/>
          <p:cNvSpPr txBox="1"/>
          <p:nvPr/>
        </p:nvSpPr>
        <p:spPr>
          <a:xfrm>
            <a:off x="694944" y="257403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POST /v1/answer_with_relevant_chunks returns the generated answer and evidence chunks.</a:t>
            </a:r>
          </a:p>
        </p:txBody>
      </p:sp>
      <p:sp>
        <p:nvSpPr>
          <p:cNvPr id="343" name="Oval 342"/>
          <p:cNvSpPr/>
          <p:nvPr/>
        </p:nvSpPr>
        <p:spPr>
          <a:xfrm>
            <a:off x="402336" y="267462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TextBox 343"/>
          <p:cNvSpPr txBox="1"/>
          <p:nvPr/>
        </p:nvSpPr>
        <p:spPr>
          <a:xfrm>
            <a:off x="694944" y="3054096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POST /v1/answer returns the generated answer only.</a:t>
            </a:r>
          </a:p>
        </p:txBody>
      </p:sp>
      <p:sp>
        <p:nvSpPr>
          <p:cNvPr id="345" name="Oval 344"/>
          <p:cNvSpPr/>
          <p:nvPr/>
        </p:nvSpPr>
        <p:spPr>
          <a:xfrm>
            <a:off x="402336" y="3154679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TextBox 345"/>
          <p:cNvSpPr txBox="1"/>
          <p:nvPr/>
        </p:nvSpPr>
        <p:spPr>
          <a:xfrm>
            <a:off x="694944" y="3342132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Defaults: k=5, gpt-4o-mini, temperature=0.0, top_p=1.0, max_tokens=512.</a:t>
            </a:r>
          </a:p>
        </p:txBody>
      </p:sp>
      <p:sp>
        <p:nvSpPr>
          <p:cNvPr id="347" name="Oval 346"/>
          <p:cNvSpPr/>
          <p:nvPr/>
        </p:nvSpPr>
        <p:spPr>
          <a:xfrm>
            <a:off x="402336" y="3442715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TextBox 347"/>
          <p:cNvSpPr txBox="1"/>
          <p:nvPr/>
        </p:nvSpPr>
        <p:spPr>
          <a:xfrm>
            <a:off x="694944" y="3822191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Container binding: 0.0.0.0:7860; local smoke tests use port 5000.</a:t>
            </a:r>
          </a:p>
        </p:txBody>
      </p:sp>
      <p:sp>
        <p:nvSpPr>
          <p:cNvPr id="349" name="Oval 348"/>
          <p:cNvSpPr/>
          <p:nvPr/>
        </p:nvSpPr>
        <p:spPr>
          <a:xfrm>
            <a:off x="402336" y="3922776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Deployment - Backend - Define the Dependencies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TextBox 343"/>
          <p:cNvSpPr txBox="1"/>
          <p:nvPr/>
        </p:nvSpPr>
        <p:spPr>
          <a:xfrm>
            <a:off x="694944" y="132588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Pinned backend dependencies are declared in backend/requirements.txt.</a:t>
            </a:r>
          </a:p>
        </p:txBody>
      </p:sp>
      <p:sp>
        <p:nvSpPr>
          <p:cNvPr id="345" name="Oval 344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TextBox 345"/>
          <p:cNvSpPr txBox="1"/>
          <p:nvPr/>
        </p:nvSpPr>
        <p:spPr>
          <a:xfrm>
            <a:off x="694944" y="180594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Flask 3.1.3 and Gunicorn 26.2.0 provide the API service runtime.</a:t>
            </a:r>
          </a:p>
        </p:txBody>
      </p:sp>
      <p:sp>
        <p:nvSpPr>
          <p:cNvPr id="347" name="Oval 346"/>
          <p:cNvSpPr/>
          <p:nvPr/>
        </p:nvSpPr>
        <p:spPr>
          <a:xfrm>
            <a:off x="402336" y="190652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TextBox 347"/>
          <p:cNvSpPr txBox="1"/>
          <p:nvPr/>
        </p:nvSpPr>
        <p:spPr>
          <a:xfrm>
            <a:off x="694944" y="228600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LangChain HuggingFace, LangChain Community, and LangChain OpenAI provide retrieval and generation integration.</a:t>
            </a:r>
          </a:p>
        </p:txBody>
      </p:sp>
      <p:sp>
        <p:nvSpPr>
          <p:cNvPr id="349" name="Oval 348"/>
          <p:cNvSpPr/>
          <p:nvPr/>
        </p:nvSpPr>
        <p:spPr>
          <a:xfrm>
            <a:off x="402336" y="238658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TextBox 349"/>
          <p:cNvSpPr txBox="1"/>
          <p:nvPr/>
        </p:nvSpPr>
        <p:spPr>
          <a:xfrm>
            <a:off x="694944" y="276606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sentence-transformers 6.1.0 and faiss-cpu 1.15.0 provide embeddings and vector search.</a:t>
            </a:r>
          </a:p>
        </p:txBody>
      </p:sp>
      <p:sp>
        <p:nvSpPr>
          <p:cNvPr id="351" name="Oval 350"/>
          <p:cNvSpPr/>
          <p:nvPr/>
        </p:nvSpPr>
        <p:spPr>
          <a:xfrm>
            <a:off x="402336" y="286664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TextBox 351"/>
          <p:cNvSpPr txBox="1"/>
          <p:nvPr/>
        </p:nvSpPr>
        <p:spPr>
          <a:xfrm>
            <a:off x="694944" y="324612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The Docker build installs CPU-only PyTorch before installing the requirements file.</a:t>
            </a:r>
          </a:p>
        </p:txBody>
      </p:sp>
      <p:sp>
        <p:nvSpPr>
          <p:cNvPr id="353" name="Oval 352"/>
          <p:cNvSpPr/>
          <p:nvPr/>
        </p:nvSpPr>
        <p:spPr>
          <a:xfrm>
            <a:off x="402336" y="3346703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TextBox 353"/>
          <p:cNvSpPr txBox="1"/>
          <p:nvPr/>
        </p:nvSpPr>
        <p:spPr>
          <a:xfrm>
            <a:off x="694944" y="372618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The embedding model is cached during image build so runtime can use offline mode.</a:t>
            </a:r>
          </a:p>
        </p:txBody>
      </p:sp>
      <p:sp>
        <p:nvSpPr>
          <p:cNvPr id="355" name="Oval 354"/>
          <p:cNvSpPr/>
          <p:nvPr/>
        </p:nvSpPr>
        <p:spPr>
          <a:xfrm>
            <a:off x="402336" y="38267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Deployment - Backend - Define the Dockerfile</a:t>
            </a:r>
          </a:p>
        </p:txBody>
      </p:sp>
      <p:sp>
        <p:nvSpPr>
          <p:cNvPr id="351" name="Rectangle 350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TextBox 351"/>
          <p:cNvSpPr txBox="1"/>
          <p:nvPr/>
        </p:nvSpPr>
        <p:spPr>
          <a:xfrm>
            <a:off x="694944" y="1325880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Base image: python:3.13.15-slim.</a:t>
            </a:r>
          </a:p>
        </p:txBody>
      </p:sp>
      <p:sp>
        <p:nvSpPr>
          <p:cNvPr id="353" name="Oval 352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TextBox 353"/>
          <p:cNvSpPr txBox="1"/>
          <p:nvPr/>
        </p:nvSpPr>
        <p:spPr>
          <a:xfrm>
            <a:off x="694944" y="161391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Copies the backend application, FAISS artifact, and requirements into /app.</a:t>
            </a:r>
          </a:p>
        </p:txBody>
      </p:sp>
      <p:sp>
        <p:nvSpPr>
          <p:cNvPr id="355" name="Oval 354"/>
          <p:cNvSpPr/>
          <p:nvPr/>
        </p:nvSpPr>
        <p:spPr>
          <a:xfrm>
            <a:off x="402336" y="171450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694944" y="209397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Installs CPU PyTorch and the pinned backend dependencies without pip cache.</a:t>
            </a:r>
          </a:p>
        </p:txBody>
      </p:sp>
      <p:sp>
        <p:nvSpPr>
          <p:cNvPr id="357" name="Oval 356"/>
          <p:cNvSpPr/>
          <p:nvPr/>
        </p:nvSpPr>
        <p:spPr>
          <a:xfrm>
            <a:off x="402336" y="219456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TextBox 357"/>
          <p:cNvSpPr txBox="1"/>
          <p:nvPr/>
        </p:nvSpPr>
        <p:spPr>
          <a:xfrm>
            <a:off x="694944" y="257403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Downloads HarishMaths/Hotel-Policy-Embedding at build time and sets HF_HOME=/app/huggingface.</a:t>
            </a:r>
          </a:p>
        </p:txBody>
      </p:sp>
      <p:sp>
        <p:nvSpPr>
          <p:cNvPr id="359" name="Oval 358"/>
          <p:cNvSpPr/>
          <p:nvPr/>
        </p:nvSpPr>
        <p:spPr>
          <a:xfrm>
            <a:off x="402336" y="267462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TextBox 359"/>
          <p:cNvSpPr txBox="1"/>
          <p:nvPr/>
        </p:nvSpPr>
        <p:spPr>
          <a:xfrm>
            <a:off x="694944" y="305409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TRANSFORMERS_OFFLINE=1 and HF_HUB_OFFLINE=1 prevent runtime model downloads.</a:t>
            </a:r>
          </a:p>
        </p:txBody>
      </p:sp>
      <p:sp>
        <p:nvSpPr>
          <p:cNvPr id="361" name="Oval 360"/>
          <p:cNvSpPr/>
          <p:nvPr/>
        </p:nvSpPr>
        <p:spPr>
          <a:xfrm>
            <a:off x="402336" y="3154679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TextBox 361"/>
          <p:cNvSpPr txBox="1"/>
          <p:nvPr/>
        </p:nvSpPr>
        <p:spPr>
          <a:xfrm>
            <a:off x="694944" y="353415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Starts one Gunicorn worker on port 7860 with a 120-second request timeout.</a:t>
            </a:r>
          </a:p>
        </p:txBody>
      </p:sp>
      <p:sp>
        <p:nvSpPr>
          <p:cNvPr id="363" name="Oval 362"/>
          <p:cNvSpPr/>
          <p:nvPr/>
        </p:nvSpPr>
        <p:spPr>
          <a:xfrm>
            <a:off x="402336" y="3634739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Deployment - Frontend - Define the Streamlit App</a:t>
            </a:r>
          </a:p>
        </p:txBody>
      </p:sp>
      <p:sp>
        <p:nvSpPr>
          <p:cNvPr id="359" name="Rectangle 358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TextBox 359"/>
          <p:cNvSpPr txBox="1"/>
          <p:nvPr/>
        </p:nvSpPr>
        <p:spPr>
          <a:xfrm>
            <a:off x="694944" y="132588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Frontend entry point: frontend/app.py; it provides the Aurora Stays question-and-answer interface.</a:t>
            </a:r>
          </a:p>
        </p:txBody>
      </p:sp>
      <p:sp>
        <p:nvSpPr>
          <p:cNvPr id="361" name="Oval 360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TextBox 361"/>
          <p:cNvSpPr txBox="1"/>
          <p:nvPr/>
        </p:nvSpPr>
        <p:spPr>
          <a:xfrm>
            <a:off x="694944" y="180594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Sidebar controls: k from 1 to 10, temperature from 0.0 to 1.0, and max_tokens from 64 to 2048.</a:t>
            </a:r>
          </a:p>
        </p:txBody>
      </p:sp>
      <p:sp>
        <p:nvSpPr>
          <p:cNvPr id="363" name="Oval 362"/>
          <p:cNvSpPr/>
          <p:nvPr/>
        </p:nvSpPr>
        <p:spPr>
          <a:xfrm>
            <a:off x="402336" y="190652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TextBox 363"/>
          <p:cNvSpPr txBox="1"/>
          <p:nvPr/>
        </p:nvSpPr>
        <p:spPr>
          <a:xfrm>
            <a:off x="694944" y="2286000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Users can select Answer only or Answer + Relevant Chunks.</a:t>
            </a:r>
          </a:p>
        </p:txBody>
      </p:sp>
      <p:sp>
        <p:nvSpPr>
          <p:cNvPr id="365" name="Oval 364"/>
          <p:cNvSpPr/>
          <p:nvPr/>
        </p:nvSpPr>
        <p:spPr>
          <a:xfrm>
            <a:off x="402336" y="238658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TextBox 365"/>
          <p:cNvSpPr txBox="1"/>
          <p:nvPr/>
        </p:nvSpPr>
        <p:spPr>
          <a:xfrm>
            <a:off x="694944" y="257403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The backend address is supplied through BACKEND_URL; local default is http://localhost:5000.</a:t>
            </a:r>
          </a:p>
        </p:txBody>
      </p:sp>
      <p:sp>
        <p:nvSpPr>
          <p:cNvPr id="367" name="Oval 366"/>
          <p:cNvSpPr/>
          <p:nvPr/>
        </p:nvSpPr>
        <p:spPr>
          <a:xfrm>
            <a:off x="402336" y="267462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TextBox 367"/>
          <p:cNvSpPr txBox="1"/>
          <p:nvPr/>
        </p:nvSpPr>
        <p:spPr>
          <a:xfrm>
            <a:off x="694944" y="305409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The interface displays the answer, retrieved evidence, and a clear API connectivity error when the backend is unavailable.</a:t>
            </a:r>
          </a:p>
        </p:txBody>
      </p:sp>
      <p:sp>
        <p:nvSpPr>
          <p:cNvPr id="369" name="Oval 368"/>
          <p:cNvSpPr/>
          <p:nvPr/>
        </p:nvSpPr>
        <p:spPr>
          <a:xfrm>
            <a:off x="402336" y="3154679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TextBox 369"/>
          <p:cNvSpPr txBox="1"/>
          <p:nvPr/>
        </p:nvSpPr>
        <p:spPr>
          <a:xfrm>
            <a:off x="694944" y="353415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Validated locally with Streamlit on port 8501 and the Flask API on port 5000.</a:t>
            </a:r>
          </a:p>
        </p:txBody>
      </p:sp>
      <p:sp>
        <p:nvSpPr>
          <p:cNvPr id="371" name="Oval 370"/>
          <p:cNvSpPr/>
          <p:nvPr/>
        </p:nvSpPr>
        <p:spPr>
          <a:xfrm>
            <a:off x="402336" y="3634739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6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Deployment - Frontend - Define the Dockerfile</a:t>
            </a:r>
          </a:p>
        </p:txBody>
      </p:sp>
      <p:sp>
        <p:nvSpPr>
          <p:cNvPr id="367" name="Rectangle 366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TextBox 367"/>
          <p:cNvSpPr txBox="1"/>
          <p:nvPr/>
        </p:nvSpPr>
        <p:spPr>
          <a:xfrm>
            <a:off x="694944" y="1325880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Base image: python:3.13.15-slim.</a:t>
            </a:r>
          </a:p>
        </p:txBody>
      </p:sp>
      <p:sp>
        <p:nvSpPr>
          <p:cNvPr id="369" name="Oval 368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TextBox 369"/>
          <p:cNvSpPr txBox="1"/>
          <p:nvPr/>
        </p:nvSpPr>
        <p:spPr>
          <a:xfrm>
            <a:off x="694944" y="161391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Copies the Streamlit application and installs requests 2.34.2 and streamlit 1.64.0.</a:t>
            </a:r>
          </a:p>
        </p:txBody>
      </p:sp>
      <p:sp>
        <p:nvSpPr>
          <p:cNvPr id="371" name="Oval 370"/>
          <p:cNvSpPr/>
          <p:nvPr/>
        </p:nvSpPr>
        <p:spPr>
          <a:xfrm>
            <a:off x="402336" y="171450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TextBox 371"/>
          <p:cNvSpPr txBox="1"/>
          <p:nvPr/>
        </p:nvSpPr>
        <p:spPr>
          <a:xfrm>
            <a:off x="694944" y="209397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Binds Streamlit to 0.0.0.0:8501 for Codespaces or container access.</a:t>
            </a:r>
          </a:p>
        </p:txBody>
      </p:sp>
      <p:sp>
        <p:nvSpPr>
          <p:cNvPr id="373" name="Oval 372"/>
          <p:cNvSpPr/>
          <p:nvPr/>
        </p:nvSpPr>
        <p:spPr>
          <a:xfrm>
            <a:off x="402336" y="219456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TextBox 373"/>
          <p:cNvSpPr txBox="1"/>
          <p:nvPr/>
        </p:nvSpPr>
        <p:spPr>
          <a:xfrm>
            <a:off x="694944" y="257403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XSRF protection is disabled in the supplied deployment command to simplify external access.</a:t>
            </a:r>
          </a:p>
        </p:txBody>
      </p:sp>
      <p:sp>
        <p:nvSpPr>
          <p:cNvPr id="375" name="Oval 374"/>
          <p:cNvSpPr/>
          <p:nvPr/>
        </p:nvSpPr>
        <p:spPr>
          <a:xfrm>
            <a:off x="402336" y="267462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TextBox 375"/>
          <p:cNvSpPr txBox="1"/>
          <p:nvPr/>
        </p:nvSpPr>
        <p:spPr>
          <a:xfrm>
            <a:off x="694944" y="305409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Set BACKEND_URL at runtime so the frontend can call the backend service or forwarded port.</a:t>
            </a:r>
          </a:p>
        </p:txBody>
      </p:sp>
      <p:sp>
        <p:nvSpPr>
          <p:cNvPr id="377" name="Oval 376"/>
          <p:cNvSpPr/>
          <p:nvPr/>
        </p:nvSpPr>
        <p:spPr>
          <a:xfrm>
            <a:off x="402336" y="3154679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61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Deployment - Frontend - Push the Files to GitHub</a:t>
            </a:r>
          </a:p>
        </p:txBody>
      </p:sp>
      <p:sp>
        <p:nvSpPr>
          <p:cNvPr id="375" name="Rectangle 374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TextBox 375"/>
          <p:cNvSpPr txBox="1"/>
          <p:nvPr/>
        </p:nvSpPr>
        <p:spPr>
          <a:xfrm>
            <a:off x="694944" y="1325880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Repository: github.com/raovutukoor1/aurora-stay-qna.</a:t>
            </a:r>
          </a:p>
        </p:txBody>
      </p:sp>
      <p:sp>
        <p:nvSpPr>
          <p:cNvPr id="377" name="Oval 376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TextBox 377"/>
          <p:cNvSpPr txBox="1"/>
          <p:nvPr/>
        </p:nvSpPr>
        <p:spPr>
          <a:xfrm>
            <a:off x="694944" y="161391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Latest published commit: 3b34c59 — removed the handoff-owner line from slide 31.</a:t>
            </a:r>
          </a:p>
        </p:txBody>
      </p:sp>
      <p:sp>
        <p:nvSpPr>
          <p:cNvPr id="379" name="Oval 378"/>
          <p:cNvSpPr/>
          <p:nvPr/>
        </p:nvSpPr>
        <p:spPr>
          <a:xfrm>
            <a:off x="402336" y="171450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TextBox 379"/>
          <p:cNvSpPr txBox="1"/>
          <p:nvPr/>
        </p:nvSpPr>
        <p:spPr>
          <a:xfrm>
            <a:off x="694944" y="209397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Key files: backend/app.py, backend/rag_utils.py, frontend/app.py, Dockerfiles, and requirements files.</a:t>
            </a:r>
          </a:p>
        </p:txBody>
      </p:sp>
      <p:sp>
        <p:nvSpPr>
          <p:cNvPr id="381" name="Oval 380"/>
          <p:cNvSpPr/>
          <p:nvPr/>
        </p:nvSpPr>
        <p:spPr>
          <a:xfrm>
            <a:off x="402336" y="219456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TextBox 381"/>
          <p:cNvSpPr txBox="1"/>
          <p:nvPr/>
        </p:nvSpPr>
        <p:spPr>
          <a:xfrm>
            <a:off x="694944" y="2574036"/>
            <a:ext cx="6729984" cy="649224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Evaluation files: notebooks/Aurora_Stays_RAG_POC_Local_final_executed.ipynb, reports/evaluation_results.md, and deepeval_options_cases.csv.</a:t>
            </a:r>
          </a:p>
        </p:txBody>
      </p:sp>
      <p:sp>
        <p:nvSpPr>
          <p:cNvPr id="383" name="Oval 382"/>
          <p:cNvSpPr/>
          <p:nvPr/>
        </p:nvSpPr>
        <p:spPr>
          <a:xfrm>
            <a:off x="402336" y="267462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TextBox 383"/>
          <p:cNvSpPr txBox="1"/>
          <p:nvPr/>
        </p:nvSpPr>
        <p:spPr>
          <a:xfrm>
            <a:off x="694944" y="3255264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Presentation files: build_aurora_presentation.py, the template-style PPTX, and the generated PDF packs.</a:t>
            </a:r>
          </a:p>
        </p:txBody>
      </p:sp>
      <p:sp>
        <p:nvSpPr>
          <p:cNvPr id="385" name="Oval 384"/>
          <p:cNvSpPr/>
          <p:nvPr/>
        </p:nvSpPr>
        <p:spPr>
          <a:xfrm>
            <a:off x="402336" y="3355848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TextBox 385"/>
          <p:cNvSpPr txBox="1"/>
          <p:nvPr/>
        </p:nvSpPr>
        <p:spPr>
          <a:xfrm>
            <a:off x="694944" y="3735324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Credentials remain excluded: config/config.json, .env, and supplied token/config files are not tracked.</a:t>
            </a:r>
          </a:p>
        </p:txBody>
      </p:sp>
      <p:sp>
        <p:nvSpPr>
          <p:cNvPr id="387" name="Oval 386"/>
          <p:cNvSpPr/>
          <p:nvPr/>
        </p:nvSpPr>
        <p:spPr>
          <a:xfrm>
            <a:off x="402336" y="3835908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Deployment - Inference - Define the Forwarded URL</a:t>
            </a:r>
          </a:p>
        </p:txBody>
      </p:sp>
      <p:sp>
        <p:nvSpPr>
          <p:cNvPr id="383" name="Rectangle 382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TextBox 383"/>
          <p:cNvSpPr txBox="1"/>
          <p:nvPr/>
        </p:nvSpPr>
        <p:spPr>
          <a:xfrm>
            <a:off x="694944" y="132588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In GitHub Codespaces, open the Ports panel and forward the Streamlit port 8501.</a:t>
            </a:r>
          </a:p>
        </p:txBody>
      </p:sp>
      <p:sp>
        <p:nvSpPr>
          <p:cNvPr id="385" name="Oval 384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TextBox 385"/>
          <p:cNvSpPr txBox="1"/>
          <p:nvPr/>
        </p:nvSpPr>
        <p:spPr>
          <a:xfrm>
            <a:off x="694944" y="180594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The public URL is generated per Codespace session; it is not hard-coded in the repository.</a:t>
            </a:r>
          </a:p>
        </p:txBody>
      </p:sp>
      <p:sp>
        <p:nvSpPr>
          <p:cNvPr id="387" name="Oval 386"/>
          <p:cNvSpPr/>
          <p:nvPr/>
        </p:nvSpPr>
        <p:spPr>
          <a:xfrm>
            <a:off x="402336" y="190652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TextBox 387"/>
          <p:cNvSpPr txBox="1"/>
          <p:nvPr/>
        </p:nvSpPr>
        <p:spPr>
          <a:xfrm>
            <a:off x="694944" y="228600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Set BACKEND_URL to the backend service URL or its forwarded port before starting Streamlit.</a:t>
            </a:r>
          </a:p>
        </p:txBody>
      </p:sp>
      <p:sp>
        <p:nvSpPr>
          <p:cNvPr id="389" name="Oval 388"/>
          <p:cNvSpPr/>
          <p:nvPr/>
        </p:nvSpPr>
        <p:spPr>
          <a:xfrm>
            <a:off x="402336" y="238658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TextBox 389"/>
          <p:cNvSpPr txBox="1"/>
          <p:nvPr/>
        </p:nvSpPr>
        <p:spPr>
          <a:xfrm>
            <a:off x="694944" y="276606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Validated local endpoints: frontend http://localhost:8501 and backend http://127.0.0.1:5000.</a:t>
            </a:r>
          </a:p>
        </p:txBody>
      </p:sp>
      <p:sp>
        <p:nvSpPr>
          <p:cNvPr id="391" name="Oval 390"/>
          <p:cNvSpPr/>
          <p:nvPr/>
        </p:nvSpPr>
        <p:spPr>
          <a:xfrm>
            <a:off x="402336" y="286664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TextBox 391"/>
          <p:cNvSpPr txBox="1"/>
          <p:nvPr/>
        </p:nvSpPr>
        <p:spPr>
          <a:xfrm>
            <a:off x="694944" y="324612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Production smoke tests used the parking-fee query and the ASH-CHI Loop pet-charge query.</a:t>
            </a:r>
          </a:p>
        </p:txBody>
      </p:sp>
      <p:sp>
        <p:nvSpPr>
          <p:cNvPr id="393" name="Oval 392"/>
          <p:cNvSpPr/>
          <p:nvPr/>
        </p:nvSpPr>
        <p:spPr>
          <a:xfrm>
            <a:off x="402336" y="3346703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TextBox 393"/>
          <p:cNvSpPr txBox="1"/>
          <p:nvPr/>
        </p:nvSpPr>
        <p:spPr>
          <a:xfrm>
            <a:off x="694944" y="372618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API keys belong in Codespaces Secrets or a private local config file, never in the forwarded URL or source code.</a:t>
            </a:r>
          </a:p>
        </p:txBody>
      </p:sp>
      <p:sp>
        <p:nvSpPr>
          <p:cNvPr id="395" name="Oval 394"/>
          <p:cNvSpPr/>
          <p:nvPr/>
        </p:nvSpPr>
        <p:spPr>
          <a:xfrm>
            <a:off x="402336" y="38267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3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Deployment - Inference - Relevant Chunks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TextBox 391"/>
          <p:cNvSpPr txBox="1"/>
          <p:nvPr/>
        </p:nvSpPr>
        <p:spPr>
          <a:xfrm>
            <a:off x="694944" y="1325880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Endpoint: POST {BACKEND_URL}/v1/relevant_chunks.</a:t>
            </a:r>
          </a:p>
        </p:txBody>
      </p:sp>
      <p:sp>
        <p:nvSpPr>
          <p:cNvPr id="393" name="Oval 392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TextBox 393"/>
          <p:cNvSpPr txBox="1"/>
          <p:nvPr/>
        </p:nvSpPr>
        <p:spPr>
          <a:xfrm>
            <a:off x="694944" y="161391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Payload: {"query": "What are the parking fees at the Atlanta and Miami hotels?", "k": 5}.</a:t>
            </a:r>
          </a:p>
        </p:txBody>
      </p:sp>
      <p:sp>
        <p:nvSpPr>
          <p:cNvPr id="395" name="Oval 394"/>
          <p:cNvSpPr/>
          <p:nvPr/>
        </p:nvSpPr>
        <p:spPr>
          <a:xfrm>
            <a:off x="402336" y="171450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TextBox 395"/>
          <p:cNvSpPr txBox="1"/>
          <p:nvPr/>
        </p:nvSpPr>
        <p:spPr>
          <a:xfrm>
            <a:off x="694944" y="2093976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Response fields: query, k, and relevant_chunks.</a:t>
            </a:r>
          </a:p>
        </p:txBody>
      </p:sp>
      <p:sp>
        <p:nvSpPr>
          <p:cNvPr id="397" name="Oval 396"/>
          <p:cNvSpPr/>
          <p:nvPr/>
        </p:nvSpPr>
        <p:spPr>
          <a:xfrm>
            <a:off x="402336" y="219456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TextBox 397"/>
          <p:cNvSpPr txBox="1"/>
          <p:nvPr/>
        </p:nvSpPr>
        <p:spPr>
          <a:xfrm>
            <a:off x="694944" y="2382012"/>
            <a:ext cx="6729984" cy="649224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Response excerpt: relevant_chunks include ASH-ATL Midtown self parking at $28 per night and ASH-MIA Brickell valet at $55 per night.</a:t>
            </a:r>
          </a:p>
        </p:txBody>
      </p:sp>
      <p:sp>
        <p:nvSpPr>
          <p:cNvPr id="399" name="Oval 398"/>
          <p:cNvSpPr/>
          <p:nvPr/>
        </p:nvSpPr>
        <p:spPr>
          <a:xfrm>
            <a:off x="402336" y="2482596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TextBox 399"/>
          <p:cNvSpPr txBox="1"/>
          <p:nvPr/>
        </p:nvSpPr>
        <p:spPr>
          <a:xfrm>
            <a:off x="694944" y="306324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This endpoint is useful for checking retrieval quality before evaluating the generated answer.</a:t>
            </a:r>
          </a:p>
        </p:txBody>
      </p:sp>
      <p:sp>
        <p:nvSpPr>
          <p:cNvPr id="401" name="Oval 400"/>
          <p:cNvSpPr/>
          <p:nvPr/>
        </p:nvSpPr>
        <p:spPr>
          <a:xfrm>
            <a:off x="402336" y="316382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Deployment - Inference - Answer with Relevant Chunks</a:t>
            </a:r>
          </a:p>
        </p:txBody>
      </p:sp>
      <p:sp>
        <p:nvSpPr>
          <p:cNvPr id="399" name="Rectangle 398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TextBox 399"/>
          <p:cNvSpPr txBox="1"/>
          <p:nvPr/>
        </p:nvSpPr>
        <p:spPr>
          <a:xfrm>
            <a:off x="694944" y="1325880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Endpoint: POST {BACKEND_URL}/v1/answer_with_relevant_chunks.</a:t>
            </a:r>
          </a:p>
        </p:txBody>
      </p:sp>
      <p:sp>
        <p:nvSpPr>
          <p:cNvPr id="401" name="Oval 400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TextBox 401"/>
          <p:cNvSpPr txBox="1"/>
          <p:nvPr/>
        </p:nvSpPr>
        <p:spPr>
          <a:xfrm>
            <a:off x="694944" y="161391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Payload includes query, k=5, temperature=0.0, and max_tokens=512.</a:t>
            </a:r>
          </a:p>
        </p:txBody>
      </p:sp>
      <p:sp>
        <p:nvSpPr>
          <p:cNvPr id="403" name="Oval 402"/>
          <p:cNvSpPr/>
          <p:nvPr/>
        </p:nvSpPr>
        <p:spPr>
          <a:xfrm>
            <a:off x="402336" y="171450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TextBox 403"/>
          <p:cNvSpPr txBox="1"/>
          <p:nvPr/>
        </p:nvSpPr>
        <p:spPr>
          <a:xfrm>
            <a:off x="694944" y="209397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Response fields include answer, relevant_chunks, model_name, and the generation parameters used.</a:t>
            </a:r>
          </a:p>
        </p:txBody>
      </p:sp>
      <p:sp>
        <p:nvSpPr>
          <p:cNvPr id="405" name="Oval 404"/>
          <p:cNvSpPr/>
          <p:nvPr/>
        </p:nvSpPr>
        <p:spPr>
          <a:xfrm>
            <a:off x="402336" y="219456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TextBox 405"/>
          <p:cNvSpPr txBox="1"/>
          <p:nvPr/>
        </p:nvSpPr>
        <p:spPr>
          <a:xfrm>
            <a:off x="694944" y="257403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Answer excerpt: Atlanta Midtown self parking is $28 per night; Miami Brickell uses valet parking at $55 per night.</a:t>
            </a:r>
          </a:p>
        </p:txBody>
      </p:sp>
      <p:sp>
        <p:nvSpPr>
          <p:cNvPr id="407" name="Oval 406"/>
          <p:cNvSpPr/>
          <p:nvPr/>
        </p:nvSpPr>
        <p:spPr>
          <a:xfrm>
            <a:off x="402336" y="267462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TextBox 407"/>
          <p:cNvSpPr txBox="1"/>
          <p:nvPr/>
        </p:nvSpPr>
        <p:spPr>
          <a:xfrm>
            <a:off x="694944" y="305409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The response also returns the supporting chunks for auditability.</a:t>
            </a:r>
          </a:p>
        </p:txBody>
      </p:sp>
      <p:sp>
        <p:nvSpPr>
          <p:cNvPr id="409" name="Oval 408"/>
          <p:cNvSpPr/>
          <p:nvPr/>
        </p:nvSpPr>
        <p:spPr>
          <a:xfrm>
            <a:off x="402336" y="3154679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TextBox 409"/>
          <p:cNvSpPr txBox="1"/>
          <p:nvPr/>
        </p:nvSpPr>
        <p:spPr>
          <a:xfrm>
            <a:off x="694944" y="353415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Use POST /v1/answer when only the final answer is required; use this endpoint for auditability.</a:t>
            </a:r>
          </a:p>
        </p:txBody>
      </p:sp>
      <p:sp>
        <p:nvSpPr>
          <p:cNvPr id="411" name="Oval 410"/>
          <p:cNvSpPr/>
          <p:nvPr/>
        </p:nvSpPr>
        <p:spPr>
          <a:xfrm>
            <a:off x="402336" y="3634739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5"/>
          <p:cNvSpPr txBox="1"/>
          <p:nvPr/>
        </p:nvSpPr>
        <p:spPr>
          <a:xfrm>
            <a:off x="32525" y="292608"/>
            <a:ext cx="441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APPENDIX</a:t>
            </a:r>
          </a:p>
        </p:txBody>
      </p:sp>
      <p:sp>
        <p:nvSpPr>
          <p:cNvPr id="408" name="Rectangle 407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TextBox 408"/>
          <p:cNvSpPr txBox="1"/>
          <p:nvPr/>
        </p:nvSpPr>
        <p:spPr>
          <a:xfrm>
            <a:off x="694944" y="1325880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39A9"/>
                </a:solidFill>
                <a:latin typeface="Montserrat"/>
              </a:rPr>
              <a:t>Production checklist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694944" y="161391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Create config/config.json locally or set Codespaces Secrets for OPENAI_API_KEY and OPENAI_BASE_URL.</a:t>
            </a:r>
          </a:p>
        </p:txBody>
      </p:sp>
      <p:sp>
        <p:nvSpPr>
          <p:cNvPr id="411" name="Oval 410"/>
          <p:cNvSpPr/>
          <p:nvPr/>
        </p:nvSpPr>
        <p:spPr>
          <a:xfrm>
            <a:off x="402336" y="171450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694944" y="209397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Start the backend first, confirm the readiness response, then start Streamlit on port 8501.</a:t>
            </a:r>
          </a:p>
        </p:txBody>
      </p:sp>
      <p:sp>
        <p:nvSpPr>
          <p:cNvPr id="413" name="Oval 412"/>
          <p:cNvSpPr/>
          <p:nvPr/>
        </p:nvSpPr>
        <p:spPr>
          <a:xfrm>
            <a:off x="402336" y="219456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TextBox 413"/>
          <p:cNvSpPr txBox="1"/>
          <p:nvPr/>
        </p:nvSpPr>
        <p:spPr>
          <a:xfrm>
            <a:off x="694944" y="2574036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Run a property-specific query and an evidence-display query before wider use.</a:t>
            </a:r>
          </a:p>
        </p:txBody>
      </p:sp>
      <p:sp>
        <p:nvSpPr>
          <p:cNvPr id="415" name="Oval 414"/>
          <p:cNvSpPr/>
          <p:nvPr/>
        </p:nvSpPr>
        <p:spPr>
          <a:xfrm>
            <a:off x="402336" y="2674620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694944" y="3054096"/>
            <a:ext cx="6729984" cy="256032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E39A9"/>
                </a:solidFill>
                <a:latin typeface="Montserrat"/>
              </a:rPr>
              <a:t>Known limitation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694944" y="3342132"/>
            <a:ext cx="6729984" cy="649224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The Accessible King case has Contextual Precision=.451 because the benchmark question is underspecified for the auto-answer strategy.</a:t>
            </a:r>
          </a:p>
        </p:txBody>
      </p:sp>
      <p:sp>
        <p:nvSpPr>
          <p:cNvPr id="418" name="Oval 417"/>
          <p:cNvSpPr/>
          <p:nvPr/>
        </p:nvSpPr>
        <p:spPr>
          <a:xfrm>
            <a:off x="402336" y="3442715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TextBox 418"/>
          <p:cNvSpPr txBox="1"/>
          <p:nvPr/>
        </p:nvSpPr>
        <p:spPr>
          <a:xfrm>
            <a:off x="694944" y="402336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The focused clarification experiment reached Precision=.961; the benchmark question and retrieval baseline remain unchanged.</a:t>
            </a:r>
          </a:p>
        </p:txBody>
      </p:sp>
      <p:sp>
        <p:nvSpPr>
          <p:cNvPr id="420" name="Oval 419"/>
          <p:cNvSpPr/>
          <p:nvPr/>
        </p:nvSpPr>
        <p:spPr>
          <a:xfrm>
            <a:off x="402336" y="412394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6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rPr sz="2200" b="1">
                <a:solidFill>
                  <a:srgbClr val="0E39A9"/>
                </a:solidFill>
                <a:latin typeface="Montserrat"/>
              </a:rPr>
              <a:t>Recommendations and Success Measures</a:t>
            </a:r>
          </a:p>
        </p:txBody>
      </p:sp>
      <p:sp>
        <p:nvSpPr>
          <p:cNvPr id="413" name="Rectangle 412"/>
          <p:cNvSpPr/>
          <p:nvPr/>
        </p:nvSpPr>
        <p:spPr>
          <a:xfrm>
            <a:off x="502920" y="1005840"/>
            <a:ext cx="8138160" cy="32004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TextBox 413"/>
          <p:cNvSpPr txBox="1"/>
          <p:nvPr/>
        </p:nvSpPr>
        <p:spPr>
          <a:xfrm>
            <a:off x="694944" y="132588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Recommendation 1: pilot the k=5 baseline with evidence display enabled for support staff.</a:t>
            </a:r>
          </a:p>
        </p:txBody>
      </p:sp>
      <p:sp>
        <p:nvSpPr>
          <p:cNvPr id="415" name="Oval 414"/>
          <p:cNvSpPr/>
          <p:nvPr/>
        </p:nvSpPr>
        <p:spPr>
          <a:xfrm>
            <a:off x="402336" y="14264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694944" y="180594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Recommendation 2: route ambiguous or insufficient-context questions to assisted review rather than forcing an auto-answer.</a:t>
            </a:r>
          </a:p>
        </p:txBody>
      </p:sp>
      <p:sp>
        <p:nvSpPr>
          <p:cNvPr id="417" name="Oval 416"/>
          <p:cNvSpPr/>
          <p:nvPr/>
        </p:nvSpPr>
        <p:spPr>
          <a:xfrm>
            <a:off x="402336" y="190652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TextBox 417"/>
          <p:cNvSpPr txBox="1"/>
          <p:nvPr/>
        </p:nvSpPr>
        <p:spPr>
          <a:xfrm>
            <a:off x="694944" y="228600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Recommendation 3: keep the benchmark question unchanged, but improve production question clarification and prompt handling.</a:t>
            </a:r>
          </a:p>
        </p:txBody>
      </p:sp>
      <p:sp>
        <p:nvSpPr>
          <p:cNvPr id="419" name="Oval 418"/>
          <p:cNvSpPr/>
          <p:nvPr/>
        </p:nvSpPr>
        <p:spPr>
          <a:xfrm>
            <a:off x="402336" y="238658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TextBox 419"/>
          <p:cNvSpPr txBox="1"/>
          <p:nvPr/>
        </p:nvSpPr>
        <p:spPr>
          <a:xfrm>
            <a:off x="694944" y="276606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Track success through held-out pass rate, Contextual Precision, escalation rate, answer latency, and evidence-click usage.</a:t>
            </a:r>
          </a:p>
        </p:txBody>
      </p:sp>
      <p:sp>
        <p:nvSpPr>
          <p:cNvPr id="421" name="Oval 420"/>
          <p:cNvSpPr/>
          <p:nvPr/>
        </p:nvSpPr>
        <p:spPr>
          <a:xfrm>
            <a:off x="402336" y="286664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TextBox 421"/>
          <p:cNvSpPr txBox="1"/>
          <p:nvPr/>
        </p:nvSpPr>
        <p:spPr>
          <a:xfrm>
            <a:off x="694944" y="324612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Before broader rollout, capture the live Codespaces URL and screenshots, then repeat the two production smoke tests.</a:t>
            </a:r>
          </a:p>
        </p:txBody>
      </p:sp>
      <p:sp>
        <p:nvSpPr>
          <p:cNvPr id="423" name="Oval 422"/>
          <p:cNvSpPr/>
          <p:nvPr/>
        </p:nvSpPr>
        <p:spPr>
          <a:xfrm>
            <a:off x="402336" y="3346703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TextBox 423"/>
          <p:cNvSpPr txBox="1"/>
          <p:nvPr/>
        </p:nvSpPr>
        <p:spPr>
          <a:xfrm>
            <a:off x="694944" y="3726180"/>
            <a:ext cx="6729984" cy="448056"/>
          </a:xfrm>
          <a:prstGeom prst="rect">
            <a:avLst/>
          </a:prstGeom>
          <a:noFill/>
        </p:spPr>
        <p:txBody>
          <a:bodyPr wrap="square" lIns="82296" rIns="36576" tIns="18288" bIns="18288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000000"/>
                </a:solidFill>
                <a:latin typeface="Montserrat"/>
              </a:rPr>
              <a:t>Decision: proceed with a controlled pilot; review the single known Accessible King failure before wider release.</a:t>
            </a:r>
          </a:p>
        </p:txBody>
      </p:sp>
      <p:sp>
        <p:nvSpPr>
          <p:cNvPr id="425" name="Oval 424"/>
          <p:cNvSpPr/>
          <p:nvPr/>
        </p:nvSpPr>
        <p:spPr>
          <a:xfrm>
            <a:off x="402336" y="3826764"/>
            <a:ext cx="192024" cy="192024"/>
          </a:xfrm>
          <a:prstGeom prst="ellipse">
            <a:avLst/>
          </a:prstGeom>
          <a:solidFill>
            <a:srgbClr val="094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