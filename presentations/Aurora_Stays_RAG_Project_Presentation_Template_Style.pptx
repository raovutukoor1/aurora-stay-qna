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621792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694944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219456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Recommendations and Next Steps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Built a source-grounded RAG assistant for Aurora Stays hotel-policy questions.</a:t>
            </a:r>
          </a:p>
        </p:txBody>
      </p:sp>
      <p:sp>
        <p:nvSpPr>
          <p:cNvPr id="193" name="Oval 1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Four policy PDFs are converted to structured Markdown, chunked, embedded, and indexed in FAISS.</a:t>
            </a:r>
          </a:p>
        </p:txBody>
      </p:sp>
      <p:sp>
        <p:nvSpPr>
          <p:cNvPr id="195" name="Oval 194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Selected baseline: k=5, MMR lambda=0.50, fetch_k=20, CrossEncoder reranking.</a:t>
            </a:r>
          </a:p>
        </p:txBody>
      </p:sp>
      <p:sp>
        <p:nvSpPr>
          <p:cNvPr id="197" name="Oval 19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Held-out result: 9/10 cases passed; composite score 0.941.</a:t>
            </a:r>
          </a:p>
        </p:txBody>
      </p:sp>
      <p:sp>
        <p:nvSpPr>
          <p:cNvPr id="199" name="Oval 198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Average metrics: Faithfulness 0.993 | Recall 0.977 | Precision 0.808 | Relevancy 0.939.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4046220"/>
            <a:ext cx="6729984" cy="63550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Main remaining issue: the Accessible King benchmark question is underspecified; a focused clarification experiment raised precision to 0.961.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41239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42245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668012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768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Knowledge base: four selectable-text PDF policy guides.</a:t>
            </a:r>
          </a:p>
        </p:txBody>
      </p:sp>
      <p:sp>
        <p:nvSpPr>
          <p:cNvPr id="209" name="Oval 20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94944" y="163677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Coverage: room/property information; booking and cancellation; refunds and additional charges; conduct and accessibility.</a:t>
            </a:r>
          </a:p>
        </p:txBody>
      </p:sp>
      <p:sp>
        <p:nvSpPr>
          <p:cNvPr id="211" name="Oval 21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Source structure includes headings, policy sections, Markdown tables, and a six-property matrix.</a:t>
            </a:r>
          </a:p>
        </p:txBody>
      </p:sp>
      <p:sp>
        <p:nvSpPr>
          <p:cNvPr id="213" name="Oval 212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Properties represented: ASH-ATL, ASH-BOS, ASH-CHI, ASH-DEN, ASH-MIA, and ASH-SEA.</a:t>
            </a:r>
          </a:p>
        </p:txBody>
      </p:sp>
      <p:sp>
        <p:nvSpPr>
          <p:cNvPr id="215" name="Oval 214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OCR is disabled because the supplied PDFs contain selectable text.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Chunks are enriched with source, section, property-code, and topic metadata for focused retrieval.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367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Tokenizer maximum length: 128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194767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04825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49174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5923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35808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Domain-specific embeddings improve matching for hotel-policy terms such as late checkout, pet fees, and room features.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363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Chunk size: 512 tokens; overlap: 64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72491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218084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491739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59232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303580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31363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41401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72491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03580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1363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95808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56" name="Oval 255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94944" y="35798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58" name="Oval 25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94944" y="389077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39913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367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4767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4825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25856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35915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80263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9032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50215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414016"/>
            <a:ext cx="6729984" cy="12115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65760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7581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724912"/>
            <a:ext cx="6729984" cy="978408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73532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9888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20894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5328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The stronger judge model scores factual support, retrieval coverage, retrieval focus, and answer relevance.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6334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307695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31775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Faithfulness &gt;= 0.85: every important answer claim is supported by retrieved context.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Contextual Recall &gt;= 0.80: retrieved context contains information needed for the expected answer.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Contextual Precision &gt;= 0.75: relevant context is prioritized over unrelated content.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Answer Relevancy &gt;= 0.75: answer directly addresses the user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Retrieval tuning matrix selected chunk_size=512, overlap=64, MMR lambda=0.50, and fetch_k=20.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 proxy coverage: 0.836; held-out test proxy coverage: 0.850.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Full DeepEval is the acceptance test; proxy coverage is used only to narrow candidates.</a:t>
            </a:r>
          </a:p>
        </p:txBody>
      </p:sp>
      <p:sp>
        <p:nvSpPr>
          <p:cNvPr id="309" name="Oval 30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4944" y="2958084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evaluation creates LLMTestCase objects with input, expected output, actual output, retrieval context, and reference context.</a:t>
            </a:r>
          </a:p>
        </p:txBody>
      </p:sp>
      <p:sp>
        <p:nvSpPr>
          <p:cNvPr id="311" name="Oval 31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373532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Cases are classified as AUTO ANSWER, ASSISTED REVIEW, or MANUAL LOOKUP from the composite score.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Result: baseline k=5 is the selected configuration by highest composite score.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55648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562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5328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6334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307695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31775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85419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9547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Held-out DeepEval comparison (10 cases)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Baseline k=5     F=.993  R=.977  P=.808  AR=.939  Composite=.941  Pass=9/10</a:t>
            </a:r>
          </a:p>
        </p:txBody>
      </p:sp>
      <p:sp>
        <p:nvSpPr>
          <p:cNvPr id="322" name="Oval 321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Hybrid k=5       F=.995  R=.979  P=.787  AR=.922  Composite=.935  Pass=8/10</a:t>
            </a:r>
          </a:p>
        </p:txBody>
      </p:sp>
      <p:sp>
        <p:nvSpPr>
          <p:cNvPr id="324" name="Oval 323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Hybrid k=6       F=.993  R=.982  P=.781  AR=.929  Composite=.935  Pass=8/10</a:t>
            </a:r>
          </a:p>
        </p:txBody>
      </p:sp>
      <p:sp>
        <p:nvSpPr>
          <p:cNvPr id="326" name="Oval 325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752"/>
                </a:solidFill>
                <a:latin typeface="Montserrat"/>
              </a:rPr>
              <a:t>Selected: baseline k=5 because it has the highest weighted composite score.</a:t>
            </a:r>
          </a:p>
        </p:txBody>
      </p:sp>
      <p:sp>
        <p:nvSpPr>
          <p:cNvPr id="328" name="Oval 327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694944" y="38130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62A2A"/>
                </a:solidFill>
                <a:latin typeface="Montserrat"/>
              </a:rPr>
              <a:t>Only remaining failure: Accessible King room inclusions; Contextual Precision=.451.</a:t>
            </a:r>
          </a:p>
        </p:txBody>
      </p:sp>
      <p:sp>
        <p:nvSpPr>
          <p:cNvPr id="330" name="Oval 329"/>
          <p:cNvSpPr/>
          <p:nvPr/>
        </p:nvSpPr>
        <p:spPr>
          <a:xfrm>
            <a:off x="402336" y="3913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94944" y="4357116"/>
            <a:ext cx="6729984" cy="324611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benchmark question is underspecified. A focused clarification plus single-chunk retrieval scored Precision=.961 and passed all four metrics.</a:t>
            </a:r>
          </a:p>
        </p:txBody>
      </p:sp>
      <p:sp>
        <p:nvSpPr>
          <p:cNvPr id="332" name="Oval 331"/>
          <p:cNvSpPr/>
          <p:nvPr/>
        </p:nvSpPr>
        <p:spPr>
          <a:xfrm>
            <a:off x="402336" y="44577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