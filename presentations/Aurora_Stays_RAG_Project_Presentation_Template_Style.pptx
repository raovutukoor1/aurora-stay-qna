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5"/>
    <p:sldMasterId id="214748368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y="5143500" cx="9144000"/>
  <p:notesSz cx="6858000" cy="9144000"/>
  <p:embeddedFontLst>
    <p:embeddedFont>
      <p:font typeface="Nunito SemiBold"/>
      <p:regular r:id="rId40"/>
      <p:bold r:id="rId41"/>
      <p:italic r:id="rId42"/>
      <p:boldItalic r:id="rId43"/>
    </p:embeddedFont>
    <p:embeddedFont>
      <p:font typeface="Nunito"/>
      <p:regular r:id="rId44"/>
      <p:bold r:id="rId45"/>
      <p:italic r:id="rId46"/>
      <p:boldItalic r:id="rId47"/>
    </p:embeddedFont>
    <p:embeddedFont>
      <p:font typeface="Montserrat"/>
      <p:regular r:id="rId48"/>
      <p:bold r:id="rId49"/>
      <p:italic r:id="rId50"/>
      <p:boldItalic r:id="rId51"/>
    </p:embeddedFont>
    <p:embeddedFont>
      <p:font typeface="Nunito ExtraBold"/>
      <p:bold r:id="rId52"/>
      <p:boldItalic r:id="rId53"/>
    </p:embeddedFont>
    <p:embeddedFont>
      <p:font typeface="Century Gothic"/>
      <p:regular r:id="rId54"/>
      <p:bold r:id="rId55"/>
      <p:italic r:id="rId56"/>
      <p:boldItalic r:id="rId5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698273-5225-4557-BD2E-0B8C5CF09AB3}">
  <a:tblStyle styleId="{A5698273-5225-4557-BD2E-0B8C5CF09A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5B9BD5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5B9BD5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40" Type="http://schemas.openxmlformats.org/officeDocument/2006/relationships/font" Target="fonts/NunitoSemiBold-regular.fntdata"/><Relationship Id="rId41" Type="http://schemas.openxmlformats.org/officeDocument/2006/relationships/font" Target="fonts/NunitoSemiBold-bold.fntdata"/><Relationship Id="rId42" Type="http://schemas.openxmlformats.org/officeDocument/2006/relationships/font" Target="fonts/NunitoSemiBold-italic.fntdata"/><Relationship Id="rId43" Type="http://schemas.openxmlformats.org/officeDocument/2006/relationships/font" Target="fonts/NunitoSemiBold-boldItalic.fntdata"/><Relationship Id="rId44" Type="http://schemas.openxmlformats.org/officeDocument/2006/relationships/font" Target="fonts/Nunito-regular.fntdata"/><Relationship Id="rId45" Type="http://schemas.openxmlformats.org/officeDocument/2006/relationships/font" Target="fonts/Nunito-bold.fntdata"/><Relationship Id="rId46" Type="http://schemas.openxmlformats.org/officeDocument/2006/relationships/font" Target="fonts/Nunito-italic.fntdata"/><Relationship Id="rId47" Type="http://schemas.openxmlformats.org/officeDocument/2006/relationships/font" Target="fonts/Nunito-boldItalic.fntdata"/><Relationship Id="rId48" Type="http://schemas.openxmlformats.org/officeDocument/2006/relationships/font" Target="fonts/Montserrat-regular.fntdata"/><Relationship Id="rId49" Type="http://schemas.openxmlformats.org/officeDocument/2006/relationships/font" Target="fonts/Montserrat-bold.fntdata"/><Relationship Id="rId50" Type="http://schemas.openxmlformats.org/officeDocument/2006/relationships/font" Target="fonts/Montserrat-italic.fntdata"/><Relationship Id="rId51" Type="http://schemas.openxmlformats.org/officeDocument/2006/relationships/font" Target="fonts/Montserrat-boldItalic.fntdata"/><Relationship Id="rId52" Type="http://schemas.openxmlformats.org/officeDocument/2006/relationships/font" Target="fonts/NunitoExtraBold-bold.fntdata"/><Relationship Id="rId53" Type="http://schemas.openxmlformats.org/officeDocument/2006/relationships/font" Target="fonts/NunitoExtraBold-boldItalic.fntdata"/><Relationship Id="rId54" Type="http://schemas.openxmlformats.org/officeDocument/2006/relationships/font" Target="fonts/CenturyGothic-regular.fntdata"/><Relationship Id="rId55" Type="http://schemas.openxmlformats.org/officeDocument/2006/relationships/font" Target="fonts/CenturyGothic-bold.fntdata"/><Relationship Id="rId56" Type="http://schemas.openxmlformats.org/officeDocument/2006/relationships/font" Target="fonts/CenturyGothic-italic.fntdata"/><Relationship Id="rId57" Type="http://schemas.openxmlformats.org/officeDocument/2006/relationships/font" Target="fonts/CenturyGothic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c275fce4fb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g3c275fce4fb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h1ee84572765e4f1b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0" name="Google Shape;220;h1ee84572765e4f1b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h1ee84572765e4f1b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h1ee84572765e4f1b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h1ee84572765e4f1b_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h1ee84572765e4f1b_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h1ee84572765e4f1b_1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h1ee84572765e4f1b_1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h1ee84572765e4f1b_1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h1ee84572765e4f1b_1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1ee84572765e4f1b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h1ee84572765e4f1b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h1ee84572765e4f1b_1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h1ee84572765e4f1b_1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h1ee84572765e4f1b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6" name="Google Shape;276;h1ee84572765e4f1b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h1ee84572765e4f1b_1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h1ee84572765e4f1b_1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h1ee84572765e4f1b_1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2" name="Google Shape;292;h1ee84572765e4f1b_1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h1ee84572765e4f1b_1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0" name="Google Shape;300;h1ee84572765e4f1b_1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h1ee84572765e4f1b_1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h1ee84572765e4f1b_1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h1ee84572765e4f1b_1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6" name="Google Shape;316;h1ee84572765e4f1b_1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h1ee84572765e4f1b_1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h1ee84572765e4f1b_1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h1ee84572765e4f1b_1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2" name="Google Shape;332;h1ee84572765e4f1b_1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h1ee84572765e4f1b_1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h1ee84572765e4f1b_1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h1ee84572765e4f1b_1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" name="Google Shape;348;h1ee84572765e4f1b_1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h1ee84572765e4f1b_1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h1ee84572765e4f1b_1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h1ee84572765e4f1b_1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4" name="Google Shape;364;h1ee84572765e4f1b_1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h1ee84572765e4f1b_1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2" name="Google Shape;372;h1ee84572765e4f1b_1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h1ee84572765e4f1b_1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0" name="Google Shape;380;h1ee84572765e4f1b_1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h1ee84572765e4f1b_1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h1ee84572765e4f1b_1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h1ee84572765e4f1b_1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h1ee84572765e4f1b_1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4" name="Google Shape;40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2210208" y="744575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2210202" y="2834125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26" name="Google Shape;26;p5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9" name="Google Shape;49;p11"/>
          <p:cNvPicPr preferRelativeResize="0"/>
          <p:nvPr/>
        </p:nvPicPr>
        <p:blipFill rotWithShape="1">
          <a:blip r:embed="rId2">
            <a:alphaModFix/>
          </a:blip>
          <a:srcRect b="19149" l="42816" r="37294" t="18358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1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1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Happy Learning 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52" name="Google Shape;5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5874" y="683275"/>
            <a:ext cx="3757725" cy="8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type="title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1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9pPr>
          </a:lstStyle>
          <a:p/>
        </p:txBody>
      </p:sp>
      <p:sp>
        <p:nvSpPr>
          <p:cNvPr id="55" name="Google Shape;55;p12"/>
          <p:cNvSpPr txBox="1"/>
          <p:nvPr>
            <p:ph idx="1" type="body"/>
          </p:nvPr>
        </p:nvSpPr>
        <p:spPr>
          <a:xfrm>
            <a:off x="457200" y="1021842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56" name="Google Shape;56;p12"/>
          <p:cNvSpPr txBox="1"/>
          <p:nvPr>
            <p:ph idx="10" type="dt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2"/>
          <p:cNvSpPr txBox="1"/>
          <p:nvPr>
            <p:ph idx="11" type="ftr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2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3"/>
          <p:cNvSpPr txBox="1"/>
          <p:nvPr>
            <p:ph idx="10" type="dt"/>
          </p:nvPr>
        </p:nvSpPr>
        <p:spPr>
          <a:xfrm>
            <a:off x="457200" y="4857749"/>
            <a:ext cx="2133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3"/>
          <p:cNvSpPr txBox="1"/>
          <p:nvPr>
            <p:ph idx="11" type="ftr"/>
          </p:nvPr>
        </p:nvSpPr>
        <p:spPr>
          <a:xfrm>
            <a:off x="2640596" y="4857749"/>
            <a:ext cx="5507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2" name="Google Shape;62;p13"/>
          <p:cNvSpPr txBox="1"/>
          <p:nvPr>
            <p:ph idx="12" type="sldNum"/>
          </p:nvPr>
        </p:nvSpPr>
        <p:spPr>
          <a:xfrm>
            <a:off x="8204396" y="4857749"/>
            <a:ext cx="73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transition spd="med">
    <p:fade thruBlk="1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">
  <p:cSld name="Title and Conten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>
            <p:ph type="title"/>
          </p:nvPr>
        </p:nvSpPr>
        <p:spPr>
          <a:xfrm>
            <a:off x="569519" y="142741"/>
            <a:ext cx="8004900" cy="9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65" name="Google Shape;65;p14"/>
          <p:cNvSpPr txBox="1"/>
          <p:nvPr>
            <p:ph idx="1" type="body"/>
          </p:nvPr>
        </p:nvSpPr>
        <p:spPr>
          <a:xfrm>
            <a:off x="1412081" y="930269"/>
            <a:ext cx="6319800" cy="23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66" name="Google Shape;66;p14"/>
          <p:cNvSpPr txBox="1"/>
          <p:nvPr>
            <p:ph idx="11" type="ftr"/>
          </p:nvPr>
        </p:nvSpPr>
        <p:spPr>
          <a:xfrm>
            <a:off x="1574006" y="4988871"/>
            <a:ext cx="55650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7" name="Google Shape;67;p14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4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 Only_1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1" name="Google Shape;71;p15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p15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p15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 Only_2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6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16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Title Only_3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90424" y="497078"/>
            <a:ext cx="83631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7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3" name="Google Shape;83;p17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OBJECT_1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ctrTitle"/>
          </p:nvPr>
        </p:nvSpPr>
        <p:spPr>
          <a:xfrm>
            <a:off x="2938259" y="1851799"/>
            <a:ext cx="3267600" cy="8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5200">
                <a:solidFill>
                  <a:srgbClr val="365F9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1" type="subTitle"/>
          </p:nvPr>
        </p:nvSpPr>
        <p:spPr>
          <a:xfrm>
            <a:off x="1371600" y="2880360"/>
            <a:ext cx="64008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OBJECT_2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3" name="Google Shape;93;p19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20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45720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470916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3" name="Google Shape;103;p21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1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 1">
  <p:cSld name="OBJECT_1_1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2936867" y="2199322"/>
            <a:ext cx="3275400" cy="6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43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8" name="Google Shape;108;p22"/>
          <p:cNvSpPr txBox="1"/>
          <p:nvPr>
            <p:ph idx="11" type="ftr"/>
          </p:nvPr>
        </p:nvSpPr>
        <p:spPr>
          <a:xfrm>
            <a:off x="708292" y="4920311"/>
            <a:ext cx="6447300" cy="17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9" name="Google Shape;109;p22"/>
          <p:cNvSpPr txBox="1"/>
          <p:nvPr>
            <p:ph idx="10" type="dt"/>
          </p:nvPr>
        </p:nvSpPr>
        <p:spPr>
          <a:xfrm>
            <a:off x="457452" y="4783454"/>
            <a:ext cx="2104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0" name="Google Shape;110;p22"/>
          <p:cNvSpPr txBox="1"/>
          <p:nvPr>
            <p:ph idx="12" type="sldNum"/>
          </p:nvPr>
        </p:nvSpPr>
        <p:spPr>
          <a:xfrm>
            <a:off x="7529030" y="4838548"/>
            <a:ext cx="188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 sz="800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 ">
  <p:cSld name="TITLE_AND_BODY_1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 1">
  <p:cSld name="Blank 2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6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25" name="Google Shape;125;p26"/>
          <p:cNvPicPr preferRelativeResize="0"/>
          <p:nvPr/>
        </p:nvPicPr>
        <p:blipFill rotWithShape="1">
          <a:blip r:embed="rId2">
            <a:alphaModFix/>
          </a:blip>
          <a:srcRect b="19147" l="42816" r="37294" t="18360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6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7" name="Google Shape;127;p26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Power Ahead!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128" name="Google Shape;12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1875" y="769949"/>
            <a:ext cx="3071452" cy="126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7"/>
          <p:cNvSpPr txBox="1"/>
          <p:nvPr>
            <p:ph type="ctrTitle"/>
          </p:nvPr>
        </p:nvSpPr>
        <p:spPr>
          <a:xfrm>
            <a:off x="1260908" y="717750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1" name="Google Shape;131;p27"/>
          <p:cNvSpPr txBox="1"/>
          <p:nvPr>
            <p:ph idx="1" type="subTitle"/>
          </p:nvPr>
        </p:nvSpPr>
        <p:spPr>
          <a:xfrm>
            <a:off x="1260902" y="2770350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134" name="Google Shape;134;p2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37" name="Google Shape;137;p29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8" name="Google Shape;138;p2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0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141" name="Google Shape;141;p30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142" name="Google Shape;142;p3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45" name="Google Shape;145;p31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6" name="Google Shape;146;p31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7" name="Google Shape;147;p3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2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50" name="Google Shape;150;p3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3" name="Google Shape;153;p33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7" name="Google Shape;157;p3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58" name="Google Shape;158;p3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159" name="Google Shape;159;p3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9" name="Google Shape;9;p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6" cy="5727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" name="Google Shape;11;p1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" name="Google Shape;12;p1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1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68" r:id="rId22"/>
    <p:sldLayoutId id="2147483669" r:id="rId23"/>
    <p:sldLayoutId id="2147483670" r:id="rId2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116" name="Google Shape;116;p25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17" name="Google Shape;117;p25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8" name="Google Shape;118;p2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9" name="Google Shape;119;p25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5" cy="572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25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1" name="Google Shape;121;p25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25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6"/>
          <p:cNvSpPr txBox="1"/>
          <p:nvPr/>
        </p:nvSpPr>
        <p:spPr>
          <a:xfrm>
            <a:off x="1627632" y="1227550"/>
            <a:ext cx="621792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4100" b="1">
                <a:solidFill>
                  <a:srgbClr val="0E39A9"/>
                </a:solidFill>
                <a:latin typeface="Nunito"/>
              </a:rPr>
              <a:t>Aurora Stays Q&amp;A</a:t>
            </a:r>
          </a:p>
        </p:txBody>
      </p:sp>
      <p:sp>
        <p:nvSpPr>
          <p:cNvPr id="167" name="Google Shape;167;p36"/>
          <p:cNvSpPr txBox="1"/>
          <p:nvPr/>
        </p:nvSpPr>
        <p:spPr>
          <a:xfrm>
            <a:off x="1627632" y="1940550"/>
            <a:ext cx="694944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300">
                <a:solidFill>
                  <a:srgbClr val="0E39A9"/>
                </a:solidFill>
                <a:latin typeface="Nunito"/>
              </a:rPr>
              <a:t>Retrieval-Augmented Generation (RAG) POC</a:t>
            </a:r>
          </a:p>
        </p:txBody>
      </p:sp>
      <p:sp>
        <p:nvSpPr>
          <p:cNvPr id="168" name="Google Shape;168;p36"/>
          <p:cNvSpPr txBox="1"/>
          <p:nvPr/>
        </p:nvSpPr>
        <p:spPr>
          <a:xfrm>
            <a:off x="1627632" y="2586175"/>
            <a:ext cx="384048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>
                <a:solidFill>
                  <a:srgbClr val="0E39A9"/>
                </a:solidFill>
                <a:latin typeface="Nunito"/>
              </a:rPr>
              <a:t>14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Contents / Agenda</a:t>
            </a:r>
          </a:p>
        </p:txBody>
      </p:sp>
      <p:sp>
        <p:nvSpPr>
          <p:cNvPr id="174" name="Google Shape;174;p37"/>
          <p:cNvSpPr/>
          <p:nvPr/>
        </p:nvSpPr>
        <p:spPr>
          <a:xfrm>
            <a:off x="356221" y="113738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5" name="Google Shape;175;p37"/>
          <p:cNvSpPr txBox="1"/>
          <p:nvPr/>
        </p:nvSpPr>
        <p:spPr>
          <a:xfrm>
            <a:off x="644599" y="10133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Executive Summary</a:t>
            </a:r>
          </a:p>
        </p:txBody>
      </p:sp>
      <p:sp>
        <p:nvSpPr>
          <p:cNvPr id="176" name="Google Shape;176;p37"/>
          <p:cNvSpPr/>
          <p:nvPr/>
        </p:nvSpPr>
        <p:spPr>
          <a:xfrm>
            <a:off x="356221" y="160868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7" name="Google Shape;177;p37"/>
          <p:cNvSpPr txBox="1"/>
          <p:nvPr/>
        </p:nvSpPr>
        <p:spPr>
          <a:xfrm>
            <a:off x="644599" y="148775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Business Problem and Solution Approach</a:t>
            </a:r>
          </a:p>
        </p:txBody>
      </p:sp>
      <p:sp>
        <p:nvSpPr>
          <p:cNvPr id="178" name="Google Shape;178;p37"/>
          <p:cNvSpPr/>
          <p:nvPr/>
        </p:nvSpPr>
        <p:spPr>
          <a:xfrm>
            <a:off x="356221" y="207999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9" name="Google Shape;179;p37"/>
          <p:cNvSpPr txBox="1"/>
          <p:nvPr/>
        </p:nvSpPr>
        <p:spPr>
          <a:xfrm>
            <a:off x="644599" y="196213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Data Understanding</a:t>
            </a:r>
          </a:p>
        </p:txBody>
      </p:sp>
      <p:sp>
        <p:nvSpPr>
          <p:cNvPr id="180" name="Google Shape;180;p37"/>
          <p:cNvSpPr/>
          <p:nvPr/>
        </p:nvSpPr>
        <p:spPr>
          <a:xfrm>
            <a:off x="356221" y="255129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1" name="Google Shape;181;p37"/>
          <p:cNvSpPr txBox="1"/>
          <p:nvPr/>
        </p:nvSpPr>
        <p:spPr>
          <a:xfrm>
            <a:off x="644599" y="243651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Retrieval-Augmented Generation System</a:t>
            </a:r>
          </a:p>
        </p:txBody>
      </p:sp>
      <p:sp>
        <p:nvSpPr>
          <p:cNvPr id="182" name="Google Shape;182;p37"/>
          <p:cNvSpPr/>
          <p:nvPr/>
        </p:nvSpPr>
        <p:spPr>
          <a:xfrm>
            <a:off x="356227" y="302260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3" name="Google Shape;183;p37"/>
          <p:cNvSpPr txBox="1"/>
          <p:nvPr/>
        </p:nvSpPr>
        <p:spPr>
          <a:xfrm>
            <a:off x="644605" y="291089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Evaluation</a:t>
            </a:r>
          </a:p>
        </p:txBody>
      </p:sp>
      <p:sp>
        <p:nvSpPr>
          <p:cNvPr id="184" name="Google Shape;184;p37"/>
          <p:cNvSpPr/>
          <p:nvPr/>
        </p:nvSpPr>
        <p:spPr>
          <a:xfrm>
            <a:off x="356227" y="349390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5" name="Google Shape;185;p37"/>
          <p:cNvSpPr txBox="1"/>
          <p:nvPr/>
        </p:nvSpPr>
        <p:spPr>
          <a:xfrm>
            <a:off x="644605" y="33852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Deployment, Inference and Handoff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02920" y="932688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Executive Summary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Built a source-grounded RAG assistant for Aurora Stays hotel-policy questions.</a:t>
            </a:r>
          </a:p>
        </p:txBody>
      </p:sp>
      <p:sp>
        <p:nvSpPr>
          <p:cNvPr id="193" name="Oval 19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Four policy PDFs are converted to structured Markdown, chunked, embedded, and indexed in FAISS.</a:t>
            </a:r>
          </a:p>
        </p:txBody>
      </p:sp>
      <p:sp>
        <p:nvSpPr>
          <p:cNvPr id="195" name="Oval 194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94944" y="241401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Selected baseline: k=5, MMR lambda=0.50, fetch_k=20, CrossEncoder reranking.</a:t>
            </a:r>
          </a:p>
        </p:txBody>
      </p:sp>
      <p:sp>
        <p:nvSpPr>
          <p:cNvPr id="197" name="Oval 196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94944" y="295808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Held-out result: 9/10 cases passed; composite score 0.941.</a:t>
            </a:r>
          </a:p>
        </p:txBody>
      </p:sp>
      <p:sp>
        <p:nvSpPr>
          <p:cNvPr id="199" name="Oval 198"/>
          <p:cNvSpPr/>
          <p:nvPr/>
        </p:nvSpPr>
        <p:spPr>
          <a:xfrm>
            <a:off x="402336" y="30586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694944" y="350215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Average metrics: Faithfulness 0.993 | Recall 0.977 | Precision 0.808 | Relevancy 0.939.</a:t>
            </a:r>
          </a:p>
        </p:txBody>
      </p:sp>
      <p:sp>
        <p:nvSpPr>
          <p:cNvPr id="201" name="Oval 200"/>
          <p:cNvSpPr/>
          <p:nvPr/>
        </p:nvSpPr>
        <p:spPr>
          <a:xfrm>
            <a:off x="402336" y="36027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94944" y="4046220"/>
            <a:ext cx="6729984" cy="635507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Main remaining issue: the Accessible King benchmark question is underspecified; a focused clarification experiment raised precision to 0.961.</a:t>
            </a:r>
          </a:p>
        </p:txBody>
      </p:sp>
      <p:sp>
        <p:nvSpPr>
          <p:cNvPr id="203" name="Oval 202"/>
          <p:cNvSpPr/>
          <p:nvPr/>
        </p:nvSpPr>
        <p:spPr>
          <a:xfrm>
            <a:off x="402336" y="414680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Business Problem Overview and Solution Approach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E39A9"/>
                </a:solidFill>
                <a:latin typeface="Montserrat"/>
              </a:rPr>
              <a:t>Problem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94944" y="16367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Staff handle about 1,200 guest queries per week; roughly 40% require multiple policy documents.</a:t>
            </a:r>
          </a:p>
        </p:txBody>
      </p:sp>
      <p:sp>
        <p:nvSpPr>
          <p:cNvPr id="201" name="Oval 200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94944" y="218084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Manual lookup takes 8–12 minutes and creates a 15–20% risk of incomplete or incorrect answers.</a:t>
            </a:r>
          </a:p>
        </p:txBody>
      </p:sp>
      <p:sp>
        <p:nvSpPr>
          <p:cNvPr id="203" name="Oval 202"/>
          <p:cNvSpPr/>
          <p:nvPr/>
        </p:nvSpPr>
        <p:spPr>
          <a:xfrm>
            <a:off x="402336" y="22814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694944" y="272491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Property-specific fees, room features, cancellation rules, and accessibility guidance are easy to mix up.</a:t>
            </a:r>
          </a:p>
        </p:txBody>
      </p:sp>
      <p:sp>
        <p:nvSpPr>
          <p:cNvPr id="205" name="Oval 204"/>
          <p:cNvSpPr/>
          <p:nvPr/>
        </p:nvSpPr>
        <p:spPr>
          <a:xfrm>
            <a:off x="402336" y="28254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694944" y="32689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E39A9"/>
                </a:solidFill>
                <a:latin typeface="Montserrat"/>
              </a:rPr>
              <a:t>Solution approach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94944" y="35798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Extract policy PDFs with Docling; preserve headings and tables as Markdown.</a:t>
            </a:r>
          </a:p>
        </p:txBody>
      </p:sp>
      <p:sp>
        <p:nvSpPr>
          <p:cNvPr id="208" name="Oval 207"/>
          <p:cNvSpPr/>
          <p:nvPr/>
        </p:nvSpPr>
        <p:spPr>
          <a:xfrm>
            <a:off x="402336" y="36804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94944" y="412394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Use token-aware chunking, domain embeddings, FAISS retrieval, MMR, and CrossEncoder reranking.</a:t>
            </a:r>
          </a:p>
        </p:txBody>
      </p:sp>
      <p:sp>
        <p:nvSpPr>
          <p:cNvPr id="210" name="Oval 209"/>
          <p:cNvSpPr/>
          <p:nvPr/>
        </p:nvSpPr>
        <p:spPr>
          <a:xfrm>
            <a:off x="402336" y="42245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94944" y="4668012"/>
            <a:ext cx="6729984" cy="182880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Generate concise answers with GPT-4o-mini using a strict retrieved-context-only prompt.</a:t>
            </a:r>
          </a:p>
        </p:txBody>
      </p:sp>
      <p:sp>
        <p:nvSpPr>
          <p:cNvPr id="212" name="Oval 211"/>
          <p:cNvSpPr/>
          <p:nvPr/>
        </p:nvSpPr>
        <p:spPr>
          <a:xfrm>
            <a:off x="402336" y="47685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Data Understanding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Knowledge base: four selectable-text PDF policy guides.</a:t>
            </a:r>
          </a:p>
        </p:txBody>
      </p:sp>
      <p:sp>
        <p:nvSpPr>
          <p:cNvPr id="209" name="Oval 20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694944" y="1636776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Coverage: room/property information; booking and cancellation; refunds and additional charges; conduct and accessibility.</a:t>
            </a:r>
          </a:p>
        </p:txBody>
      </p:sp>
      <p:sp>
        <p:nvSpPr>
          <p:cNvPr id="211" name="Oval 210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694944" y="241401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Source structure includes headings, policy sections, Markdown tables, and a six-property matrix.</a:t>
            </a:r>
          </a:p>
        </p:txBody>
      </p:sp>
      <p:sp>
        <p:nvSpPr>
          <p:cNvPr id="213" name="Oval 212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694944" y="295808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Properties represented: ASH-ATL, ASH-BOS, ASH-CHI, ASH-DEN, ASH-MIA, and ASH-SEA.</a:t>
            </a:r>
          </a:p>
        </p:txBody>
      </p:sp>
      <p:sp>
        <p:nvSpPr>
          <p:cNvPr id="215" name="Oval 214"/>
          <p:cNvSpPr/>
          <p:nvPr/>
        </p:nvSpPr>
        <p:spPr>
          <a:xfrm>
            <a:off x="402336" y="30586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94944" y="350215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OCR is disabled because the supplied PDFs contain selectable text.</a:t>
            </a:r>
          </a:p>
        </p:txBody>
      </p:sp>
      <p:sp>
        <p:nvSpPr>
          <p:cNvPr id="217" name="Oval 216"/>
          <p:cNvSpPr/>
          <p:nvPr/>
        </p:nvSpPr>
        <p:spPr>
          <a:xfrm>
            <a:off x="402336" y="36027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694944" y="404622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Chunks are enriched with source, section, property-code, and topic metadata for focused retrieval.</a:t>
            </a:r>
          </a:p>
        </p:txBody>
      </p:sp>
      <p:sp>
        <p:nvSpPr>
          <p:cNvPr id="219" name="Oval 218"/>
          <p:cNvSpPr/>
          <p:nvPr/>
        </p:nvSpPr>
        <p:spPr>
          <a:xfrm>
            <a:off x="402336" y="414680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RAG - Chunking - Embedding Model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Embedding model: HarishMaths/Hotel-Policy-Embedding.</a:t>
            </a:r>
          </a:p>
        </p:txBody>
      </p:sp>
      <p:sp>
        <p:nvSpPr>
          <p:cNvPr id="217" name="Oval 21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694944" y="1636776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Tokenizer maximum length: 128 tokens.</a:t>
            </a:r>
          </a:p>
        </p:txBody>
      </p:sp>
      <p:sp>
        <p:nvSpPr>
          <p:cNvPr id="219" name="Oval 218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694944" y="194767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Embeddings run on CPU with normalized vectors and progress rendering disabled.</a:t>
            </a:r>
          </a:p>
        </p:txBody>
      </p:sp>
      <p:sp>
        <p:nvSpPr>
          <p:cNvPr id="221" name="Oval 220"/>
          <p:cNvSpPr/>
          <p:nvPr/>
        </p:nvSpPr>
        <p:spPr>
          <a:xfrm>
            <a:off x="402336" y="204825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94944" y="249174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The same model is used when building and loading the FAISS index.</a:t>
            </a:r>
          </a:p>
        </p:txBody>
      </p:sp>
      <p:sp>
        <p:nvSpPr>
          <p:cNvPr id="223" name="Oval 222"/>
          <p:cNvSpPr/>
          <p:nvPr/>
        </p:nvSpPr>
        <p:spPr>
          <a:xfrm>
            <a:off x="402336" y="25923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3035808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Domain-specific embeddings improve matching for hotel-policy terms such as late checkout, pet fees, and room features.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313639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RAG - Chunking - Chunker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Chunker: RecursiveCharacterTextSplitter.from_huggingface_tokenizer.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94944" y="1869948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Chunk size: 512 tokens; overlap: 64 tokens.</a:t>
            </a:r>
          </a:p>
        </p:txBody>
      </p:sp>
      <p:sp>
        <p:nvSpPr>
          <p:cNvPr id="227" name="Oval 226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94944" y="218084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Split priority: paragraph, line, heading, sentence, word, then character boundaries.</a:t>
            </a:r>
          </a:p>
        </p:txBody>
      </p:sp>
      <p:sp>
        <p:nvSpPr>
          <p:cNvPr id="229" name="Oval 228"/>
          <p:cNvSpPr/>
          <p:nvPr/>
        </p:nvSpPr>
        <p:spPr>
          <a:xfrm>
            <a:off x="402336" y="2281427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694944" y="2724912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Atomic property rows are added for property-matrix entries so a single property and fee can be retrieved precisely.</a:t>
            </a:r>
          </a:p>
        </p:txBody>
      </p:sp>
      <p:sp>
        <p:nvSpPr>
          <p:cNvPr id="231" name="Oval 230"/>
          <p:cNvSpPr/>
          <p:nvPr/>
        </p:nvSpPr>
        <p:spPr>
          <a:xfrm>
            <a:off x="402336" y="28254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350215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Metadata is added after splitting to preserve section, topic, and property identity.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36027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RAG - Chunking - Chunk Documents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Total chunks created: 43, including atomic property rows.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694944" y="1869948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39A9"/>
                </a:solidFill>
                <a:latin typeface="Montserrat"/>
              </a:rPr>
              <a:t>Example focused chunk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694944" y="2180844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## Property-specific matrix | Property: ASH-MIA</a:t>
            </a:r>
          </a:p>
        </p:txBody>
      </p:sp>
      <p:sp>
        <p:nvSpPr>
          <p:cNvPr id="236" name="Oval 235"/>
          <p:cNvSpPr/>
          <p:nvPr/>
        </p:nvSpPr>
        <p:spPr>
          <a:xfrm>
            <a:off x="402336" y="2281427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94944" y="2491739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ASH-MIA Brickell | Parking: Valet, $55 per night | Pets: $100 per stay; 2 pets max</a:t>
            </a:r>
          </a:p>
        </p:txBody>
      </p:sp>
      <p:sp>
        <p:nvSpPr>
          <p:cNvPr id="238" name="Oval 237"/>
          <p:cNvSpPr/>
          <p:nvPr/>
        </p:nvSpPr>
        <p:spPr>
          <a:xfrm>
            <a:off x="402336" y="259232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94944" y="303580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One-property rows reduce contamination from unrelated properties and broad policy sections.</a:t>
            </a:r>
          </a:p>
        </p:txBody>
      </p:sp>
      <p:sp>
        <p:nvSpPr>
          <p:cNvPr id="240" name="Oval 239"/>
          <p:cNvSpPr/>
          <p:nvPr/>
        </p:nvSpPr>
        <p:spPr>
          <a:xfrm>
            <a:off x="402336" y="313639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694944" y="35798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Each chunk carries source, section, property_codes, and topics metadata.</a:t>
            </a:r>
          </a:p>
        </p:txBody>
      </p:sp>
      <p:sp>
        <p:nvSpPr>
          <p:cNvPr id="242" name="Oval 241"/>
          <p:cNvSpPr/>
          <p:nvPr/>
        </p:nvSpPr>
        <p:spPr>
          <a:xfrm>
            <a:off x="402336" y="36804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RAG - Vector Database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Vector database: FAISS with 43 normalized document vectors.</a:t>
            </a:r>
          </a:p>
        </p:txBody>
      </p:sp>
      <p:sp>
        <p:nvSpPr>
          <p:cNvPr id="241" name="Oval 24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Index is persisted for the backend under backend/faiss_index.</a:t>
            </a:r>
          </a:p>
        </p:txBody>
      </p:sp>
      <p:sp>
        <p:nvSpPr>
          <p:cNvPr id="243" name="Oval 242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694944" y="2414016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Final retrieval setting: k=5 chunks.</a:t>
            </a:r>
          </a:p>
        </p:txBody>
      </p:sp>
      <p:sp>
        <p:nvSpPr>
          <p:cNvPr id="245" name="Oval 244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694944" y="2724912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Candidate search uses MMR lambda=0.50 and fetch_k=20.</a:t>
            </a:r>
          </a:p>
        </p:txBody>
      </p:sp>
      <p:sp>
        <p:nvSpPr>
          <p:cNvPr id="247" name="Oval 246"/>
          <p:cNvSpPr/>
          <p:nvPr/>
        </p:nvSpPr>
        <p:spPr>
          <a:xfrm>
            <a:off x="402336" y="28254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303580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CrossEncoder ms-marco-MiniLM-L-6-v2 reranks candidates; topic and property metadata provide additional boosts.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313639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RAG - Vector Database - Retrieval Function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Query: What are the parking fees at the Atlanta and Miami hotels?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Property routing identifies ASH-ATL and ASH-MIA; topic routing identifies parking.</a:t>
            </a:r>
          </a:p>
        </p:txBody>
      </p:sp>
      <p:sp>
        <p:nvSpPr>
          <p:cNvPr id="251" name="Oval 250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694944" y="241401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Candidate chunks are retrieved with MMR, then reranked for direct relevance.</a:t>
            </a:r>
          </a:p>
        </p:txBody>
      </p:sp>
      <p:sp>
        <p:nvSpPr>
          <p:cNvPr id="253" name="Oval 252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94944" y="2958084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39A9"/>
                </a:solidFill>
                <a:latin typeface="Montserrat"/>
              </a:rPr>
              <a:t>Relevant evidence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694944" y="32689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ASH-ATL Midtown: self parking, $28 per night.</a:t>
            </a:r>
          </a:p>
        </p:txBody>
      </p:sp>
      <p:sp>
        <p:nvSpPr>
          <p:cNvPr id="256" name="Oval 255"/>
          <p:cNvSpPr/>
          <p:nvPr/>
        </p:nvSpPr>
        <p:spPr>
          <a:xfrm>
            <a:off x="402336" y="33695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694944" y="3579876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ASH-MIA Brickell: valet, $55 per night.</a:t>
            </a:r>
          </a:p>
        </p:txBody>
      </p:sp>
      <p:sp>
        <p:nvSpPr>
          <p:cNvPr id="258" name="Oval 257"/>
          <p:cNvSpPr/>
          <p:nvPr/>
        </p:nvSpPr>
        <p:spPr>
          <a:xfrm>
            <a:off x="402336" y="36804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94944" y="389077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The final context contains the two requested property rows instead of unrelated policy sections.</a:t>
            </a:r>
          </a:p>
        </p:txBody>
      </p:sp>
      <p:sp>
        <p:nvSpPr>
          <p:cNvPr id="260" name="Oval 259"/>
          <p:cNvSpPr/>
          <p:nvPr/>
        </p:nvSpPr>
        <p:spPr>
          <a:xfrm>
            <a:off x="402336" y="399135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RAG - Generation System - Load the LLM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Generator: OpenAI-compatible ChatOpenAI wrapper.</a:t>
            </a:r>
          </a:p>
        </p:txBody>
      </p:sp>
      <p:sp>
        <p:nvSpPr>
          <p:cNvPr id="257" name="Oval 25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94944" y="1636776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Model: gpt-4o-mini.</a:t>
            </a:r>
          </a:p>
        </p:txBody>
      </p:sp>
      <p:sp>
        <p:nvSpPr>
          <p:cNvPr id="259" name="Oval 258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694944" y="1947672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temperature=0.0 | top_p=1.0 | max_tokens=512.</a:t>
            </a:r>
          </a:p>
        </p:txBody>
      </p:sp>
      <p:sp>
        <p:nvSpPr>
          <p:cNvPr id="261" name="Oval 260"/>
          <p:cNvSpPr/>
          <p:nvPr/>
        </p:nvSpPr>
        <p:spPr>
          <a:xfrm>
            <a:off x="402336" y="204825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694944" y="225856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API key and base URL are loaded from environment/configuration rather than hard-coded.</a:t>
            </a:r>
          </a:p>
        </p:txBody>
      </p:sp>
      <p:sp>
        <p:nvSpPr>
          <p:cNvPr id="263" name="Oval 262"/>
          <p:cNvSpPr/>
          <p:nvPr/>
        </p:nvSpPr>
        <p:spPr>
          <a:xfrm>
            <a:off x="402336" y="235915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280263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Montserrat"/>
              </a:rPr>
              <a:t>Deterministic settings favor repeatable, concise policy answers for evaluation and operations.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29032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RAG - Generation System - Generation Prompt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Prompt inputs: user query + retrieved policy information.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Use only information explicitly supported by retrieved policy text.</a:t>
            </a:r>
          </a:p>
        </p:txBody>
      </p:sp>
      <p:sp>
        <p:nvSpPr>
          <p:cNvPr id="267" name="Oval 266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694944" y="241401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Include relevant conditions, exclusions, limits, exceptions, and coverage details.</a:t>
            </a:r>
          </a:p>
        </p:txBody>
      </p:sp>
      <p:sp>
        <p:nvSpPr>
          <p:cNvPr id="269" name="Oval 268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694944" y="295808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Focus on the question; omit unrelated content and do not invent facts.</a:t>
            </a:r>
          </a:p>
        </p:txBody>
      </p:sp>
      <p:sp>
        <p:nvSpPr>
          <p:cNvPr id="271" name="Oval 270"/>
          <p:cNvSpPr/>
          <p:nvPr/>
        </p:nvSpPr>
        <p:spPr>
          <a:xfrm>
            <a:off x="402336" y="30586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3502152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If evidence is insufficient, return: The available policy documents do not contain enough information to answer this question.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36027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4279392"/>
            <a:ext cx="6729984" cy="402335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Additional guards focus Advance Purchase, Accessible King, and late-checkout questions on their relevant evidence.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43799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RAG - Generation System - RAG Function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Pipeline: query -&gt; retrieve top-k chunks -&gt; generate grounded answer -&gt; return answer and evidence.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Example query: What is the cancellation policy for a flexible reservation?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94944" y="2414016"/>
            <a:ext cx="6729984" cy="1211580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Example answer: Flexible rates can normally be canceled by 6:00 PM local property time one day before arrival without a room charge. Later cancellation or no-show may be charged one night plus tax; the confirmation controls if it differs.</a:t>
            </a:r>
          </a:p>
        </p:txBody>
      </p:sp>
      <p:sp>
        <p:nvSpPr>
          <p:cNvPr id="277" name="Oval 276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694944" y="365760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00000"/>
                </a:solidFill>
                <a:latin typeface="Montserrat"/>
              </a:rPr>
              <a:t>The response endpoint can return the answer alone or the answer plus relevant chunks for verification.</a:t>
            </a:r>
          </a:p>
        </p:txBody>
      </p:sp>
      <p:sp>
        <p:nvSpPr>
          <p:cNvPr id="279" name="Oval 278"/>
          <p:cNvSpPr/>
          <p:nvPr/>
        </p:nvSpPr>
        <p:spPr>
          <a:xfrm>
            <a:off x="402336" y="37581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Evaluation - Load the Evaluation Data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Development evaluation file: data/evaluation.csv.</a:t>
            </a:r>
          </a:p>
        </p:txBody>
      </p:sp>
      <p:sp>
        <p:nvSpPr>
          <p:cNvPr id="281" name="Oval 28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694944" y="16367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10 records with question, expected answer, and ground-truth relevant context.</a:t>
            </a:r>
          </a:p>
        </p:txBody>
      </p:sp>
      <p:sp>
        <p:nvSpPr>
          <p:cNvPr id="283" name="Oval 282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694944" y="218084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Sample question: What time can I check in at ASH-CHI Loop, and when do I need to be out?</a:t>
            </a:r>
          </a:p>
        </p:txBody>
      </p:sp>
      <p:sp>
        <p:nvSpPr>
          <p:cNvPr id="285" name="Oval 284"/>
          <p:cNvSpPr/>
          <p:nvPr/>
        </p:nvSpPr>
        <p:spPr>
          <a:xfrm>
            <a:off x="402336" y="22814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694944" y="2724912"/>
            <a:ext cx="6729984" cy="978408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Expected answer: Standard check-in is 3:00 PM and standard check-out is 12:00 PM local property time; early arrival and late departure depend on availability and approval.</a:t>
            </a:r>
          </a:p>
        </p:txBody>
      </p:sp>
      <p:sp>
        <p:nvSpPr>
          <p:cNvPr id="287" name="Oval 286"/>
          <p:cNvSpPr/>
          <p:nvPr/>
        </p:nvSpPr>
        <p:spPr>
          <a:xfrm>
            <a:off x="402336" y="28254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373532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Multi-context records use &lt;&gt; separators so relevant policy sections can be evaluated together.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Evaluation - Define the Evaluation Model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144475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Judge model: gpt-4o through the DeepEval OpenAIModel wrapper.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694944" y="198882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The generator remains gpt-4o-mini with temperature=0.0, top_p=1.0, and max_tokens=512.</a:t>
            </a:r>
          </a:p>
        </p:txBody>
      </p:sp>
      <p:sp>
        <p:nvSpPr>
          <p:cNvPr id="291" name="Oval 290"/>
          <p:cNvSpPr/>
          <p:nvPr/>
        </p:nvSpPr>
        <p:spPr>
          <a:xfrm>
            <a:off x="402336" y="208940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694944" y="253288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The stronger judge model scores factual support, retrieval coverage, retrieval focus, and answer relevance.</a:t>
            </a:r>
          </a:p>
        </p:txBody>
      </p:sp>
      <p:sp>
        <p:nvSpPr>
          <p:cNvPr id="293" name="Oval 292"/>
          <p:cNvSpPr/>
          <p:nvPr/>
        </p:nvSpPr>
        <p:spPr>
          <a:xfrm>
            <a:off x="402336" y="26334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694944" y="307695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Montserrat"/>
              </a:rPr>
              <a:t>Evaluations run synchronously so each test case has a stable, auditable metric result.</a:t>
            </a:r>
          </a:p>
        </p:txBody>
      </p:sp>
      <p:sp>
        <p:nvSpPr>
          <p:cNvPr id="295" name="Oval 294"/>
          <p:cNvSpPr/>
          <p:nvPr/>
        </p:nvSpPr>
        <p:spPr>
          <a:xfrm>
            <a:off x="402336" y="317754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Evaluation - Define the Evaluation Metrics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Faithfulness &gt;= 0.85: every important answer claim is supported by retrieved context.</a:t>
            </a:r>
          </a:p>
        </p:txBody>
      </p:sp>
      <p:sp>
        <p:nvSpPr>
          <p:cNvPr id="297" name="Oval 29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Contextual Recall &gt;= 0.80: retrieved context contains information needed for the expected answer.</a:t>
            </a:r>
          </a:p>
        </p:txBody>
      </p:sp>
      <p:sp>
        <p:nvSpPr>
          <p:cNvPr id="299" name="Oval 298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694944" y="241401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Contextual Precision &gt;= 0.75: relevant context is prioritized over unrelated content.</a:t>
            </a:r>
          </a:p>
        </p:txBody>
      </p:sp>
      <p:sp>
        <p:nvSpPr>
          <p:cNvPr id="301" name="Oval 300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694944" y="295808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Answer Relevancy &gt;= 0.75: answer directly addresses the user question.</a:t>
            </a:r>
          </a:p>
        </p:txBody>
      </p:sp>
      <p:sp>
        <p:nvSpPr>
          <p:cNvPr id="303" name="Oval 302"/>
          <p:cNvSpPr/>
          <p:nvPr/>
        </p:nvSpPr>
        <p:spPr>
          <a:xfrm>
            <a:off x="402336" y="30586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694944" y="350215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Composite = 0.35F + 0.25Recall + 0.20Precision + 0.20Relevancy.</a:t>
            </a:r>
          </a:p>
        </p:txBody>
      </p:sp>
      <p:sp>
        <p:nvSpPr>
          <p:cNvPr id="305" name="Oval 304"/>
          <p:cNvSpPr/>
          <p:nvPr/>
        </p:nvSpPr>
        <p:spPr>
          <a:xfrm>
            <a:off x="402336" y="36027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694944" y="404622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000000"/>
                </a:solidFill>
                <a:latin typeface="Montserrat"/>
              </a:rPr>
              <a:t>A case passes only when all four metric thresholds are met.</a:t>
            </a:r>
          </a:p>
        </p:txBody>
      </p:sp>
      <p:sp>
        <p:nvSpPr>
          <p:cNvPr id="307" name="Oval 306"/>
          <p:cNvSpPr/>
          <p:nvPr/>
        </p:nvSpPr>
        <p:spPr>
          <a:xfrm>
            <a:off x="402336" y="414680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Retrieval tuning matrix selected chunk_size=512, overlap=64, MMR lambda=0.50, and fetch_k=20.</a:t>
            </a:r>
          </a:p>
        </p:txBody>
      </p:sp>
      <p:sp>
        <p:nvSpPr>
          <p:cNvPr id="305" name="Oval 30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Dev proxy coverage: 0.836; held-out test proxy coverage: 0.850.</a:t>
            </a:r>
          </a:p>
        </p:txBody>
      </p:sp>
      <p:sp>
        <p:nvSpPr>
          <p:cNvPr id="307" name="Oval 306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694944" y="241401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Full DeepEval is the acceptance test; proxy coverage is used only to narrow candidates.</a:t>
            </a:r>
          </a:p>
        </p:txBody>
      </p:sp>
      <p:sp>
        <p:nvSpPr>
          <p:cNvPr id="309" name="Oval 308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694944" y="2958084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evaluation creates LLMTestCase objects with input, expected output, actual output, retrieval context, and reference context.</a:t>
            </a:r>
          </a:p>
        </p:txBody>
      </p:sp>
      <p:sp>
        <p:nvSpPr>
          <p:cNvPr id="311" name="Oval 310"/>
          <p:cNvSpPr/>
          <p:nvPr/>
        </p:nvSpPr>
        <p:spPr>
          <a:xfrm>
            <a:off x="402336" y="30586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694944" y="373532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Cases are classified as AUTO ANSWER, ASSISTED REVIEW, or MANUAL LOOKUP from the composite score.</a:t>
            </a:r>
          </a:p>
        </p:txBody>
      </p:sp>
      <p:sp>
        <p:nvSpPr>
          <p:cNvPr id="313" name="Oval 312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694944" y="4279392"/>
            <a:ext cx="6729984" cy="402335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Result: baseline k=5 is the selected configuration by highest composite score.</a:t>
            </a:r>
          </a:p>
        </p:txBody>
      </p:sp>
      <p:sp>
        <p:nvSpPr>
          <p:cNvPr id="315" name="Oval 314"/>
          <p:cNvSpPr/>
          <p:nvPr/>
        </p:nvSpPr>
        <p:spPr>
          <a:xfrm>
            <a:off x="402336" y="43799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Evaluation - Load the Test Data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694944" y="1444752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Held-out file: data/test.xlsx.</a:t>
            </a:r>
          </a:p>
        </p:txBody>
      </p:sp>
      <p:sp>
        <p:nvSpPr>
          <p:cNvPr id="313" name="Oval 312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694944" y="1755648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10 unseen questions covering cancellation, discounts, room occupancy, accessibility, parking, breakfast, rate changes, checkout, pets, and incidental holds.</a:t>
            </a:r>
          </a:p>
        </p:txBody>
      </p:sp>
      <p:sp>
        <p:nvSpPr>
          <p:cNvPr id="315" name="Oval 314"/>
          <p:cNvSpPr/>
          <p:nvPr/>
        </p:nvSpPr>
        <p:spPr>
          <a:xfrm>
            <a:off x="402336" y="18562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94944" y="253288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Sample question: How many people can stay in a Double Queen room?</a:t>
            </a:r>
          </a:p>
        </p:txBody>
      </p:sp>
      <p:sp>
        <p:nvSpPr>
          <p:cNvPr id="317" name="Oval 316"/>
          <p:cNvSpPr/>
          <p:nvPr/>
        </p:nvSpPr>
        <p:spPr>
          <a:xfrm>
            <a:off x="402336" y="26334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694944" y="3076956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Expected answer: Up to 4 guests, subject to fire-code and property occupancy limits; recheck the room and rate if the group size changes.</a:t>
            </a:r>
          </a:p>
        </p:txBody>
      </p:sp>
      <p:sp>
        <p:nvSpPr>
          <p:cNvPr id="319" name="Oval 318"/>
          <p:cNvSpPr/>
          <p:nvPr/>
        </p:nvSpPr>
        <p:spPr>
          <a:xfrm>
            <a:off x="402336" y="317754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694944" y="385419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The held-out set is used only for final comparison and selection of the baseline.</a:t>
            </a:r>
          </a:p>
        </p:txBody>
      </p:sp>
      <p:sp>
        <p:nvSpPr>
          <p:cNvPr id="321" name="Oval 320"/>
          <p:cNvSpPr/>
          <p:nvPr/>
        </p:nvSpPr>
        <p:spPr>
          <a:xfrm>
            <a:off x="402336" y="395478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Held-out DeepEval comparison (10 cases)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694944" y="16367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Baseline k=5     F=.993  R=.977  P=.808  AR=.939  Composite=.941  Pass=9/10</a:t>
            </a:r>
          </a:p>
        </p:txBody>
      </p:sp>
      <p:sp>
        <p:nvSpPr>
          <p:cNvPr id="322" name="Oval 321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TextBox 322"/>
          <p:cNvSpPr txBox="1"/>
          <p:nvPr/>
        </p:nvSpPr>
        <p:spPr>
          <a:xfrm>
            <a:off x="694944" y="218084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Hybrid k=5       F=.995  R=.979  P=.787  AR=.922  Composite=.935  Pass=8/10</a:t>
            </a:r>
          </a:p>
        </p:txBody>
      </p:sp>
      <p:sp>
        <p:nvSpPr>
          <p:cNvPr id="324" name="Oval 323"/>
          <p:cNvSpPr/>
          <p:nvPr/>
        </p:nvSpPr>
        <p:spPr>
          <a:xfrm>
            <a:off x="402336" y="22814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694944" y="272491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Hybrid k=6       F=.993  R=.982  P=.781  AR=.929  Composite=.935  Pass=8/10</a:t>
            </a:r>
          </a:p>
        </p:txBody>
      </p:sp>
      <p:sp>
        <p:nvSpPr>
          <p:cNvPr id="326" name="Oval 325"/>
          <p:cNvSpPr/>
          <p:nvPr/>
        </p:nvSpPr>
        <p:spPr>
          <a:xfrm>
            <a:off x="402336" y="28254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694944" y="32689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752"/>
                </a:solidFill>
                <a:latin typeface="Montserrat"/>
              </a:rPr>
              <a:t>Selected: baseline k=5 because it has the highest weighted composite score.</a:t>
            </a:r>
          </a:p>
        </p:txBody>
      </p:sp>
      <p:sp>
        <p:nvSpPr>
          <p:cNvPr id="328" name="Oval 327"/>
          <p:cNvSpPr/>
          <p:nvPr/>
        </p:nvSpPr>
        <p:spPr>
          <a:xfrm>
            <a:off x="402336" y="33695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TextBox 328"/>
          <p:cNvSpPr txBox="1"/>
          <p:nvPr/>
        </p:nvSpPr>
        <p:spPr>
          <a:xfrm>
            <a:off x="694944" y="38130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62A2A"/>
                </a:solidFill>
                <a:latin typeface="Montserrat"/>
              </a:rPr>
              <a:t>Only remaining failure: Accessible King room inclusions; Contextual Precision=.451.</a:t>
            </a:r>
          </a:p>
        </p:txBody>
      </p:sp>
      <p:sp>
        <p:nvSpPr>
          <p:cNvPr id="330" name="Oval 329"/>
          <p:cNvSpPr/>
          <p:nvPr/>
        </p:nvSpPr>
        <p:spPr>
          <a:xfrm>
            <a:off x="402336" y="3913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694944" y="4357116"/>
            <a:ext cx="6729984" cy="324611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The benchmark question is underspecified. A focused clarification plus single-chunk retrieval scored Precision=.961 and passed all four metrics.</a:t>
            </a:r>
          </a:p>
        </p:txBody>
      </p:sp>
      <p:sp>
        <p:nvSpPr>
          <p:cNvPr id="332" name="Oval 331"/>
          <p:cNvSpPr/>
          <p:nvPr/>
        </p:nvSpPr>
        <p:spPr>
          <a:xfrm>
            <a:off x="402336" y="44577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5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Serialize the Vector Database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Backend artifact: backend/faiss_index/index.faiss.</a:t>
            </a:r>
          </a:p>
        </p:txBody>
      </p:sp>
      <p:sp>
        <p:nvSpPr>
          <p:cNvPr id="329" name="Oval 32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694944" y="16367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Metadata and document store: backend/faiss_index/index.pkl.</a:t>
            </a:r>
          </a:p>
        </p:txBody>
      </p:sp>
      <p:sp>
        <p:nvSpPr>
          <p:cNvPr id="331" name="Oval 330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694944" y="218084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The persisted FAISS index contains 43 normalized vectors from the policy knowledge base.</a:t>
            </a:r>
          </a:p>
        </p:txBody>
      </p:sp>
      <p:sp>
        <p:nvSpPr>
          <p:cNvPr id="333" name="Oval 332"/>
          <p:cNvSpPr/>
          <p:nvPr/>
        </p:nvSpPr>
        <p:spPr>
          <a:xfrm>
            <a:off x="402336" y="22814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694944" y="2724912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The backend loads the trusted local artifact at startup; the Docker image copies the index into /app/faiss_index.</a:t>
            </a:r>
          </a:p>
        </p:txBody>
      </p:sp>
      <p:sp>
        <p:nvSpPr>
          <p:cNvPr id="335" name="Oval 334"/>
          <p:cNvSpPr/>
          <p:nvPr/>
        </p:nvSpPr>
        <p:spPr>
          <a:xfrm>
            <a:off x="402336" y="28254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350215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Montserrat"/>
              </a:rPr>
              <a:t>The artifact must be rebuilt whenever source documents, chunking, or embeddings change.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36027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Flask Application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Service entry point: backend/app.py; production command uses Gunicorn and app:rag_api.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694944" y="1869948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GET / returns a lightweight readiness message.</a:t>
            </a:r>
          </a:p>
        </p:txBody>
      </p:sp>
      <p:sp>
        <p:nvSpPr>
          <p:cNvPr id="339" name="Oval 338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694944" y="218084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POST /v1/relevant_chunks returns the top-k retrieved policy chunks.</a:t>
            </a:r>
          </a:p>
        </p:txBody>
      </p:sp>
      <p:sp>
        <p:nvSpPr>
          <p:cNvPr id="341" name="Oval 340"/>
          <p:cNvSpPr/>
          <p:nvPr/>
        </p:nvSpPr>
        <p:spPr>
          <a:xfrm>
            <a:off x="402336" y="2281427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694944" y="272491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POST /v1/answer_with_relevant_chunks returns the generated answer and evidence chunks.</a:t>
            </a:r>
          </a:p>
        </p:txBody>
      </p:sp>
      <p:sp>
        <p:nvSpPr>
          <p:cNvPr id="343" name="Oval 342"/>
          <p:cNvSpPr/>
          <p:nvPr/>
        </p:nvSpPr>
        <p:spPr>
          <a:xfrm>
            <a:off x="402336" y="28254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32689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POST /v1/answer returns the generated answer only.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33695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35798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Defaults: k=5, gpt-4o-mini, temperature=0.0, top_p=1.0, max_tokens=512.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36804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94944" y="412394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Container binding: 0.0.0.0:7860; local smoke tests use port 5000.</a:t>
            </a:r>
          </a:p>
        </p:txBody>
      </p:sp>
      <p:sp>
        <p:nvSpPr>
          <p:cNvPr id="349" name="Oval 348"/>
          <p:cNvSpPr/>
          <p:nvPr/>
        </p:nvSpPr>
        <p:spPr>
          <a:xfrm>
            <a:off x="402336" y="42245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Dependencies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Pinned backend dependencies are declared in backend/requirements.txt.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Flask 3.1.3 and Gunicorn 26.2.0 provide the API service runtime.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94944" y="241401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LangChain HuggingFace, LangChain Community, and LangChain OpenAI provide retrieval and generation integration.</a:t>
            </a:r>
          </a:p>
        </p:txBody>
      </p:sp>
      <p:sp>
        <p:nvSpPr>
          <p:cNvPr id="349" name="Oval 348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694944" y="295808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sentence-transformers 6.1.0 and faiss-cpu 1.15.0 provide embeddings and vector search.</a:t>
            </a:r>
          </a:p>
        </p:txBody>
      </p:sp>
      <p:sp>
        <p:nvSpPr>
          <p:cNvPr id="351" name="Oval 350"/>
          <p:cNvSpPr/>
          <p:nvPr/>
        </p:nvSpPr>
        <p:spPr>
          <a:xfrm>
            <a:off x="402336" y="30586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350215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The Docker build installs CPU-only PyTorch before installing the requirements file.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36027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94944" y="404622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The embedding model is cached during image build so runtime can use offline mode.</a:t>
            </a:r>
          </a:p>
        </p:txBody>
      </p:sp>
      <p:sp>
        <p:nvSpPr>
          <p:cNvPr id="355" name="Oval 354"/>
          <p:cNvSpPr/>
          <p:nvPr/>
        </p:nvSpPr>
        <p:spPr>
          <a:xfrm>
            <a:off x="402336" y="414680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Dockerfile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Base image: python:3.13.15-slim.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94944" y="16367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Copies the backend application, FAISS artifact, and requirements into /app.</a:t>
            </a:r>
          </a:p>
        </p:txBody>
      </p:sp>
      <p:sp>
        <p:nvSpPr>
          <p:cNvPr id="355" name="Oval 354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694944" y="218084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Installs CPU PyTorch and the pinned backend dependencies without pip cache.</a:t>
            </a:r>
          </a:p>
        </p:txBody>
      </p:sp>
      <p:sp>
        <p:nvSpPr>
          <p:cNvPr id="357" name="Oval 356"/>
          <p:cNvSpPr/>
          <p:nvPr/>
        </p:nvSpPr>
        <p:spPr>
          <a:xfrm>
            <a:off x="402336" y="22814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694944" y="272491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Downloads HarishMaths/Hotel-Policy-Embedding at build time and sets HF_HOME=/app/huggingface.</a:t>
            </a:r>
          </a:p>
        </p:txBody>
      </p:sp>
      <p:sp>
        <p:nvSpPr>
          <p:cNvPr id="359" name="Oval 358"/>
          <p:cNvSpPr/>
          <p:nvPr/>
        </p:nvSpPr>
        <p:spPr>
          <a:xfrm>
            <a:off x="402336" y="28254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32689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TRANSFORMERS_OFFLINE=1 and HF_HUB_OFFLINE=1 prevent runtime model downloads.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33695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694944" y="38130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Starts one Gunicorn worker on port 7860 with a 120-second request timeout.</a:t>
            </a:r>
          </a:p>
        </p:txBody>
      </p:sp>
      <p:sp>
        <p:nvSpPr>
          <p:cNvPr id="363" name="Oval 362"/>
          <p:cNvSpPr/>
          <p:nvPr/>
        </p:nvSpPr>
        <p:spPr>
          <a:xfrm>
            <a:off x="402336" y="3913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Streamlit App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Frontend entry point: frontend/app.py; it provides the Aurora Stays question-and-answer interface.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Sidebar controls: k from 1 to 10, temperature from 0.0 to 1.0, and max_tokens from 64 to 2048.</a:t>
            </a:r>
          </a:p>
        </p:txBody>
      </p:sp>
      <p:sp>
        <p:nvSpPr>
          <p:cNvPr id="363" name="Oval 362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94944" y="241401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Users can select Answer only or Answer + Relevant Chunks.</a:t>
            </a:r>
          </a:p>
        </p:txBody>
      </p:sp>
      <p:sp>
        <p:nvSpPr>
          <p:cNvPr id="365" name="Oval 364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694944" y="295808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The backend address is supplied through BACKEND_URL; local default is http://localhost:5000.</a:t>
            </a:r>
          </a:p>
        </p:txBody>
      </p:sp>
      <p:sp>
        <p:nvSpPr>
          <p:cNvPr id="367" name="Oval 366"/>
          <p:cNvSpPr/>
          <p:nvPr/>
        </p:nvSpPr>
        <p:spPr>
          <a:xfrm>
            <a:off x="402336" y="30586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3502152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The interface displays the answer, retrieved evidence, and a clear API connectivity error when the backend is unavailable.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36027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4279392"/>
            <a:ext cx="6729984" cy="402335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Validated locally with Streamlit on port 8501 and the Flask API on port 5000.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43799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6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Dockerfile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Base image: python:3.13.15-slim.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16367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Copies the Streamlit application and installs requests 2.34.2 and streamlit 1.64.0.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694944" y="218084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Binds Streamlit to 0.0.0.0:8501 for Codespaces or container access.</a:t>
            </a:r>
          </a:p>
        </p:txBody>
      </p:sp>
      <p:sp>
        <p:nvSpPr>
          <p:cNvPr id="373" name="Oval 372"/>
          <p:cNvSpPr/>
          <p:nvPr/>
        </p:nvSpPr>
        <p:spPr>
          <a:xfrm>
            <a:off x="402336" y="22814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694944" y="272491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XSRF protection is disabled in the supplied deployment command to simplify external access.</a:t>
            </a:r>
          </a:p>
        </p:txBody>
      </p:sp>
      <p:sp>
        <p:nvSpPr>
          <p:cNvPr id="375" name="Oval 374"/>
          <p:cNvSpPr/>
          <p:nvPr/>
        </p:nvSpPr>
        <p:spPr>
          <a:xfrm>
            <a:off x="402336" y="28254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32689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Set BACKEND_URL at runtime so the frontend can call the backend service or forwarded port.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33695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6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Push the Files to GitHub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Repository: github.com/raovutukoor1/aurora-stay-qna.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694944" y="16367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Latest published commit: 7fda05a — Publish latest Aurora Stays evaluation and presentation.</a:t>
            </a:r>
          </a:p>
        </p:txBody>
      </p:sp>
      <p:sp>
        <p:nvSpPr>
          <p:cNvPr id="379" name="Oval 378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694944" y="2180844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Published groups include backend and frontend source, FAISS artifacts, the final executed notebook, evaluation CSVs, and the presentation pack.</a:t>
            </a:r>
          </a:p>
        </p:txBody>
      </p:sp>
      <p:sp>
        <p:nvSpPr>
          <p:cNvPr id="381" name="Oval 380"/>
          <p:cNvSpPr/>
          <p:nvPr/>
        </p:nvSpPr>
        <p:spPr>
          <a:xfrm>
            <a:off x="402336" y="22814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694944" y="295808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supplied template and generated PPTX/PDF presentation files are included for handoff.</a:t>
            </a:r>
          </a:p>
        </p:txBody>
      </p:sp>
      <p:sp>
        <p:nvSpPr>
          <p:cNvPr id="383" name="Oval 382"/>
          <p:cNvSpPr/>
          <p:nvPr/>
        </p:nvSpPr>
        <p:spPr>
          <a:xfrm>
            <a:off x="402336" y="30586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350215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Credentials remain excluded: config/config.json, .env, and supplied token/config files are not tracked.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36027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6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Define the Forwarded URL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In GitHub Codespaces, open the Ports panel and forward the Streamlit port 8501.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The public URL is generated per Codespace session; it is not hard-coded in the repository.</a:t>
            </a:r>
          </a:p>
        </p:txBody>
      </p:sp>
      <p:sp>
        <p:nvSpPr>
          <p:cNvPr id="387" name="Oval 386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694944" y="241401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Set BACKEND_URL to the backend service URL or its forwarded port before starting Streamlit.</a:t>
            </a:r>
          </a:p>
        </p:txBody>
      </p:sp>
      <p:sp>
        <p:nvSpPr>
          <p:cNvPr id="389" name="Oval 388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694944" y="295808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Production smoke tests used the parking-fee query and the ASH-CHI Loop pet-charge query.</a:t>
            </a:r>
          </a:p>
        </p:txBody>
      </p:sp>
      <p:sp>
        <p:nvSpPr>
          <p:cNvPr id="391" name="Oval 390"/>
          <p:cNvSpPr/>
          <p:nvPr/>
        </p:nvSpPr>
        <p:spPr>
          <a:xfrm>
            <a:off x="402336" y="30586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3502152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API keys belong in Codespaces Secrets or a private local config file, never in the forwarded URL or source code.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36027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6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Deployment - Inference - Relevant Chunks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Endpoint: POST {BACKEND_URL}/v1/relevant_chunks.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694944" y="16367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Payload: {"query": "What are the parking fees at the Atlanta and Miami hotels?", "k": 5}.</a:t>
            </a:r>
          </a:p>
        </p:txBody>
      </p:sp>
      <p:sp>
        <p:nvSpPr>
          <p:cNvPr id="395" name="Oval 394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694944" y="2180844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Response fields: query, k, and relevant_chunks.</a:t>
            </a:r>
          </a:p>
        </p:txBody>
      </p:sp>
      <p:sp>
        <p:nvSpPr>
          <p:cNvPr id="397" name="Oval 396"/>
          <p:cNvSpPr/>
          <p:nvPr/>
        </p:nvSpPr>
        <p:spPr>
          <a:xfrm>
            <a:off x="402336" y="22814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694944" y="2491740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Expected evidence includes ASH-ATL Midtown self parking at $28 per night and ASH-MIA Brickell valet at $55 per night.</a:t>
            </a:r>
          </a:p>
        </p:txBody>
      </p:sp>
      <p:sp>
        <p:nvSpPr>
          <p:cNvPr id="399" name="Oval 398"/>
          <p:cNvSpPr/>
          <p:nvPr/>
        </p:nvSpPr>
        <p:spPr>
          <a:xfrm>
            <a:off x="402336" y="25923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32689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This endpoint is useful for checking retrieval quality before evaluating the generated answer.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33695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6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Answer with Relevant Chunks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132588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Endpoint: POST {BACKEND_URL}/v1/answer_with_relevant_chunks.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694944" y="186994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Payload includes query, k=5, temperature=0.0, and max_tokens=512.</a:t>
            </a:r>
          </a:p>
        </p:txBody>
      </p:sp>
      <p:sp>
        <p:nvSpPr>
          <p:cNvPr id="403" name="Oval 402"/>
          <p:cNvSpPr/>
          <p:nvPr/>
        </p:nvSpPr>
        <p:spPr>
          <a:xfrm>
            <a:off x="402336" y="197053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694944" y="241401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Response fields include answer, relevant_chunks, model_name, and the generation parameters used.</a:t>
            </a:r>
          </a:p>
        </p:txBody>
      </p:sp>
      <p:sp>
        <p:nvSpPr>
          <p:cNvPr id="405" name="Oval 404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694944" y="295808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The parking example returns a grounded comparison of the Atlanta and Miami fees with supporting chunks.</a:t>
            </a:r>
          </a:p>
        </p:txBody>
      </p:sp>
      <p:sp>
        <p:nvSpPr>
          <p:cNvPr id="407" name="Oval 406"/>
          <p:cNvSpPr/>
          <p:nvPr/>
        </p:nvSpPr>
        <p:spPr>
          <a:xfrm>
            <a:off x="402336" y="30586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694944" y="350215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ontserrat"/>
              </a:rPr>
              <a:t>Use POST /v1/answer when only the final answer is required; use this endpoint for auditability.</a:t>
            </a:r>
          </a:p>
        </p:txBody>
      </p:sp>
      <p:sp>
        <p:nvSpPr>
          <p:cNvPr id="409" name="Oval 408"/>
          <p:cNvSpPr/>
          <p:nvPr/>
        </p:nvSpPr>
        <p:spPr>
          <a:xfrm>
            <a:off x="402336" y="36027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65"/>
          <p:cNvSpPr txBox="1"/>
          <p:nvPr/>
        </p:nvSpPr>
        <p:spPr>
          <a:xfrm>
            <a:off x="32525" y="292608"/>
            <a:ext cx="44187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APPENDIX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694944" y="13258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39A9"/>
                </a:solidFill>
                <a:latin typeface="Montserrat"/>
              </a:rPr>
              <a:t>Production checklist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694944" y="1636776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Create config/config.json locally or set Codespaces Secrets for OPENAI_API_KEY and OPENAI_BASE_URL.</a:t>
            </a:r>
          </a:p>
        </p:txBody>
      </p:sp>
      <p:sp>
        <p:nvSpPr>
          <p:cNvPr id="411" name="Oval 410"/>
          <p:cNvSpPr/>
          <p:nvPr/>
        </p:nvSpPr>
        <p:spPr>
          <a:xfrm>
            <a:off x="402336" y="17373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694944" y="2180844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Start the backend first, confirm the readiness response, then start Streamlit on port 8501.</a:t>
            </a:r>
          </a:p>
        </p:txBody>
      </p:sp>
      <p:sp>
        <p:nvSpPr>
          <p:cNvPr id="413" name="Oval 412"/>
          <p:cNvSpPr/>
          <p:nvPr/>
        </p:nvSpPr>
        <p:spPr>
          <a:xfrm>
            <a:off x="402336" y="22814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94944" y="2724912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Run a property-specific query and an evidence-display query before wider use.</a:t>
            </a:r>
          </a:p>
        </p:txBody>
      </p:sp>
      <p:sp>
        <p:nvSpPr>
          <p:cNvPr id="415" name="Oval 414"/>
          <p:cNvSpPr/>
          <p:nvPr/>
        </p:nvSpPr>
        <p:spPr>
          <a:xfrm>
            <a:off x="402336" y="28254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694944" y="3268980"/>
            <a:ext cx="6729984" cy="2788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39A9"/>
                </a:solidFill>
                <a:latin typeface="Montserrat"/>
              </a:rPr>
              <a:t>Known limitation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694944" y="3579876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The Accessible King case has Contextual Precision=.451 because the benchmark question is underspecified for the auto-answer strategy.</a:t>
            </a:r>
          </a:p>
        </p:txBody>
      </p:sp>
      <p:sp>
        <p:nvSpPr>
          <p:cNvPr id="418" name="Oval 417"/>
          <p:cNvSpPr/>
          <p:nvPr/>
        </p:nvSpPr>
        <p:spPr>
          <a:xfrm>
            <a:off x="402336" y="36804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694944" y="4357116"/>
            <a:ext cx="6729984" cy="324611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The focused clarification experiment reached Precision=.961; the benchmark question and retrieval baseline remain unchanged.</a:t>
            </a:r>
          </a:p>
        </p:txBody>
      </p:sp>
      <p:sp>
        <p:nvSpPr>
          <p:cNvPr id="420" name="Oval 419"/>
          <p:cNvSpPr/>
          <p:nvPr/>
        </p:nvSpPr>
        <p:spPr>
          <a:xfrm>
            <a:off x="402336" y="44577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6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400" b="1">
                <a:solidFill>
                  <a:srgbClr val="0E39A9"/>
                </a:solidFill>
                <a:latin typeface="Montserrat"/>
              </a:rPr>
              <a:t>Production Readiness and Handoff Notes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94944" y="1325880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Selected baseline: k=5 with chunk_size=512, overlap=64, MMR lambda=0.50, fetch_k=20, and CrossEncoder reranking.</a:t>
            </a:r>
          </a:p>
        </p:txBody>
      </p:sp>
      <p:sp>
        <p:nvSpPr>
          <p:cNvPr id="415" name="Oval 41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694944" y="2103120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Held-out result: 9/10 cases passed; weighted composite score 0.941.</a:t>
            </a:r>
          </a:p>
        </p:txBody>
      </p:sp>
      <p:sp>
        <p:nvSpPr>
          <p:cNvPr id="417" name="Oval 416"/>
          <p:cNvSpPr/>
          <p:nvPr/>
        </p:nvSpPr>
        <p:spPr>
          <a:xfrm>
            <a:off x="402336" y="2203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TextBox 417"/>
          <p:cNvSpPr txBox="1"/>
          <p:nvPr/>
        </p:nvSpPr>
        <p:spPr>
          <a:xfrm>
            <a:off x="694944" y="2647188"/>
            <a:ext cx="6729984" cy="51206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The application is runnable through the Flask backend and Streamlit frontend, locally or in GitHub Codespaces.</a:t>
            </a:r>
          </a:p>
        </p:txBody>
      </p:sp>
      <p:sp>
        <p:nvSpPr>
          <p:cNvPr id="419" name="Oval 418"/>
          <p:cNvSpPr/>
          <p:nvPr/>
        </p:nvSpPr>
        <p:spPr>
          <a:xfrm>
            <a:off x="402336" y="27477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TextBox 419"/>
          <p:cNvSpPr txBox="1"/>
          <p:nvPr/>
        </p:nvSpPr>
        <p:spPr>
          <a:xfrm>
            <a:off x="694944" y="3191256"/>
            <a:ext cx="6729984" cy="74523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Keep the benchmark question unchanged for evaluation; treat the remaining precision issue as a question/auto-answer limitation.</a:t>
            </a:r>
          </a:p>
        </p:txBody>
      </p:sp>
      <p:sp>
        <p:nvSpPr>
          <p:cNvPr id="421" name="Oval 420"/>
          <p:cNvSpPr/>
          <p:nvPr/>
        </p:nvSpPr>
        <p:spPr>
          <a:xfrm>
            <a:off x="402336" y="329184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TextBox 421"/>
          <p:cNvSpPr txBox="1"/>
          <p:nvPr/>
        </p:nvSpPr>
        <p:spPr>
          <a:xfrm>
            <a:off x="694944" y="3968496"/>
            <a:ext cx="6729984" cy="7132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Next operational step: add monitoring for insufficient context and review the single known failure before broader rollout.</a:t>
            </a:r>
          </a:p>
        </p:txBody>
      </p:sp>
      <p:sp>
        <p:nvSpPr>
          <p:cNvPr id="423" name="Oval 422"/>
          <p:cNvSpPr/>
          <p:nvPr/>
        </p:nvSpPr>
        <p:spPr>
          <a:xfrm>
            <a:off x="402336" y="406908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TextBox 423"/>
          <p:cNvSpPr txBox="1"/>
          <p:nvPr/>
        </p:nvSpPr>
        <p:spPr>
          <a:xfrm>
            <a:off x="694944" y="4713732"/>
            <a:ext cx="6729984" cy="182880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Handoff owner: raovutukoor1/aurora-stay-qna.</a:t>
            </a:r>
          </a:p>
        </p:txBody>
      </p:sp>
      <p:sp>
        <p:nvSpPr>
          <p:cNvPr id="425" name="Oval 424"/>
          <p:cNvSpPr/>
          <p:nvPr/>
        </p:nvSpPr>
        <p:spPr>
          <a:xfrm>
            <a:off x="402336" y="481431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222222"/>
      </a:dk1>
      <a:lt1>
        <a:srgbClr val="FFFFFF"/>
      </a:lt1>
      <a:dk2>
        <a:srgbClr val="222222"/>
      </a:dk2>
      <a:lt2>
        <a:srgbClr val="0E39A9"/>
      </a:lt2>
      <a:accent1>
        <a:srgbClr val="FFAB40"/>
      </a:accent1>
      <a:accent2>
        <a:srgbClr val="6F4294"/>
      </a:accent2>
      <a:accent3>
        <a:srgbClr val="FFA000"/>
      </a:accent3>
      <a:accent4>
        <a:srgbClr val="FFAB40"/>
      </a:accent4>
      <a:accent5>
        <a:srgbClr val="FFDF00"/>
      </a:accent5>
      <a:accent6>
        <a:srgbClr val="1974D5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