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621792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694944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219456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Built a source-grounded RAG assistant for Aurora Stays hotel-policy questions.</a:t>
            </a:r>
          </a:p>
        </p:txBody>
      </p:sp>
      <p:sp>
        <p:nvSpPr>
          <p:cNvPr id="193" name="Oval 1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Four policy PDFs are converted to structured Markdown, chunked, embedded, and indexed in FAISS.</a:t>
            </a:r>
          </a:p>
        </p:txBody>
      </p:sp>
      <p:sp>
        <p:nvSpPr>
          <p:cNvPr id="195" name="Oval 194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Selected baseline: k=5, MMR lambda=0.50, fetch_k=20, CrossEncoder reranking.</a:t>
            </a:r>
          </a:p>
        </p:txBody>
      </p:sp>
      <p:sp>
        <p:nvSpPr>
          <p:cNvPr id="197" name="Oval 19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Held-out result: 9/10 cases passed; composite score 0.941.</a:t>
            </a:r>
          </a:p>
        </p:txBody>
      </p:sp>
      <p:sp>
        <p:nvSpPr>
          <p:cNvPr id="199" name="Oval 198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Average metrics: Faithfulness 0.993 | Recall 0.977 | Precision 0.808 | Relevancy 0.939.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4046220"/>
            <a:ext cx="6729984" cy="63550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Main remaining issue: the Accessible King benchmark question is underspecified; a focused clarification experiment raised precision to 0.961.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5798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41239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42245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668012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768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Knowledge base: four selectable-text PDF policy guides.</a:t>
            </a:r>
          </a:p>
        </p:txBody>
      </p:sp>
      <p:sp>
        <p:nvSpPr>
          <p:cNvPr id="209" name="Oval 20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94944" y="163677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Coverage: room/property information; booking and cancellation; refunds and additional charges; conduct and accessibility.</a:t>
            </a:r>
          </a:p>
        </p:txBody>
      </p:sp>
      <p:sp>
        <p:nvSpPr>
          <p:cNvPr id="211" name="Oval 21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Source structure includes headings, policy sections, Markdown tables, and a six-property matrix.</a:t>
            </a:r>
          </a:p>
        </p:txBody>
      </p:sp>
      <p:sp>
        <p:nvSpPr>
          <p:cNvPr id="213" name="Oval 212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Properties represented: ASH-ATL, ASH-BOS, ASH-CHI, ASH-DEN, ASH-MIA, and ASH-SEA.</a:t>
            </a:r>
          </a:p>
        </p:txBody>
      </p:sp>
      <p:sp>
        <p:nvSpPr>
          <p:cNvPr id="215" name="Oval 214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OCR is disabled because the supplied PDFs contain selectable text.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40462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Chunks are enriched with source, section, property-code, and topic metadata for focused retrieval.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3677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Tokenizer maximum length: 128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194767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04825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49174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5923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35808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Domain-specific embeddings improve matching for hotel-policy terms such as late checkout, pet fees, and room features.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363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69948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Chunk size: 512 tokens; overlap: 64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281427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72491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Total chunks created: 43,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869948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2180844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281427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491739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59232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303580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31363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5798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Vector database: FAISS with 43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41401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724912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03580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1363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958084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56" name="Oval 255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94944" y="357987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58" name="Oval 257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94944" y="389077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39913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3677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47672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4825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25856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35915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80263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9032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50215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4279392"/>
            <a:ext cx="6729984" cy="402335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43799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414016"/>
            <a:ext cx="6729984" cy="12115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65760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7581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724912"/>
            <a:ext cx="6729984" cy="978408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73532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9888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20894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53288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The stronger judge model scores factual support, retrieval coverage, retrieval focus, and answer relevance.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6334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307695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317754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Faithfulness &gt;= 0.85: every important answer claim is supported by retrieved context.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Contextual Recall &gt;= 0.80: retrieved context contains information needed for the expected answer.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Contextual Precision &gt;= 0.75: relevant context is prioritized over unrelated content.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Answer Relevancy &gt;= 0.75: answer directly addresses the user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40462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Retrieval tuning matrix selected chunk_size=512, overlap=64, MMR lambda=0.50, and fetch_k=20.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 proxy coverage: 0.836; held-out test proxy coverage: 0.850.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Full DeepEval is the acceptance test; proxy coverage is used only to narrow candidates.</a:t>
            </a:r>
          </a:p>
        </p:txBody>
      </p:sp>
      <p:sp>
        <p:nvSpPr>
          <p:cNvPr id="309" name="Oval 30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4944" y="2958084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evaluation creates LLMTestCase objects with input, expected output, actual output, retrieval context, and reference context.</a:t>
            </a:r>
          </a:p>
        </p:txBody>
      </p:sp>
      <p:sp>
        <p:nvSpPr>
          <p:cNvPr id="311" name="Oval 31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373532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Cases are classified as AUTO ANSWER, ASSISTED REVIEW, or MANUAL LOOKUP from the composite score.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4279392"/>
            <a:ext cx="6729984" cy="402335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Result: baseline k=5 is the selected configuration by highest composite score.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43799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55648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562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53288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6334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307695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317754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85419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9547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Held-out DeepEval comparison (10 cases)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Baseline k=5     F=.993  R=.977  P=.808  AR=.939  Composite=.941  Pass=9/10</a:t>
            </a:r>
          </a:p>
        </p:txBody>
      </p:sp>
      <p:sp>
        <p:nvSpPr>
          <p:cNvPr id="322" name="Oval 321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Hybrid k=5       F=.995  R=.979  P=.787  AR=.922  Composite=.935  Pass=8/10</a:t>
            </a:r>
          </a:p>
        </p:txBody>
      </p:sp>
      <p:sp>
        <p:nvSpPr>
          <p:cNvPr id="324" name="Oval 323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Hybrid k=6       F=.993  R=.982  P=.781  AR=.929  Composite=.935  Pass=8/10</a:t>
            </a:r>
          </a:p>
        </p:txBody>
      </p:sp>
      <p:sp>
        <p:nvSpPr>
          <p:cNvPr id="326" name="Oval 325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94944" y="32689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752"/>
                </a:solidFill>
                <a:latin typeface="Montserrat"/>
              </a:rPr>
              <a:t>Selected: baseline k=5 because it has the highest weighted composite score.</a:t>
            </a:r>
          </a:p>
        </p:txBody>
      </p:sp>
      <p:sp>
        <p:nvSpPr>
          <p:cNvPr id="328" name="Oval 327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694944" y="38130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62A2A"/>
                </a:solidFill>
                <a:latin typeface="Montserrat"/>
              </a:rPr>
              <a:t>Only remaining failure: Accessible King room inclusions; Contextual Precision=.451.</a:t>
            </a:r>
          </a:p>
        </p:txBody>
      </p:sp>
      <p:sp>
        <p:nvSpPr>
          <p:cNvPr id="330" name="Oval 329"/>
          <p:cNvSpPr/>
          <p:nvPr/>
        </p:nvSpPr>
        <p:spPr>
          <a:xfrm>
            <a:off x="402336" y="3913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694944" y="4357116"/>
            <a:ext cx="6729984" cy="324611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benchmark question is underspecified. A focused clarification plus single-chunk retrieval scored Precision=.961 and passed all four metrics.</a:t>
            </a:r>
          </a:p>
        </p:txBody>
      </p:sp>
      <p:sp>
        <p:nvSpPr>
          <p:cNvPr id="332" name="Oval 331"/>
          <p:cNvSpPr/>
          <p:nvPr/>
        </p:nvSpPr>
        <p:spPr>
          <a:xfrm>
            <a:off x="402336" y="44577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The persisted FAISS index contains 43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72491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69948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lightweight readiness message.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281427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/v1/answer_with_relevant_chunks returns the generated answer and evidence chunks.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/v1/answer returns the generated answer only.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35798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41239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Container binding: 0.0.0.0:7860; local smoke tests use port 5000.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42245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Pinned backend dependencies are declared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 and Gunicorn 26.2.0 provide the API service runtime.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HuggingFace, LangChain Community, and LangChain OpenAI provide retrieval and generation integration.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sentence-transformers 6.1.0 and faiss-cpu 1.15.0 provide embeddings and vector search.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Docker build installs CPU-only PyTorch before installing the requirements file.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40462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backend application, FAISS artifact, and requirements into /app.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Installs CPU PyTorch and the pinned backend dependencies without pip cache.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Downloads HarishMaths/Hotel-Policy-Embedding at build time and sets HF_HOME=/app/huggingface.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689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TRANSFORMERS_OFFLINE=1 and HF_HUB_OFFLINE=1 prevent runtime model downloads.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38130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Starts one Gunicorn worker on port 7860 with a 120-second request timeout.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3913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backend address is supplied through BACKEND_URL; local default is http://localhost:5000.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50215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4279392"/>
            <a:ext cx="6729984" cy="402335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Validated locally with Streamlit on port 8501 and the Flask API on port 5000.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3799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Binds Streamlit to 0.0.0.0:8501 for Codespaces or container access.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2689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Set BACKEND_URL at runtime so the frontend can call the backend service or forwarded port.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Repository: github.com/raovutukoor1/aurora-stay-qna.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Latest published commit: 7fda05a — Publish latest Aurora Stays evaluation and presentation.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180844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Published groups include backend and frontend source, FAISS artifacts, the final executed notebook, evaluation CSVs, and the presentation pack.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supplied template and generated PPTX/PDF presentation files are included for handoff.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Credentials remain excluded: config/config.json, .env, and supplied token/config files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50215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180844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491740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Expected evidence includes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5923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2689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Endpoint: POST {BACKEND_URL}/v1/answer_with_relevant_chunks.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Payload includes query, k=5, temperature=0.0, and max_tokens=512.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Response fields include answer, relevant_chunks, model_name, and the generation parameters used.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The parking example returns a grounded comparison of the Atlanta and Miami fees with supporting chunks.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Use POST /v1/answer when only the final answer is required; use this endpoint for auditability.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57987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Accessible King case has Contextual Precision=.451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357116"/>
            <a:ext cx="6729984" cy="324611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4577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Production Readiness and Handoff Notes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1325880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Selected baseline: k=5 with chunk_size=512, overlap=64, MMR lambda=0.50, fetch_k=20, and CrossEncoder reranking.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21031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Held-out result: 9/10 cases passed; weighted composite score 0.941.</a:t>
            </a:r>
          </a:p>
        </p:txBody>
      </p:sp>
      <p:sp>
        <p:nvSpPr>
          <p:cNvPr id="417" name="Oval 416"/>
          <p:cNvSpPr/>
          <p:nvPr/>
        </p:nvSpPr>
        <p:spPr>
          <a:xfrm>
            <a:off x="402336" y="2203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694944" y="264718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application is runnable through the Flask backend and Streamlit frontend, locally or in GitHub Codespaces.</a:t>
            </a:r>
          </a:p>
        </p:txBody>
      </p:sp>
      <p:sp>
        <p:nvSpPr>
          <p:cNvPr id="419" name="Oval 418"/>
          <p:cNvSpPr/>
          <p:nvPr/>
        </p:nvSpPr>
        <p:spPr>
          <a:xfrm>
            <a:off x="402336" y="27477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94944" y="319125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Keep the benchmark question unchanged for evaluation; treat the remaining precision issue as a question/auto-answer limitation.</a:t>
            </a:r>
          </a:p>
        </p:txBody>
      </p:sp>
      <p:sp>
        <p:nvSpPr>
          <p:cNvPr id="421" name="Oval 420"/>
          <p:cNvSpPr/>
          <p:nvPr/>
        </p:nvSpPr>
        <p:spPr>
          <a:xfrm>
            <a:off x="402336" y="329184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TextBox 421"/>
          <p:cNvSpPr txBox="1"/>
          <p:nvPr/>
        </p:nvSpPr>
        <p:spPr>
          <a:xfrm>
            <a:off x="694944" y="3968496"/>
            <a:ext cx="6729984" cy="7132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Next operational step: add monitoring for insufficient context and review the single known failure before broader rollout.</a:t>
            </a:r>
          </a:p>
        </p:txBody>
      </p:sp>
      <p:sp>
        <p:nvSpPr>
          <p:cNvPr id="423" name="Oval 422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TextBox 423"/>
          <p:cNvSpPr txBox="1"/>
          <p:nvPr/>
        </p:nvSpPr>
        <p:spPr>
          <a:xfrm>
            <a:off x="694944" y="4713732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Handoff owner: raovutukoor1/aurora-stay-qna.</a:t>
            </a:r>
          </a:p>
        </p:txBody>
      </p:sp>
      <p:sp>
        <p:nvSpPr>
          <p:cNvPr id="425" name="Oval 424"/>
          <p:cNvSpPr/>
          <p:nvPr/>
        </p:nvSpPr>
        <p:spPr>
          <a:xfrm>
            <a:off x="402336" y="48143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