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y="5143500" cx="9144000"/>
  <p:notesSz cx="6858000" cy="9144000"/>
  <p:embeddedFontLst>
    <p:embeddedFont>
      <p:font typeface="Nunito SemiBold"/>
      <p:regular r:id="rId40"/>
      <p:bold r:id="rId41"/>
      <p:italic r:id="rId42"/>
      <p:boldItalic r:id="rId43"/>
    </p:embeddedFont>
    <p:embeddedFont>
      <p:font typeface="Nunito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Nunito ExtraBold"/>
      <p:bold r:id="rId52"/>
      <p:boldItalic r:id="rId53"/>
    </p:embeddedFont>
    <p:embeddedFont>
      <p:font typeface="Century Gothic"/>
      <p:regular r:id="rId54"/>
      <p:bold r:id="rId55"/>
      <p:italic r:id="rId56"/>
      <p:boldItalic r:id="rId5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698273-5225-4557-BD2E-0B8C5CF09AB3}">
  <a:tblStyle styleId="{A5698273-5225-4557-BD2E-0B8C5CF09A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40" Type="http://schemas.openxmlformats.org/officeDocument/2006/relationships/font" Target="fonts/NunitoSemiBold-regular.fntdata"/><Relationship Id="rId41" Type="http://schemas.openxmlformats.org/officeDocument/2006/relationships/font" Target="fonts/NunitoSemiBold-bold.fntdata"/><Relationship Id="rId42" Type="http://schemas.openxmlformats.org/officeDocument/2006/relationships/font" Target="fonts/NunitoSemiBold-italic.fntdata"/><Relationship Id="rId43" Type="http://schemas.openxmlformats.org/officeDocument/2006/relationships/font" Target="fonts/NunitoSemiBold-boldItalic.fntdata"/><Relationship Id="rId44" Type="http://schemas.openxmlformats.org/officeDocument/2006/relationships/font" Target="fonts/Nunito-regular.fntdata"/><Relationship Id="rId45" Type="http://schemas.openxmlformats.org/officeDocument/2006/relationships/font" Target="fonts/Nunito-bold.fntdata"/><Relationship Id="rId46" Type="http://schemas.openxmlformats.org/officeDocument/2006/relationships/font" Target="fonts/Nunito-italic.fntdata"/><Relationship Id="rId47" Type="http://schemas.openxmlformats.org/officeDocument/2006/relationships/font" Target="fonts/Nunito-boldItalic.fntdata"/><Relationship Id="rId48" Type="http://schemas.openxmlformats.org/officeDocument/2006/relationships/font" Target="fonts/Montserrat-regular.fntdata"/><Relationship Id="rId49" Type="http://schemas.openxmlformats.org/officeDocument/2006/relationships/font" Target="fonts/Montserrat-bold.fntdata"/><Relationship Id="rId50" Type="http://schemas.openxmlformats.org/officeDocument/2006/relationships/font" Target="fonts/Montserrat-italic.fntdata"/><Relationship Id="rId51" Type="http://schemas.openxmlformats.org/officeDocument/2006/relationships/font" Target="fonts/Montserrat-boldItalic.fntdata"/><Relationship Id="rId52" Type="http://schemas.openxmlformats.org/officeDocument/2006/relationships/font" Target="fonts/NunitoExtraBold-bold.fntdata"/><Relationship Id="rId53" Type="http://schemas.openxmlformats.org/officeDocument/2006/relationships/font" Target="fonts/NunitoExtraBold-boldItalic.fntdata"/><Relationship Id="rId54" Type="http://schemas.openxmlformats.org/officeDocument/2006/relationships/font" Target="fonts/CenturyGothic-regular.fntdata"/><Relationship Id="rId55" Type="http://schemas.openxmlformats.org/officeDocument/2006/relationships/font" Target="fonts/CenturyGothic-bold.fntdata"/><Relationship Id="rId56" Type="http://schemas.openxmlformats.org/officeDocument/2006/relationships/font" Target="fonts/CenturyGothic-italic.fntdata"/><Relationship Id="rId57" Type="http://schemas.openxmlformats.org/officeDocument/2006/relationships/font" Target="fonts/CenturyGothic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c275fce4fb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c275fce4fb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1ee84572765e4f1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h1ee84572765e4f1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1ee84572765e4f1b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h1ee84572765e4f1b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ee84572765e4f1b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h1ee84572765e4f1b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ee84572765e4f1b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h1ee84572765e4f1b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ee84572765e4f1b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ee84572765e4f1b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ee84572765e4f1b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1ee84572765e4f1b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1ee84572765e4f1b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h1ee84572765e4f1b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ee84572765e4f1b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ee84572765e4f1b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ee84572765e4f1b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1ee84572765e4f1b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h1ee84572765e4f1b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h1ee84572765e4f1b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1ee84572765e4f1b_1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h1ee84572765e4f1b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ee84572765e4f1b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h1ee84572765e4f1b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ee84572765e4f1b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h1ee84572765e4f1b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ee84572765e4f1b_1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h1ee84572765e4f1b_1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1ee84572765e4f1b_1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h1ee84572765e4f1b_1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ee84572765e4f1b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h1ee84572765e4f1b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1ee84572765e4f1b_1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h1ee84572765e4f1b_1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h1ee84572765e4f1b_1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h1ee84572765e4f1b_1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h1ee84572765e4f1b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h1ee84572765e4f1b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h1ee84572765e4f1b_1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h1ee84572765e4f1b_1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h1ee84572765e4f1b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" name="Google Shape;380;h1ee84572765e4f1b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h1ee84572765e4f1b_1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h1ee84572765e4f1b_1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h1ee84572765e4f1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h1ee84572765e4f1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p5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p11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1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/>
        </p:txBody>
      </p:sp>
      <p:sp>
        <p:nvSpPr>
          <p:cNvPr id="55" name="Google Shape;55;p12"/>
          <p:cNvSpPr txBox="1"/>
          <p:nvPr>
            <p:ph idx="1" type="body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0" type="dt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2"/>
          <p:cNvSpPr txBox="1"/>
          <p:nvPr>
            <p:ph idx="11" type="ftr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/>
          <p:nvPr>
            <p:ph idx="10" type="dt"/>
          </p:nvPr>
        </p:nvSpPr>
        <p:spPr>
          <a:xfrm>
            <a:off x="457200" y="4857749"/>
            <a:ext cx="2133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3"/>
          <p:cNvSpPr txBox="1"/>
          <p:nvPr>
            <p:ph idx="11" type="ftr"/>
          </p:nvPr>
        </p:nvSpPr>
        <p:spPr>
          <a:xfrm>
            <a:off x="2640596" y="4857749"/>
            <a:ext cx="550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12" type="sldNum"/>
          </p:nvPr>
        </p:nvSpPr>
        <p:spPr>
          <a:xfrm>
            <a:off x="8204396" y="4857749"/>
            <a:ext cx="73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ransition spd="med">
    <p:fade thruBlk="1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4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 Only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 Only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 Only_3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90424" y="497078"/>
            <a:ext cx="83631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OBJECT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2938259" y="1851799"/>
            <a:ext cx="32676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5200">
                <a:solidFill>
                  <a:srgbClr val="365F9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OBJECT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 1">
  <p:cSld name="OBJECT_1_1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43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1" type="ftr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0" type="dt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12" type="sldNum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 sz="800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 ">
  <p:cSld name="TITLE_AND_BODY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 1">
  <p:cSld name="Blank 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5" name="Google Shape;125;p26"/>
          <p:cNvPicPr preferRelativeResize="0"/>
          <p:nvPr/>
        </p:nvPicPr>
        <p:blipFill rotWithShape="1">
          <a:blip r:embed="rId2">
            <a:alphaModFix/>
          </a:blip>
          <a:srcRect b="19147" l="42816" r="37294" t="18360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6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6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Power Ahead!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128" name="Google Shape;12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ctrTitle"/>
          </p:nvPr>
        </p:nvSpPr>
        <p:spPr>
          <a:xfrm>
            <a:off x="1260908" y="717750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1" name="Google Shape;131;p27"/>
          <p:cNvSpPr txBox="1"/>
          <p:nvPr>
            <p:ph idx="1" type="subTitle"/>
          </p:nvPr>
        </p:nvSpPr>
        <p:spPr>
          <a:xfrm>
            <a:off x="1260902" y="2770350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134" name="Google Shape;134;p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37" name="Google Shape;137;p29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8" name="Google Shape;138;p2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141" name="Google Shape;141;p30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42" name="Google Shape;142;p3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50" name="Google Shape;150;p3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3" name="Google Shape;153;p3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7" name="Google Shape;157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8" name="Google Shape;158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59" name="Google Shape;159;p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17" name="Google Shape;117;p25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8" name="Google Shape;118;p2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25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1" name="Google Shape;121;p25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5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6"/>
          <p:cNvSpPr txBox="1"/>
          <p:nvPr/>
        </p:nvSpPr>
        <p:spPr>
          <a:xfrm>
            <a:off x="1627632" y="1227550"/>
            <a:ext cx="621792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4100" b="1">
                <a:solidFill>
                  <a:srgbClr val="0E39A9"/>
                </a:solidFill>
                <a:latin typeface="Nunito"/>
              </a:rPr>
              <a:t>Aurora Stays Q&amp;A</a:t>
            </a:r>
          </a:p>
        </p:txBody>
      </p:sp>
      <p:sp>
        <p:nvSpPr>
          <p:cNvPr id="167" name="Google Shape;167;p36"/>
          <p:cNvSpPr txBox="1"/>
          <p:nvPr/>
        </p:nvSpPr>
        <p:spPr>
          <a:xfrm>
            <a:off x="1627632" y="1940550"/>
            <a:ext cx="694944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300">
                <a:solidFill>
                  <a:srgbClr val="0E39A9"/>
                </a:solidFill>
                <a:latin typeface="Nunito"/>
              </a:rPr>
              <a:t>Retrieval-Augmented Generation (RAG) POC</a:t>
            </a:r>
          </a:p>
        </p:txBody>
      </p:sp>
      <p:sp>
        <p:nvSpPr>
          <p:cNvPr id="168" name="Google Shape;168;p36"/>
          <p:cNvSpPr txBox="1"/>
          <p:nvPr/>
        </p:nvSpPr>
        <p:spPr>
          <a:xfrm>
            <a:off x="1627632" y="2586175"/>
            <a:ext cx="384048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>
                <a:solidFill>
                  <a:srgbClr val="0E39A9"/>
                </a:solidFill>
                <a:latin typeface="Nunito"/>
              </a:rPr>
              <a:t>14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Contents / Agenda</a:t>
            </a:r>
          </a:p>
        </p:txBody>
      </p:sp>
      <p:sp>
        <p:nvSpPr>
          <p:cNvPr id="174" name="Google Shape;174;p37"/>
          <p:cNvSpPr/>
          <p:nvPr/>
        </p:nvSpPr>
        <p:spPr>
          <a:xfrm>
            <a:off x="356221" y="113738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5" name="Google Shape;175;p37"/>
          <p:cNvSpPr txBox="1"/>
          <p:nvPr/>
        </p:nvSpPr>
        <p:spPr>
          <a:xfrm>
            <a:off x="644599" y="10133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Executive Summary</a:t>
            </a:r>
          </a:p>
        </p:txBody>
      </p:sp>
      <p:sp>
        <p:nvSpPr>
          <p:cNvPr id="176" name="Google Shape;176;p37"/>
          <p:cNvSpPr/>
          <p:nvPr/>
        </p:nvSpPr>
        <p:spPr>
          <a:xfrm>
            <a:off x="356221" y="160868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7" name="Google Shape;177;p37"/>
          <p:cNvSpPr txBox="1"/>
          <p:nvPr/>
        </p:nvSpPr>
        <p:spPr>
          <a:xfrm>
            <a:off x="644599" y="148775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Business Problem and Solution Approach</a:t>
            </a:r>
          </a:p>
        </p:txBody>
      </p:sp>
      <p:sp>
        <p:nvSpPr>
          <p:cNvPr id="178" name="Google Shape;178;p37"/>
          <p:cNvSpPr/>
          <p:nvPr/>
        </p:nvSpPr>
        <p:spPr>
          <a:xfrm>
            <a:off x="356221" y="207999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37"/>
          <p:cNvSpPr txBox="1"/>
          <p:nvPr/>
        </p:nvSpPr>
        <p:spPr>
          <a:xfrm>
            <a:off x="644599" y="196213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Data Understanding</a:t>
            </a:r>
          </a:p>
        </p:txBody>
      </p:sp>
      <p:sp>
        <p:nvSpPr>
          <p:cNvPr id="180" name="Google Shape;180;p37"/>
          <p:cNvSpPr/>
          <p:nvPr/>
        </p:nvSpPr>
        <p:spPr>
          <a:xfrm>
            <a:off x="356221" y="255129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1" name="Google Shape;181;p37"/>
          <p:cNvSpPr txBox="1"/>
          <p:nvPr/>
        </p:nvSpPr>
        <p:spPr>
          <a:xfrm>
            <a:off x="644599" y="243651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Retrieval-Augmented Generation System</a:t>
            </a:r>
          </a:p>
        </p:txBody>
      </p:sp>
      <p:sp>
        <p:nvSpPr>
          <p:cNvPr id="182" name="Google Shape;182;p37"/>
          <p:cNvSpPr/>
          <p:nvPr/>
        </p:nvSpPr>
        <p:spPr>
          <a:xfrm>
            <a:off x="356227" y="302260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3" name="Google Shape;183;p37"/>
          <p:cNvSpPr txBox="1"/>
          <p:nvPr/>
        </p:nvSpPr>
        <p:spPr>
          <a:xfrm>
            <a:off x="644605" y="291089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84" name="Google Shape;184;p37"/>
          <p:cNvSpPr/>
          <p:nvPr/>
        </p:nvSpPr>
        <p:spPr>
          <a:xfrm>
            <a:off x="356227" y="349390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5" name="Google Shape;185;p37"/>
          <p:cNvSpPr txBox="1"/>
          <p:nvPr/>
        </p:nvSpPr>
        <p:spPr>
          <a:xfrm>
            <a:off x="644605" y="33852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Deployment, Inference and Handoff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02920" y="932688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Executive Summary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Built a source-grounded RAG assistant for Aurora Stays hotel-policy questions.</a:t>
            </a:r>
          </a:p>
        </p:txBody>
      </p:sp>
      <p:sp>
        <p:nvSpPr>
          <p:cNvPr id="193" name="Oval 1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Four policy PDFs are converted to structured Markdown, chunked, embedded, and indexed in FAISS.</a:t>
            </a:r>
          </a:p>
        </p:txBody>
      </p:sp>
      <p:sp>
        <p:nvSpPr>
          <p:cNvPr id="195" name="Oval 19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Selected baseline: k=5, MMR lambda=0.50, fetch_k=20, CrossEncoder reranking.</a:t>
            </a:r>
          </a:p>
        </p:txBody>
      </p:sp>
      <p:sp>
        <p:nvSpPr>
          <p:cNvPr id="197" name="Oval 19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94944" y="27660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result: 9/10 cases passed; composite score 0.941.</a:t>
            </a:r>
          </a:p>
        </p:txBody>
      </p:sp>
      <p:sp>
        <p:nvSpPr>
          <p:cNvPr id="199" name="Oval 198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Average metrics: Faithfulness 0.993 | Recall 0.977 | Precision 0.808 | Relevancy 0.939.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353415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Main remaining issue: the Accessible King benchmark question is underspecified; a focused clarification experiment raised precision to 0.961.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Business Problem Overview and Solution Approach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Problem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Staff handle about 1,200 guest queries per week; roughly 40% require multiple policy documents.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Manual lookup takes 8–12 minutes and creates a 15–20% risk of incomplete or incorrect answers.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Property-specific fees, room features, cancellation rules, and accessibility guidance are easy to mix up.</a:t>
            </a:r>
          </a:p>
        </p:txBody>
      </p:sp>
      <p:sp>
        <p:nvSpPr>
          <p:cNvPr id="205" name="Oval 20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Solution approach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94944" y="334213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Extract policy PDFs with Docling; preserve headings and tables as Markdown.</a:t>
            </a:r>
          </a:p>
        </p:txBody>
      </p:sp>
      <p:sp>
        <p:nvSpPr>
          <p:cNvPr id="208" name="Oval 20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4944" y="3822191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token-aware chunking, domain embeddings, FAISS retrieval, MMR, and CrossEncoder reranking.</a:t>
            </a:r>
          </a:p>
        </p:txBody>
      </p:sp>
      <p:sp>
        <p:nvSpPr>
          <p:cNvPr id="210" name="Oval 209"/>
          <p:cNvSpPr/>
          <p:nvPr/>
        </p:nvSpPr>
        <p:spPr>
          <a:xfrm>
            <a:off x="402336" y="39227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94944" y="4302252"/>
            <a:ext cx="6729984" cy="37947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Generate concise answers with GPT-4o-mini using a strict retrieved-context-only prompt.</a:t>
            </a:r>
          </a:p>
        </p:txBody>
      </p:sp>
      <p:sp>
        <p:nvSpPr>
          <p:cNvPr id="212" name="Oval 211"/>
          <p:cNvSpPr/>
          <p:nvPr/>
        </p:nvSpPr>
        <p:spPr>
          <a:xfrm>
            <a:off x="402336" y="44028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Knowledge base: four selectable-text PDF policy guides.</a:t>
            </a:r>
          </a:p>
        </p:txBody>
      </p:sp>
      <p:sp>
        <p:nvSpPr>
          <p:cNvPr id="209" name="Oval 20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Coverage: room/property information; booking and cancellation; refunds and additional charges; conduct and accessibility.</a:t>
            </a:r>
          </a:p>
        </p:txBody>
      </p:sp>
      <p:sp>
        <p:nvSpPr>
          <p:cNvPr id="211" name="Oval 21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Source structure includes headings, policy sections, Markdown tables, and a six-property matrix.</a:t>
            </a:r>
          </a:p>
        </p:txBody>
      </p:sp>
      <p:sp>
        <p:nvSpPr>
          <p:cNvPr id="213" name="Oval 21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Properties represented: ASH-ATL, ASH-BOS, ASH-CHI, ASH-DEN, ASH-MIA, and ASH-SEA.</a:t>
            </a:r>
          </a:p>
        </p:txBody>
      </p:sp>
      <p:sp>
        <p:nvSpPr>
          <p:cNvPr id="215" name="Oval 21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OCR is disabled because the supplied PDFs contain selectable text.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Chunks are enriched with source, section, property-code, and topic metadata for focused retrieval.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Embedding Model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 model: HarishMaths/Hotel-Policy-Embedding.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Tokenizer maximum length: 128 tokens.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94944" y="190195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Embeddings run on CPU with normalized vectors and progress rendering disabled.</a:t>
            </a:r>
          </a:p>
        </p:txBody>
      </p:sp>
      <p:sp>
        <p:nvSpPr>
          <p:cNvPr id="221" name="Oval 220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94944" y="238201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same model is used when building and loading the FAISS index.</a:t>
            </a:r>
          </a:p>
        </p:txBody>
      </p:sp>
      <p:sp>
        <p:nvSpPr>
          <p:cNvPr id="223" name="Oval 222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286207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Domain-specific embeddings improve matching for hotel-policy terms such as late checkout, pet fees, and room features.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29626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Chunker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Chunker: RecursiveCharacterTextSplitter.from_huggingface_tokenizer.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18059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 size: 512 tokens; overlap: 64 tokens.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Split priority: paragraph, line, heading, sentence, word, then character boundaries.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Atomic property rows are added for property-matrix entries so a single property and fee can be retrieved precisely.</a:t>
            </a:r>
          </a:p>
        </p:txBody>
      </p:sp>
      <p:sp>
        <p:nvSpPr>
          <p:cNvPr id="231" name="Oval 230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added after splitting to preserve section, topic, and property identity.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 Documents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Total chunks created: 43, including atomic property rows.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Example focused chunk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## Property-specific matrix | Property: ASH-MIA</a:t>
            </a:r>
          </a:p>
        </p:txBody>
      </p:sp>
      <p:sp>
        <p:nvSpPr>
          <p:cNvPr id="236" name="Oval 235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94944" y="21899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 | Parking: Valet, $55 per night | Pets: $100 per stay; 2 pets max</a:t>
            </a:r>
          </a:p>
        </p:txBody>
      </p:sp>
      <p:sp>
        <p:nvSpPr>
          <p:cNvPr id="238" name="Oval 237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4944" y="26700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One-property rows reduce contamination from unrelated properties and broad policy sections.</a:t>
            </a:r>
          </a:p>
        </p:txBody>
      </p:sp>
      <p:sp>
        <p:nvSpPr>
          <p:cNvPr id="240" name="Oval 239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94944" y="3150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Each chunk carries source, section, property_codes, and topics metadata.</a:t>
            </a:r>
          </a:p>
        </p:txBody>
      </p:sp>
      <p:sp>
        <p:nvSpPr>
          <p:cNvPr id="242" name="Oval 241"/>
          <p:cNvSpPr/>
          <p:nvPr/>
        </p:nvSpPr>
        <p:spPr>
          <a:xfrm>
            <a:off x="402336" y="32506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Vector database: FAISS with 43 normalized document vectors.</a:t>
            </a:r>
          </a:p>
        </p:txBody>
      </p:sp>
      <p:sp>
        <p:nvSpPr>
          <p:cNvPr id="241" name="Oval 24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Index is persisted for the backend under backend/faiss_index.</a:t>
            </a:r>
          </a:p>
        </p:txBody>
      </p:sp>
      <p:sp>
        <p:nvSpPr>
          <p:cNvPr id="243" name="Oval 24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Final retrieval setting: k=5 chunks.</a:t>
            </a:r>
          </a:p>
        </p:txBody>
      </p:sp>
      <p:sp>
        <p:nvSpPr>
          <p:cNvPr id="245" name="Oval 244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694944" y="2189988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search uses MMR lambda=0.50 and fetch_k=20.</a:t>
            </a:r>
          </a:p>
        </p:txBody>
      </p:sp>
      <p:sp>
        <p:nvSpPr>
          <p:cNvPr id="247" name="Oval 246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24780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CrossEncoder ms-marco-MiniLM-L-6-v2 reranks candidates; topic and property metadata provide additional boosts.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25786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 - Retrieval Function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Query: What are the parking fees at the Atlanta and Miami hotels?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 routing identifies ASH-ATL and ASH-MIA; topic routing identifies parking.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chunks are retrieved with MMR, then reranked for direct relevance.</a:t>
            </a:r>
          </a:p>
        </p:txBody>
      </p:sp>
      <p:sp>
        <p:nvSpPr>
          <p:cNvPr id="253" name="Oval 252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4944" y="27660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Relevant evidence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ASH-ATL Midtown: self parking, $28 per night.</a:t>
            </a:r>
          </a:p>
        </p:txBody>
      </p:sp>
      <p:sp>
        <p:nvSpPr>
          <p:cNvPr id="256" name="Oval 255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694944" y="334213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Brickell: valet, $55 per night.</a:t>
            </a:r>
          </a:p>
        </p:txBody>
      </p:sp>
      <p:sp>
        <p:nvSpPr>
          <p:cNvPr id="258" name="Oval 25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94944" y="363016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final context contains the two requested property rows instead of unrelated policy sections.</a:t>
            </a:r>
          </a:p>
        </p:txBody>
      </p:sp>
      <p:sp>
        <p:nvSpPr>
          <p:cNvPr id="260" name="Oval 259"/>
          <p:cNvSpPr/>
          <p:nvPr/>
        </p:nvSpPr>
        <p:spPr>
          <a:xfrm>
            <a:off x="402336" y="3730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Load the LLM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Generator: OpenAI-compatible ChatOpenAI wrapper.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Model: gpt-4o-mini.</a:t>
            </a:r>
          </a:p>
        </p:txBody>
      </p:sp>
      <p:sp>
        <p:nvSpPr>
          <p:cNvPr id="259" name="Oval 25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temperature=0.0 | top_p=1.0 | max_tokens=512.</a:t>
            </a:r>
          </a:p>
        </p:txBody>
      </p:sp>
      <p:sp>
        <p:nvSpPr>
          <p:cNvPr id="261" name="Oval 260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94944" y="21899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 and base URL are loaded from environment/configuration rather than hard-coded.</a:t>
            </a:r>
          </a:p>
        </p:txBody>
      </p:sp>
      <p:sp>
        <p:nvSpPr>
          <p:cNvPr id="263" name="Oval 262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26700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Deterministic settings favor repeatable, concise policy answers for evaluation and operations.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Generation Prompt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inputs: user query + retrieved policy information.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Core system prompt: You are the Aurora Stays policy assistant. Use only the retrieved policy context to answer.</a:t>
            </a:r>
          </a:p>
        </p:txBody>
      </p:sp>
      <p:sp>
        <p:nvSpPr>
          <p:cNvPr id="267" name="Oval 266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only information explicitly supported by retrieved policy text.</a:t>
            </a:r>
          </a:p>
        </p:txBody>
      </p:sp>
      <p:sp>
        <p:nvSpPr>
          <p:cNvPr id="269" name="Oval 268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Include relevant conditions, exclusions, limits, exceptions, and coverage details.</a:t>
            </a:r>
          </a:p>
        </p:txBody>
      </p:sp>
      <p:sp>
        <p:nvSpPr>
          <p:cNvPr id="271" name="Oval 270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Focus on the question; omit unrelated content and do not invent facts.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353415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If evidence is insufficient, return: The available policy documents do not contain enough information to answer this question.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4215383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Additional guards focus Advance Purchase, Accessible King, and late-checkout questions on their relevant evidence.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RAG Function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Pipeline: query -&gt; retrieve top-k chunks -&gt; generate grounded answer -&gt; return answer and evidence.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query: What is the cancellation policy for a flexible reservation?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2286000"/>
            <a:ext cx="6729984" cy="8503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answer: Flexible rates can normally be canceled by 6:00 PM local property time one day before arrival without a room charge. Later cancellation or no-show may be charged one night plus tax; the confirmation controls if it differs.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94944" y="31683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response endpoint can return the answer alone or the answer plus relevant chunks for verification.</a:t>
            </a:r>
          </a:p>
        </p:txBody>
      </p:sp>
      <p:sp>
        <p:nvSpPr>
          <p:cNvPr id="279" name="Oval 278"/>
          <p:cNvSpPr/>
          <p:nvPr/>
        </p:nvSpPr>
        <p:spPr>
          <a:xfrm>
            <a:off x="402336" y="32689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Evaluation Data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Development evaluation file: data/evaluation.csv.</a:t>
            </a:r>
          </a:p>
        </p:txBody>
      </p:sp>
      <p:sp>
        <p:nvSpPr>
          <p:cNvPr id="281" name="Oval 28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records with question, expected answer, and ground-truth relevant context.</a:t>
            </a:r>
          </a:p>
        </p:txBody>
      </p:sp>
      <p:sp>
        <p:nvSpPr>
          <p:cNvPr id="283" name="Oval 28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What time can I check in at ASH-CHI Loop, and when do I need to be out?</a:t>
            </a:r>
          </a:p>
        </p:txBody>
      </p:sp>
      <p:sp>
        <p:nvSpPr>
          <p:cNvPr id="285" name="Oval 284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94944" y="257403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Standard check-in is 3:00 PM and standard check-out is 12:00 PM local property time; early arrival and late departure depend on availability and approval.</a:t>
            </a:r>
          </a:p>
        </p:txBody>
      </p:sp>
      <p:sp>
        <p:nvSpPr>
          <p:cNvPr id="287" name="Oval 28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325526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Multi-context records use &lt;&gt; separators so relevant policy sections can be evaluated together.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Model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Judge model: gpt-4o through the DeepEval OpenAIModel wrapper.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94944" y="17327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generator remains gpt-4o-mini with temperature=0.0, top_p=1.0, and max_tokens=512.</a:t>
            </a:r>
          </a:p>
        </p:txBody>
      </p:sp>
      <p:sp>
        <p:nvSpPr>
          <p:cNvPr id="291" name="Oval 290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94944" y="22128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stronger judge model scores factual support, retrieval coverage, retrieval focus, and answer relevance.</a:t>
            </a:r>
          </a:p>
        </p:txBody>
      </p:sp>
      <p:sp>
        <p:nvSpPr>
          <p:cNvPr id="293" name="Oval 292"/>
          <p:cNvSpPr/>
          <p:nvPr/>
        </p:nvSpPr>
        <p:spPr>
          <a:xfrm>
            <a:off x="402336" y="23134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694944" y="26929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Evaluations run synchronously so each test case has a stable, auditable metric result.</a:t>
            </a:r>
          </a:p>
        </p:txBody>
      </p:sp>
      <p:sp>
        <p:nvSpPr>
          <p:cNvPr id="295" name="Oval 294"/>
          <p:cNvSpPr/>
          <p:nvPr/>
        </p:nvSpPr>
        <p:spPr>
          <a:xfrm>
            <a:off x="402336" y="27934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Metrics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Faithfulness &gt;= 0.85: every important answer claim is supported by retrieved context.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Recall &gt;= 0.80: retrieved context contains information needed for the expected answer.</a:t>
            </a:r>
          </a:p>
        </p:txBody>
      </p:sp>
      <p:sp>
        <p:nvSpPr>
          <p:cNvPr id="299" name="Oval 29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Precision &gt;= 0.75: relevant context is prioritized over unrelated content.</a:t>
            </a:r>
          </a:p>
        </p:txBody>
      </p:sp>
      <p:sp>
        <p:nvSpPr>
          <p:cNvPr id="301" name="Oval 300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Answer Relevancy &gt;= 0.75: answer directly addresses the user question.</a:t>
            </a:r>
          </a:p>
        </p:txBody>
      </p:sp>
      <p:sp>
        <p:nvSpPr>
          <p:cNvPr id="303" name="Oval 302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Composite = 0.35F + 0.25Recall + 0.20Precision + 0.20Relevancy.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37261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case passes only when all four metric thresholds are met.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Retrieval tuning matrix selected chunk_size=512, overlap=64, MMR lambda=0.50, and fetch_k=20.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 proxy coverage: 0.836; held-out test proxy coverage: 0.850.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Full DeepEval is the acceptance test; proxy coverage is used only to narrow candidates.</a:t>
            </a:r>
          </a:p>
        </p:txBody>
      </p:sp>
      <p:sp>
        <p:nvSpPr>
          <p:cNvPr id="309" name="Oval 30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694944" y="276606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evaluation creates LLMTestCase objects with input, expected output, actual output, retrieval context, and reference context.</a:t>
            </a:r>
          </a:p>
        </p:txBody>
      </p:sp>
      <p:sp>
        <p:nvSpPr>
          <p:cNvPr id="311" name="Oval 31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Output artifacts: deepeval_options_summary.csv and deepeval_options_cases.csv.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39273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Cases are classified as AUTO ANSWER, ASSISTED REVIEW, or MANUAL LOOKUP from the composite score.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4407408"/>
            <a:ext cx="6729984" cy="274319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Result: baseline k=5 is the selected configuration by highest composite score.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45079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Test Data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file: data/test.xlsx.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173278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unseen questions covering cancellation, discounts, room occupancy, accessibility, parking, breakfast, rate changes, checkout, pets, and incidental holds.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24140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How many people can stay in a Double Queen room?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94944" y="289407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Up to 4 guests, subject to fire-code and property occupancy limits; recheck the room and rate if the group size changes.</a:t>
            </a:r>
          </a:p>
        </p:txBody>
      </p:sp>
      <p:sp>
        <p:nvSpPr>
          <p:cNvPr id="319" name="Oval 318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357530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held-out set is used only for final comparison and selection of the baseline.</a:t>
            </a:r>
          </a:p>
        </p:txBody>
      </p:sp>
      <p:sp>
        <p:nvSpPr>
          <p:cNvPr id="321" name="Oval 320"/>
          <p:cNvSpPr/>
          <p:nvPr/>
        </p:nvSpPr>
        <p:spPr>
          <a:xfrm>
            <a:off x="402336" y="36758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case-level output — selected baseline k=5</a:t>
            </a:r>
          </a:p>
        </p:txBody>
      </p:sp>
      <p:sp>
        <p:nvSpPr>
          <p:cNvPr id="321" name="Oval 32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Case 01 | OTA cancellation/refund | PASS | Composite .944</a:t>
            </a:r>
          </a:p>
        </p:txBody>
      </p:sp>
      <p:sp>
        <p:nvSpPr>
          <p:cNvPr id="323" name="Oval 32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Case 02 | Member discount/cancellation | PASS | Composite .956</a:t>
            </a:r>
          </a:p>
        </p:txBody>
      </p:sp>
      <p:sp>
        <p:nvSpPr>
          <p:cNvPr id="325" name="Oval 324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694944" y="2189988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Case 03 | Double Queen occupancy | PASS | Composite .988</a:t>
            </a:r>
          </a:p>
        </p:txBody>
      </p:sp>
      <p:sp>
        <p:nvSpPr>
          <p:cNvPr id="327" name="Oval 326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694944" y="2478024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Case 04 | Accessible King inclusions | FAIL | Precision .451</a:t>
            </a:r>
          </a:p>
        </p:txBody>
      </p:sp>
      <p:sp>
        <p:nvSpPr>
          <p:cNvPr id="329" name="Oval 328"/>
          <p:cNvSpPr/>
          <p:nvPr/>
        </p:nvSpPr>
        <p:spPr>
          <a:xfrm>
            <a:off x="402336" y="25786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694944" y="27660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Case 05 | Atlanta/Miami parking | PASS | Composite .975</a:t>
            </a:r>
          </a:p>
        </p:txBody>
      </p:sp>
      <p:sp>
        <p:nvSpPr>
          <p:cNvPr id="331" name="Oval 33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Case 06 | Miami breakfast | PASS | Composite .963</a:t>
            </a:r>
          </a:p>
        </p:txBody>
      </p:sp>
      <p:sp>
        <p:nvSpPr>
          <p:cNvPr id="333" name="Oval 33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694944" y="334213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Case 07 | Advance Purchase change | PASS | Composite .916</a:t>
            </a:r>
          </a:p>
        </p:txBody>
      </p:sp>
      <p:sp>
        <p:nvSpPr>
          <p:cNvPr id="335" name="Oval 334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3630168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Case 08 | Denver late checkout | PASS | Composite .939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3730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94944" y="3918204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Case 09 | ASH-CHI pet fee | PASS | Composite .974</a:t>
            </a:r>
          </a:p>
        </p:txBody>
      </p:sp>
      <p:sp>
        <p:nvSpPr>
          <p:cNvPr id="339" name="Oval 338"/>
          <p:cNvSpPr/>
          <p:nvPr/>
        </p:nvSpPr>
        <p:spPr>
          <a:xfrm>
            <a:off x="402336" y="40187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94944" y="42062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Case 10 | Card-hold difference | PASS | Composite .934</a:t>
            </a:r>
          </a:p>
        </p:txBody>
      </p:sp>
      <p:sp>
        <p:nvSpPr>
          <p:cNvPr id="341" name="Oval 340"/>
          <p:cNvSpPr/>
          <p:nvPr/>
        </p:nvSpPr>
        <p:spPr>
          <a:xfrm>
            <a:off x="402336" y="43068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694944" y="4494276"/>
            <a:ext cx="6729984" cy="187451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Selected baseline result: 9/10 passed; weighted composite .941.</a:t>
            </a:r>
          </a:p>
        </p:txBody>
      </p:sp>
      <p:sp>
        <p:nvSpPr>
          <p:cNvPr id="343" name="Oval 342"/>
          <p:cNvSpPr/>
          <p:nvPr/>
        </p:nvSpPr>
        <p:spPr>
          <a:xfrm>
            <a:off x="402336" y="45948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4713732"/>
            <a:ext cx="6729984" cy="1828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focused clarification experiment raised the failed case's Precision to .961 and passed all four metrics.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48143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Serialize the Vector Database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Backend artifact: backend/faiss_index/index.faiss.</a:t>
            </a:r>
          </a:p>
        </p:txBody>
      </p:sp>
      <p:sp>
        <p:nvSpPr>
          <p:cNvPr id="329" name="Oval 32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and document store: backend/faiss_index/index.pkl.</a:t>
            </a:r>
          </a:p>
        </p:txBody>
      </p:sp>
      <p:sp>
        <p:nvSpPr>
          <p:cNvPr id="331" name="Oval 33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694944" y="190195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persisted FAISS index contains 43 normalized vectors from the policy knowledge base.</a:t>
            </a:r>
          </a:p>
        </p:txBody>
      </p:sp>
      <p:sp>
        <p:nvSpPr>
          <p:cNvPr id="333" name="Oval 332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694944" y="238201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loads the trusted local artifact at startup; the Docker image copies the index into /app/faiss_index.</a:t>
            </a:r>
          </a:p>
        </p:txBody>
      </p:sp>
      <p:sp>
        <p:nvSpPr>
          <p:cNvPr id="335" name="Oval 334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286207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artifact must be rebuilt whenever source documents, chunking, or embeddings change.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29626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Flask Application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Service entry point: backend/app.py; production command uses Gunicorn and app:rag_api.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94944" y="18059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GET / returns a lightweight readiness message.</a:t>
            </a:r>
          </a:p>
        </p:txBody>
      </p:sp>
      <p:sp>
        <p:nvSpPr>
          <p:cNvPr id="339" name="Oval 33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POST /v1/relevant_chunks returns the top-k retrieved policy chunks.</a:t>
            </a:r>
          </a:p>
        </p:txBody>
      </p:sp>
      <p:sp>
        <p:nvSpPr>
          <p:cNvPr id="341" name="Oval 34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POST /v1/answer_with_relevant_chunks returns the generated answer and evidence chunks.</a:t>
            </a:r>
          </a:p>
        </p:txBody>
      </p:sp>
      <p:sp>
        <p:nvSpPr>
          <p:cNvPr id="343" name="Oval 342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POST /v1/answer returns the generated answer only.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334213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Defaults: k=5, gpt-4o-mini, temperature=0.0, top_p=1.0, max_tokens=512.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3822191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Container binding: 0.0.0.0:7860; local smoke tests use port 5000.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39227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Dependencies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Pinned backend dependencies are declared in backend/requirements.txt.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Flask 3.1.3 and Gunicorn 26.2.0 provide the API service runtime.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LangChain HuggingFace, LangChain Community, and LangChain OpenAI provide retrieval and generation integration.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sentence-transformers 6.1.0 and faiss-cpu 1.15.0 provide embeddings and vector search.</a:t>
            </a:r>
          </a:p>
        </p:txBody>
      </p:sp>
      <p:sp>
        <p:nvSpPr>
          <p:cNvPr id="351" name="Oval 35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Docker build installs CPU-only PyTorch before installing the requirements file.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37261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embedding model is cached during image build so runtime can use offline mode.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Dockerfile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backend application, FAISS artifact, and requirements into /app.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Installs CPU PyTorch and the pinned backend dependencies without pip cache.</a:t>
            </a:r>
          </a:p>
        </p:txBody>
      </p:sp>
      <p:sp>
        <p:nvSpPr>
          <p:cNvPr id="357" name="Oval 356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Downloads HarishMaths/Hotel-Policy-Embedding at build time and sets HF_HOME=/app/huggingface.</a:t>
            </a:r>
          </a:p>
        </p:txBody>
      </p:sp>
      <p:sp>
        <p:nvSpPr>
          <p:cNvPr id="359" name="Oval 358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TRANSFORMERS_OFFLINE=1 and HF_HUB_OFFLINE=1 prevent runtime model downloads.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Starts one Gunicorn worker on port 7860 with a 120-second request timeout.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Streamlit App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entry point: frontend/app.py; it provides the Aurora Stays question-and-answer interface.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Sidebar controls: k from 1 to 10, temperature from 0.0 to 1.0, and max_tokens from 64 to 2048.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94944" y="228600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Users can select Answer only or Answer + Relevant Chunks.</a:t>
            </a:r>
          </a:p>
        </p:txBody>
      </p:sp>
      <p:sp>
        <p:nvSpPr>
          <p:cNvPr id="365" name="Oval 36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address is supplied through BACKEND_URL; local default is http://localhost:5000.</a:t>
            </a:r>
          </a:p>
        </p:txBody>
      </p:sp>
      <p:sp>
        <p:nvSpPr>
          <p:cNvPr id="367" name="Oval 36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interface displays the answer, retrieved evidence, and a clear API connectivity error when the backend is unavailable.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locally with Streamlit on port 8501 and the Flask API on port 5000.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6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Dockerfile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Streamlit application and installs requests 2.34.2 and streamlit 1.64.0.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Binds Streamlit to 0.0.0.0:8501 for Codespaces or container access.</a:t>
            </a:r>
          </a:p>
        </p:txBody>
      </p:sp>
      <p:sp>
        <p:nvSpPr>
          <p:cNvPr id="373" name="Oval 37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XSRF protection is disabled in the supplied deployment command to simplify external access.</a:t>
            </a:r>
          </a:p>
        </p:txBody>
      </p:sp>
      <p:sp>
        <p:nvSpPr>
          <p:cNvPr id="375" name="Oval 37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at runtime so the frontend can call the backend service or forwarded port.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Push the Files to GitHub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Repository: github.com/raovutukoor1/aurora-stay-qna.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Latest published commit: 3b34c59 — removed the handoff-owner line from slide 31.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Key files: backend/app.py, backend/rag_utils.py, frontend/app.py, Dockerfiles, and requirements files.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94944" y="257403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Evaluation files: notebooks/Aurora_Stays_RAG_POC_Local_final_executed.ipynb, reports/evaluation_results.md, and deepeval_options_cases.csv.</a:t>
            </a:r>
          </a:p>
        </p:txBody>
      </p:sp>
      <p:sp>
        <p:nvSpPr>
          <p:cNvPr id="383" name="Oval 382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325526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Presentation files: build_aurora_presentation.py, the template-style PPTX, and the generated PDF packs.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37353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Credentials remain excluded: config/config.json, .env, and supplied token/config files are not tracked.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Define the Forwarded URL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 GitHub Codespaces, open the Ports panel and forward the Streamlit port 8501.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public URL is generated per Codespace session; it is not hard-coded in the repository.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to the backend service URL or its forwarded port before starting Streamlit.</a:t>
            </a:r>
          </a:p>
        </p:txBody>
      </p:sp>
      <p:sp>
        <p:nvSpPr>
          <p:cNvPr id="389" name="Oval 38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local endpoints: frontend http://localhost:8501 and backend http://127.0.0.1:5000.</a:t>
            </a:r>
          </a:p>
        </p:txBody>
      </p:sp>
      <p:sp>
        <p:nvSpPr>
          <p:cNvPr id="391" name="Oval 39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Production smoke tests used the parking-fee query and the ASH-CHI Loop pet-charge query.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37261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keys belong in Codespaces Secrets or a private local config file, never in the forwarded URL or source code.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Relevant Chunks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Endpoint: POST {BACKEND_URL}/v1/relevant_chunks.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Payload: {"query": "What are the parking fees at the Atlanta and Miami hotels?", "k": 5}.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694944" y="209397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fields: query, k, and relevant_chunks.</a:t>
            </a:r>
          </a:p>
        </p:txBody>
      </p:sp>
      <p:sp>
        <p:nvSpPr>
          <p:cNvPr id="397" name="Oval 396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694944" y="23820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excerpt: relevant_chunks include ASH-ATL Midtown self parking at $28 per night and ASH-MIA Brickell valet at $55 per night.</a:t>
            </a:r>
          </a:p>
        </p:txBody>
      </p:sp>
      <p:sp>
        <p:nvSpPr>
          <p:cNvPr id="399" name="Oval 398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30632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This endpoint is useful for checking retrieval quality before evaluating the generated answer.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31638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Answer with Relevant Chunks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Endpoint: POST {BACKEND_URL}/v1/answer_with_relevant_chunks.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Payload includes query, k=5, temperature=0.0, and max_tokens=512.</a:t>
            </a:r>
          </a:p>
        </p:txBody>
      </p:sp>
      <p:sp>
        <p:nvSpPr>
          <p:cNvPr id="403" name="Oval 40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fields include answer, relevant_chunks, model_name, and the generation parameters used.</a:t>
            </a:r>
          </a:p>
        </p:txBody>
      </p:sp>
      <p:sp>
        <p:nvSpPr>
          <p:cNvPr id="405" name="Oval 404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Answer excerpt: Atlanta Midtown self parking is $28 per night; Miami Brickell uses valet parking at $55 per night.</a:t>
            </a:r>
          </a:p>
        </p:txBody>
      </p:sp>
      <p:sp>
        <p:nvSpPr>
          <p:cNvPr id="407" name="Oval 40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response also returns the supporting chunks for auditability.</a:t>
            </a:r>
          </a:p>
        </p:txBody>
      </p:sp>
      <p:sp>
        <p:nvSpPr>
          <p:cNvPr id="409" name="Oval 408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POST /v1/answer when only the final answer is required; use this endpoint for auditability.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5"/>
          <p:cNvSpPr txBox="1"/>
          <p:nvPr/>
        </p:nvSpPr>
        <p:spPr>
          <a:xfrm>
            <a:off x="32525" y="292608"/>
            <a:ext cx="4418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APPENDIX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Production checklist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Create config/config.json locally or set Codespaces Secrets for OPENAI_API_KEY and OPENAI_BASE_URL.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 the backend first, confirm the readiness response, then start Streamlit on port 8501.</a:t>
            </a:r>
          </a:p>
        </p:txBody>
      </p:sp>
      <p:sp>
        <p:nvSpPr>
          <p:cNvPr id="413" name="Oval 41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Run a property-specific query and an evidence-display query before wider use.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Known limitation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694944" y="334213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Accessible King case has Contextual Precision=.451 because the benchmark question is underspecified for the auto-answer strategy.</a:t>
            </a:r>
          </a:p>
        </p:txBody>
      </p:sp>
      <p:sp>
        <p:nvSpPr>
          <p:cNvPr id="418" name="Oval 41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694944" y="40233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focused clarification experiment reached Precision=.961; the benchmark question and retrieval baseline remain unchanged.</a:t>
            </a:r>
          </a:p>
        </p:txBody>
      </p:sp>
      <p:sp>
        <p:nvSpPr>
          <p:cNvPr id="420" name="Oval 419"/>
          <p:cNvSpPr/>
          <p:nvPr/>
        </p:nvSpPr>
        <p:spPr>
          <a:xfrm>
            <a:off x="402336" y="41239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Recommendations and Success Measures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Recommendation 1: pilot the k=5 baseline with evidence display enabled for support staff.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Recommendation 2: route ambiguous or insufficient-context questions to assisted review rather than forcing an auto-answer.</a:t>
            </a:r>
          </a:p>
        </p:txBody>
      </p:sp>
      <p:sp>
        <p:nvSpPr>
          <p:cNvPr id="417" name="Oval 41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Recommendation 3: keep the benchmark question unchanged, but improve production question clarification and prompt handling.</a:t>
            </a:r>
          </a:p>
        </p:txBody>
      </p:sp>
      <p:sp>
        <p:nvSpPr>
          <p:cNvPr id="419" name="Oval 41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TextBox 419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Track success through held-out pass rate, Contextual Precision, escalation rate, answer latency, and evidence-click usage.</a:t>
            </a:r>
          </a:p>
        </p:txBody>
      </p:sp>
      <p:sp>
        <p:nvSpPr>
          <p:cNvPr id="421" name="Oval 42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TextBox 421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Before broader rollout, capture the live Codespaces URL and screenshots, then repeat the two production smoke tests.</a:t>
            </a:r>
          </a:p>
        </p:txBody>
      </p:sp>
      <p:sp>
        <p:nvSpPr>
          <p:cNvPr id="423" name="Oval 42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TextBox 423"/>
          <p:cNvSpPr txBox="1"/>
          <p:nvPr/>
        </p:nvSpPr>
        <p:spPr>
          <a:xfrm>
            <a:off x="694944" y="37261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Decision: proceed with a controlled pilot; review the single known Accessible King failure before wider release.</a:t>
            </a:r>
          </a:p>
        </p:txBody>
      </p:sp>
      <p:sp>
        <p:nvSpPr>
          <p:cNvPr id="425" name="Oval 42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