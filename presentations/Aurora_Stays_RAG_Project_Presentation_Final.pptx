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81" r:id="rId5"/>
    <p:sldMasterId id="2147483682" r:id="rId6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</p:sldIdLst>
  <p:sldSz cy="5143500" cx="9144000"/>
  <p:notesSz cx="6858000" cy="9144000"/>
  <p:embeddedFontLst>
    <p:embeddedFont>
      <p:font typeface="Nunito SemiBold"/>
      <p:regular r:id="rId40"/>
      <p:bold r:id="rId41"/>
      <p:italic r:id="rId42"/>
      <p:boldItalic r:id="rId43"/>
    </p:embeddedFont>
    <p:embeddedFont>
      <p:font typeface="Nunito"/>
      <p:regular r:id="rId44"/>
      <p:bold r:id="rId45"/>
      <p:italic r:id="rId46"/>
      <p:boldItalic r:id="rId47"/>
    </p:embeddedFont>
    <p:embeddedFont>
      <p:font typeface="Montserrat"/>
      <p:regular r:id="rId48"/>
      <p:bold r:id="rId49"/>
      <p:italic r:id="rId50"/>
      <p:boldItalic r:id="rId51"/>
    </p:embeddedFont>
    <p:embeddedFont>
      <p:font typeface="Nunito ExtraBold"/>
      <p:bold r:id="rId52"/>
      <p:boldItalic r:id="rId53"/>
    </p:embeddedFont>
    <p:embeddedFont>
      <p:font typeface="Century Gothic"/>
      <p:regular r:id="rId54"/>
      <p:bold r:id="rId55"/>
      <p:italic r:id="rId56"/>
      <p:boldItalic r:id="rId5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A5698273-5225-4557-BD2E-0B8C5CF09AB3}">
  <a:tblStyle styleId="{A5698273-5225-4557-BD2E-0B8C5CF09AB3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rgbClr val="5B9BD5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rgbClr val="5B9BD5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 b="off" i="off"/>
      <a:tcStyle>
        <a:fill>
          <a:solidFill>
            <a:srgbClr val="5B9BD5">
              <a:alpha val="20000"/>
            </a:srgbClr>
          </a:solidFill>
        </a:fill>
      </a:tcStyle>
    </a:band1H>
    <a:band2H>
      <a:tcTxStyle b="off" i="off"/>
    </a:band2H>
    <a:band1V>
      <a:tcTxStyle b="off" i="off"/>
      <a:tcStyle>
        <a:fill>
          <a:solidFill>
            <a:srgbClr val="5B9BD5">
              <a:alpha val="20000"/>
            </a:srgbClr>
          </a:solidFill>
        </a:fill>
      </a:tcStyle>
    </a:band1V>
    <a:band2V>
      <a:tcTxStyle b="off" i="off"/>
    </a:band2V>
    <a:lastCol>
      <a:tcTxStyle b="on" i="off"/>
    </a:lastCol>
    <a:firstCol>
      <a:tcTxStyle b="on" i="off"/>
    </a:firstCol>
    <a:lastRow>
      <a:tcTxStyle b="on" i="off"/>
      <a:tcStyle>
        <a:tcBdr>
          <a:top>
            <a:ln cap="flat" cmpd="sng" w="12700">
              <a:solidFill>
                <a:srgbClr val="5B9BD5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rgbClr val="FFFFFF">
              <a:alpha val="0"/>
            </a:srgbClr>
          </a:solidFill>
        </a:fill>
      </a:tcStyle>
    </a:lastRow>
    <a:seCell>
      <a:tcTxStyle b="off" i="off"/>
    </a:seCell>
    <a:swCell>
      <a:tcTxStyle b="off" i="off"/>
    </a:swCell>
    <a:firstRow>
      <a:tcTxStyle b="on" i="off"/>
      <a:tcStyle>
        <a:tcBdr>
          <a:bottom>
            <a:ln cap="flat" cmpd="sng" w="12700">
              <a:solidFill>
                <a:srgbClr val="5B9BD5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rgbClr val="FFFFFF">
              <a:alpha val="0"/>
            </a:srgbClr>
          </a:solidFill>
        </a:fill>
      </a:tcStyle>
    </a:firstRow>
    <a:neCell>
      <a:tcTxStyle b="off" i="off"/>
    </a:neCell>
    <a:nwCell>
      <a:tcTxStyle b="off" i="off"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slideMaster" Target="slideMasters/slideMaster2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40" Type="http://schemas.openxmlformats.org/officeDocument/2006/relationships/font" Target="fonts/NunitoSemiBold-regular.fntdata"/><Relationship Id="rId41" Type="http://schemas.openxmlformats.org/officeDocument/2006/relationships/font" Target="fonts/NunitoSemiBold-bold.fntdata"/><Relationship Id="rId42" Type="http://schemas.openxmlformats.org/officeDocument/2006/relationships/font" Target="fonts/NunitoSemiBold-italic.fntdata"/><Relationship Id="rId43" Type="http://schemas.openxmlformats.org/officeDocument/2006/relationships/font" Target="fonts/NunitoSemiBold-boldItalic.fntdata"/><Relationship Id="rId44" Type="http://schemas.openxmlformats.org/officeDocument/2006/relationships/font" Target="fonts/Nunito-regular.fntdata"/><Relationship Id="rId45" Type="http://schemas.openxmlformats.org/officeDocument/2006/relationships/font" Target="fonts/Nunito-bold.fntdata"/><Relationship Id="rId46" Type="http://schemas.openxmlformats.org/officeDocument/2006/relationships/font" Target="fonts/Nunito-italic.fntdata"/><Relationship Id="rId47" Type="http://schemas.openxmlformats.org/officeDocument/2006/relationships/font" Target="fonts/Nunito-boldItalic.fntdata"/><Relationship Id="rId48" Type="http://schemas.openxmlformats.org/officeDocument/2006/relationships/font" Target="fonts/Montserrat-regular.fntdata"/><Relationship Id="rId49" Type="http://schemas.openxmlformats.org/officeDocument/2006/relationships/font" Target="fonts/Montserrat-bold.fntdata"/><Relationship Id="rId50" Type="http://schemas.openxmlformats.org/officeDocument/2006/relationships/font" Target="fonts/Montserrat-italic.fntdata"/><Relationship Id="rId51" Type="http://schemas.openxmlformats.org/officeDocument/2006/relationships/font" Target="fonts/Montserrat-boldItalic.fntdata"/><Relationship Id="rId52" Type="http://schemas.openxmlformats.org/officeDocument/2006/relationships/font" Target="fonts/NunitoExtraBold-bold.fntdata"/><Relationship Id="rId53" Type="http://schemas.openxmlformats.org/officeDocument/2006/relationships/font" Target="fonts/NunitoExtraBold-boldItalic.fntdata"/><Relationship Id="rId54" Type="http://schemas.openxmlformats.org/officeDocument/2006/relationships/font" Target="fonts/CenturyGothic-regular.fntdata"/><Relationship Id="rId55" Type="http://schemas.openxmlformats.org/officeDocument/2006/relationships/font" Target="fonts/CenturyGothic-bold.fntdata"/><Relationship Id="rId56" Type="http://schemas.openxmlformats.org/officeDocument/2006/relationships/font" Target="fonts/CenturyGothic-italic.fntdata"/><Relationship Id="rId57" Type="http://schemas.openxmlformats.org/officeDocument/2006/relationships/font" Target="fonts/CenturyGothic-boldItalic.fntdata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4" name="Google Shape;164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1" name="Google Shape;171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8" name="Google Shape;188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5" name="Google Shape;195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4" name="Google Shape;204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g3c275fce4fb_0_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2" name="Google Shape;212;g3c275fce4fb_0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h1ee84572765e4f1b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0" name="Google Shape;220;h1ee84572765e4f1b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h1ee84572765e4f1b_1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8" name="Google Shape;228;h1ee84572765e4f1b_1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h1ee84572765e4f1b_1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6" name="Google Shape;236;h1ee84572765e4f1b_1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h1ee84572765e4f1b_1_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4" name="Google Shape;244;h1ee84572765e4f1b_1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h1ee84572765e4f1b_1_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2" name="Google Shape;252;h1ee84572765e4f1b_1_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h1ee84572765e4f1b_1_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0" name="Google Shape;260;h1ee84572765e4f1b_1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h1ee84572765e4f1b_1_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8" name="Google Shape;268;h1ee84572765e4f1b_1_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h1ee84572765e4f1b_1_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6" name="Google Shape;276;h1ee84572765e4f1b_1_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h1ee84572765e4f1b_1_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4" name="Google Shape;284;h1ee84572765e4f1b_1_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h1ee84572765e4f1b_1_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2" name="Google Shape;292;h1ee84572765e4f1b_1_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h1ee84572765e4f1b_1_7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0" name="Google Shape;300;h1ee84572765e4f1b_1_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6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h1ee84572765e4f1b_1_7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8" name="Google Shape;308;h1ee84572765e4f1b_1_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4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h1ee84572765e4f1b_1_8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6" name="Google Shape;316;h1ee84572765e4f1b_1_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png"/><Relationship Id="rId3" Type="http://schemas.openxmlformats.org/officeDocument/2006/relationships/image" Target="../media/image1.png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2"/>
          <p:cNvSpPr txBox="1"/>
          <p:nvPr>
            <p:ph type="title"/>
          </p:nvPr>
        </p:nvSpPr>
        <p:spPr>
          <a:xfrm>
            <a:off x="202550" y="289279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9pPr>
          </a:lstStyle>
          <a:p/>
        </p:txBody>
      </p:sp>
      <p:sp>
        <p:nvSpPr>
          <p:cNvPr id="16" name="Google Shape;16;p2"/>
          <p:cNvSpPr txBox="1"/>
          <p:nvPr>
            <p:ph idx="1" type="body"/>
          </p:nvPr>
        </p:nvSpPr>
        <p:spPr>
          <a:xfrm>
            <a:off x="202550" y="861975"/>
            <a:ext cx="8629800" cy="370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238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Nunito"/>
              <a:buChar char="●"/>
              <a:defRPr>
                <a:latin typeface="Nunito"/>
                <a:ea typeface="Nunito"/>
                <a:cs typeface="Nunito"/>
                <a:sym typeface="Nunito"/>
              </a:defRPr>
            </a:lvl1pPr>
            <a:lvl2pPr indent="-31115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300"/>
              <a:buFont typeface="Nunito"/>
              <a:buChar char="○"/>
              <a:defRPr>
                <a:latin typeface="Nunito"/>
                <a:ea typeface="Nunito"/>
                <a:cs typeface="Nunito"/>
                <a:sym typeface="Nunito"/>
              </a:defRPr>
            </a:lvl2pPr>
            <a:lvl3pPr indent="-3048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Font typeface="Nunito"/>
              <a:buChar char="■"/>
              <a:defRPr>
                <a:latin typeface="Nunito"/>
                <a:ea typeface="Nunito"/>
                <a:cs typeface="Nunito"/>
                <a:sym typeface="Nunito"/>
              </a:defRPr>
            </a:lvl3pPr>
            <a:lvl4pPr indent="-29845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100"/>
              <a:buFont typeface="Nunito"/>
              <a:buChar char="●"/>
              <a:defRPr>
                <a:latin typeface="Nunito"/>
                <a:ea typeface="Nunito"/>
                <a:cs typeface="Nunito"/>
                <a:sym typeface="Nunito"/>
              </a:defRPr>
            </a:lvl4pPr>
            <a:lvl5pPr indent="-2921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000"/>
              <a:buFont typeface="Nunito"/>
              <a:buChar char="○"/>
              <a:defRPr>
                <a:latin typeface="Nunito"/>
                <a:ea typeface="Nunito"/>
                <a:cs typeface="Nunito"/>
                <a:sym typeface="Nunito"/>
              </a:defRPr>
            </a:lvl5pPr>
            <a:lvl6pPr indent="-28575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900"/>
              <a:buFont typeface="Nunito"/>
              <a:buChar char="■"/>
              <a:defRPr>
                <a:latin typeface="Nunito"/>
                <a:ea typeface="Nunito"/>
                <a:cs typeface="Nunito"/>
                <a:sym typeface="Nunito"/>
              </a:defRPr>
            </a:lvl6pPr>
            <a:lvl7pPr indent="-2794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800"/>
              <a:buFont typeface="Nunito"/>
              <a:buChar char="●"/>
              <a:defRPr>
                <a:latin typeface="Nunito"/>
                <a:ea typeface="Nunito"/>
                <a:cs typeface="Nunito"/>
                <a:sym typeface="Nunito"/>
              </a:defRPr>
            </a:lvl7pPr>
            <a:lvl8pPr indent="-27305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700"/>
              <a:buFont typeface="Nunito"/>
              <a:buChar char="○"/>
              <a:defRPr>
                <a:latin typeface="Nunito"/>
                <a:ea typeface="Nunito"/>
                <a:cs typeface="Nunito"/>
                <a:sym typeface="Nunito"/>
              </a:defRPr>
            </a:lvl8pPr>
            <a:lvl9pPr indent="-2667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600"/>
              <a:buFont typeface="Nunito"/>
              <a:buChar char="■"/>
              <a:defRPr>
                <a:latin typeface="Nunito"/>
                <a:ea typeface="Nunito"/>
                <a:cs typeface="Nunito"/>
                <a:sym typeface="Nunito"/>
              </a:defRPr>
            </a:lvl9pPr>
          </a:lstStyle>
          <a:p/>
        </p:txBody>
      </p:sp>
      <p:sp>
        <p:nvSpPr>
          <p:cNvPr id="17" name="Google Shape;17;p2"/>
          <p:cNvSpPr txBox="1"/>
          <p:nvPr>
            <p:ph idx="12" type="sldNum"/>
          </p:nvPr>
        </p:nvSpPr>
        <p:spPr>
          <a:xfrm>
            <a:off x="8832299" y="4946907"/>
            <a:ext cx="365400" cy="21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3"/>
          <p:cNvSpPr txBox="1"/>
          <p:nvPr>
            <p:ph type="ctrTitle"/>
          </p:nvPr>
        </p:nvSpPr>
        <p:spPr>
          <a:xfrm>
            <a:off x="2210208" y="744575"/>
            <a:ext cx="66222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4800"/>
              <a:buFont typeface="Nunito"/>
              <a:buNone/>
              <a:defRPr sz="4800">
                <a:solidFill>
                  <a:srgbClr val="0E39A9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4800"/>
              <a:buFont typeface="Nunito"/>
              <a:buNone/>
              <a:defRPr sz="4800">
                <a:solidFill>
                  <a:srgbClr val="0E39A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4800"/>
              <a:buFont typeface="Nunito"/>
              <a:buNone/>
              <a:defRPr sz="4800">
                <a:solidFill>
                  <a:srgbClr val="0E39A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4800"/>
              <a:buFont typeface="Nunito"/>
              <a:buNone/>
              <a:defRPr sz="4800">
                <a:solidFill>
                  <a:srgbClr val="0E39A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4800"/>
              <a:buFont typeface="Nunito"/>
              <a:buNone/>
              <a:defRPr sz="4800">
                <a:solidFill>
                  <a:srgbClr val="0E39A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4800"/>
              <a:buFont typeface="Nunito"/>
              <a:buNone/>
              <a:defRPr sz="4800">
                <a:solidFill>
                  <a:srgbClr val="0E39A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4800"/>
              <a:buFont typeface="Nunito"/>
              <a:buNone/>
              <a:defRPr sz="4800">
                <a:solidFill>
                  <a:srgbClr val="0E39A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4800"/>
              <a:buFont typeface="Nunito"/>
              <a:buNone/>
              <a:defRPr sz="4800">
                <a:solidFill>
                  <a:srgbClr val="0E39A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4800"/>
              <a:buFont typeface="Nunito"/>
              <a:buNone/>
              <a:defRPr sz="4800">
                <a:solidFill>
                  <a:srgbClr val="0E39A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/>
        </p:txBody>
      </p:sp>
      <p:sp>
        <p:nvSpPr>
          <p:cNvPr id="20" name="Google Shape;20;p3"/>
          <p:cNvSpPr txBox="1"/>
          <p:nvPr>
            <p:ph idx="1" type="subTitle"/>
          </p:nvPr>
        </p:nvSpPr>
        <p:spPr>
          <a:xfrm>
            <a:off x="2210202" y="2834125"/>
            <a:ext cx="66222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600"/>
              <a:buFont typeface="Nunito SemiBold"/>
              <a:buNone/>
              <a:defRPr b="1" sz="2600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600"/>
              <a:buFont typeface="Nunito SemiBold"/>
              <a:buNone/>
              <a:defRPr b="1" sz="2600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600"/>
              <a:buFont typeface="Nunito SemiBold"/>
              <a:buNone/>
              <a:defRPr b="1" sz="2600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600"/>
              <a:buFont typeface="Nunito SemiBold"/>
              <a:buNone/>
              <a:defRPr b="1" sz="2600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600"/>
              <a:buFont typeface="Nunito SemiBold"/>
              <a:buNone/>
              <a:defRPr b="1" sz="2600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600"/>
              <a:buFont typeface="Nunito SemiBold"/>
              <a:buNone/>
              <a:defRPr b="1" sz="2600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600"/>
              <a:buFont typeface="Nunito SemiBold"/>
              <a:buNone/>
              <a:defRPr b="1" sz="2600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600"/>
              <a:buFont typeface="Nunito SemiBold"/>
              <a:buNone/>
              <a:defRPr b="1" sz="2600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600"/>
              <a:buFont typeface="Nunito SemiBold"/>
              <a:buNone/>
              <a:defRPr b="1" sz="2600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3600"/>
              <a:buNone/>
              <a:defRPr sz="3600">
                <a:solidFill>
                  <a:srgbClr val="0E39A9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3600"/>
              <a:buNone/>
              <a:defRPr sz="3600">
                <a:solidFill>
                  <a:srgbClr val="0E39A9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3600"/>
              <a:buNone/>
              <a:defRPr sz="3600">
                <a:solidFill>
                  <a:srgbClr val="0E39A9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3600"/>
              <a:buNone/>
              <a:defRPr sz="3600">
                <a:solidFill>
                  <a:srgbClr val="0E39A9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3600"/>
              <a:buNone/>
              <a:defRPr sz="3600">
                <a:solidFill>
                  <a:srgbClr val="0E39A9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3600"/>
              <a:buNone/>
              <a:defRPr sz="3600">
                <a:solidFill>
                  <a:srgbClr val="0E39A9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3600"/>
              <a:buNone/>
              <a:defRPr sz="3600">
                <a:solidFill>
                  <a:srgbClr val="0E39A9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3600"/>
              <a:buNone/>
              <a:defRPr sz="3600">
                <a:solidFill>
                  <a:srgbClr val="0E39A9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3600"/>
              <a:buNone/>
              <a:defRPr sz="3600">
                <a:solidFill>
                  <a:srgbClr val="0E39A9"/>
                </a:solidFill>
              </a:defRPr>
            </a:lvl9pPr>
          </a:lstStyle>
          <a:p/>
        </p:txBody>
      </p:sp>
      <p:sp>
        <p:nvSpPr>
          <p:cNvPr id="23" name="Google Shape;23;p4"/>
          <p:cNvSpPr txBox="1"/>
          <p:nvPr>
            <p:ph idx="12" type="sldNum"/>
          </p:nvPr>
        </p:nvSpPr>
        <p:spPr>
          <a:xfrm>
            <a:off x="8832299" y="4946907"/>
            <a:ext cx="365400" cy="21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able">
  <p:cSld name="CUSTOM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5"/>
          <p:cNvSpPr txBox="1"/>
          <p:nvPr>
            <p:ph type="title"/>
          </p:nvPr>
        </p:nvSpPr>
        <p:spPr>
          <a:xfrm>
            <a:off x="201972" y="288368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9pPr>
          </a:lstStyle>
          <a:p/>
        </p:txBody>
      </p:sp>
      <p:graphicFrame>
        <p:nvGraphicFramePr>
          <p:cNvPr id="26" name="Google Shape;26;p5"/>
          <p:cNvGraphicFramePr/>
          <p:nvPr/>
        </p:nvGraphicFramePr>
        <p:xfrm>
          <a:off x="201942" y="833662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{A5698273-5225-4557-BD2E-0B8C5CF09AB3}</a:tableStyleId>
              </a:tblPr>
              <a:tblGrid>
                <a:gridCol w="883125"/>
                <a:gridCol w="3886050"/>
                <a:gridCol w="3886050"/>
              </a:tblGrid>
              <a:tr h="6735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Nunito"/>
                          <a:ea typeface="Nunito"/>
                          <a:cs typeface="Nunito"/>
                          <a:sym typeface="Nunito"/>
                        </a:rPr>
                        <a:t>Cluster</a:t>
                      </a:r>
                      <a:endParaRPr sz="1400" u="none" cap="none" strike="noStrik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45725" marB="45725" marR="91450" marL="91450" anchor="ctr"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Nunito"/>
                          <a:ea typeface="Nunito"/>
                          <a:cs typeface="Nunito"/>
                          <a:sym typeface="Nunito"/>
                        </a:rPr>
                        <a:t>Cluster Profile </a:t>
                      </a:r>
                      <a:endParaRPr sz="1400" u="none" cap="none" strike="noStrik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Nunito"/>
                          <a:ea typeface="Nunito"/>
                          <a:cs typeface="Nunito"/>
                          <a:sym typeface="Nunito"/>
                        </a:rPr>
                        <a:t>Business Insights for Marketing Team</a:t>
                      </a:r>
                      <a:endParaRPr sz="1400" u="none" cap="none" strike="noStrik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</a:tr>
              <a:tr h="7533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>
                          <a:latin typeface="Nunito"/>
                          <a:ea typeface="Nunito"/>
                          <a:cs typeface="Nunito"/>
                          <a:sym typeface="Nunito"/>
                        </a:rPr>
                        <a:t>1</a:t>
                      </a:r>
                      <a:endParaRPr sz="1200" u="none" cap="none" strike="noStrik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45725" marB="45725" marR="91450" marL="91450" anchor="ctr"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>
                          <a:latin typeface="Nunito"/>
                          <a:ea typeface="Nunito"/>
                          <a:cs typeface="Nunito"/>
                          <a:sym typeface="Nunito"/>
                        </a:rPr>
                        <a:t>High value customers who have many credit cards and prefer to engage online</a:t>
                      </a:r>
                      <a:endParaRPr sz="1200" u="none" cap="none" strike="noStrik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>
                          <a:latin typeface="Nunito"/>
                          <a:ea typeface="Nunito"/>
                          <a:cs typeface="Nunito"/>
                          <a:sym typeface="Nunito"/>
                        </a:rPr>
                        <a:t>Engage Online – Set up priority calling in lines – Upsell and Cross sell premium products</a:t>
                      </a:r>
                      <a:endParaRPr sz="1200" u="none" cap="none" strike="noStrik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</a:tr>
              <a:tr h="6695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>
                          <a:latin typeface="Nunito"/>
                          <a:ea typeface="Nunito"/>
                          <a:cs typeface="Nunito"/>
                          <a:sym typeface="Nunito"/>
                        </a:rPr>
                        <a:t>2</a:t>
                      </a:r>
                      <a:endParaRPr sz="1200" u="none" cap="none" strike="noStrik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45725" marB="45725" marR="91450" marL="91450" anchor="ctr"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aseline="30000" lang="en" sz="1200" u="none" cap="none" strike="noStrike">
                          <a:latin typeface="Nunito"/>
                          <a:ea typeface="Nunito"/>
                          <a:cs typeface="Nunito"/>
                          <a:sym typeface="Nunito"/>
                        </a:rPr>
                        <a:t>…</a:t>
                      </a:r>
                      <a:endParaRPr sz="1200" u="none" cap="none" strike="noStrik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>
                          <a:latin typeface="Nunito"/>
                          <a:ea typeface="Nunito"/>
                          <a:cs typeface="Nunito"/>
                          <a:sym typeface="Nunito"/>
                        </a:rPr>
                        <a:t>..</a:t>
                      </a:r>
                      <a:endParaRPr sz="1200" u="none" cap="none" strike="noStrik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</a:tr>
              <a:tr h="6695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>
                          <a:latin typeface="Nunito"/>
                          <a:ea typeface="Nunito"/>
                          <a:cs typeface="Nunito"/>
                          <a:sym typeface="Nunito"/>
                        </a:rPr>
                        <a:t>3</a:t>
                      </a:r>
                      <a:endParaRPr sz="1200" u="none" cap="none" strike="noStrik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45725" marB="45725" marR="91450" marL="91450" anchor="ctr"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>
                          <a:latin typeface="Nunito"/>
                          <a:ea typeface="Nunito"/>
                          <a:cs typeface="Nunito"/>
                          <a:sym typeface="Nunito"/>
                        </a:rPr>
                        <a:t>…</a:t>
                      </a:r>
                      <a:endParaRPr sz="1200" u="none" cap="none" strike="noStrik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>
                          <a:latin typeface="Nunito"/>
                          <a:ea typeface="Nunito"/>
                          <a:cs typeface="Nunito"/>
                          <a:sym typeface="Nunito"/>
                        </a:rPr>
                        <a:t>…</a:t>
                      </a:r>
                      <a:endParaRPr sz="1200" u="none" cap="none" strike="noStrik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</a:tr>
              <a:tr h="6695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45725" marB="45725" marR="91450" marL="91450" anchor="ctr"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</a:tr>
            </a:tbl>
          </a:graphicData>
        </a:graphic>
      </p:graphicFrame>
      <p:sp>
        <p:nvSpPr>
          <p:cNvPr id="27" name="Google Shape;27;p5"/>
          <p:cNvSpPr txBox="1"/>
          <p:nvPr>
            <p:ph idx="12" type="sldNum"/>
          </p:nvPr>
        </p:nvSpPr>
        <p:spPr>
          <a:xfrm>
            <a:off x="8832299" y="4946907"/>
            <a:ext cx="365400" cy="21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6"/>
          <p:cNvSpPr txBox="1"/>
          <p:nvPr>
            <p:ph type="title"/>
          </p:nvPr>
        </p:nvSpPr>
        <p:spPr>
          <a:xfrm>
            <a:off x="201972" y="288368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9pPr>
          </a:lstStyle>
          <a:p/>
        </p:txBody>
      </p:sp>
      <p:sp>
        <p:nvSpPr>
          <p:cNvPr id="30" name="Google Shape;30;p6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6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2" name="Google Shape;32;p6"/>
          <p:cNvSpPr txBox="1"/>
          <p:nvPr>
            <p:ph idx="12" type="sldNum"/>
          </p:nvPr>
        </p:nvSpPr>
        <p:spPr>
          <a:xfrm>
            <a:off x="8832299" y="4946907"/>
            <a:ext cx="365400" cy="21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7"/>
          <p:cNvSpPr txBox="1"/>
          <p:nvPr>
            <p:ph type="title"/>
          </p:nvPr>
        </p:nvSpPr>
        <p:spPr>
          <a:xfrm>
            <a:off x="201972" y="288368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9pPr>
          </a:lstStyle>
          <a:p/>
        </p:txBody>
      </p:sp>
      <p:sp>
        <p:nvSpPr>
          <p:cNvPr id="35" name="Google Shape;35;p7"/>
          <p:cNvSpPr txBox="1"/>
          <p:nvPr>
            <p:ph idx="12" type="sldNum"/>
          </p:nvPr>
        </p:nvSpPr>
        <p:spPr>
          <a:xfrm>
            <a:off x="8832299" y="4946907"/>
            <a:ext cx="365400" cy="21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8" name="Google Shape;38;p8"/>
          <p:cNvSpPr txBox="1"/>
          <p:nvPr>
            <p:ph idx="12" type="sldNum"/>
          </p:nvPr>
        </p:nvSpPr>
        <p:spPr>
          <a:xfrm>
            <a:off x="8832299" y="4946907"/>
            <a:ext cx="365400" cy="21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" name="Google Shape;41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2" name="Google Shape;42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3" name="Google Shape;43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238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1pPr>
            <a:lvl2pPr indent="-31115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300"/>
              <a:buChar char="○"/>
              <a:defRPr/>
            </a:lvl2pPr>
            <a:lvl3pPr indent="-3048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/>
            </a:lvl3pPr>
            <a:lvl4pPr indent="-29845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indent="-2921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000"/>
              <a:buChar char="○"/>
              <a:defRPr/>
            </a:lvl5pPr>
            <a:lvl6pPr indent="-28575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900"/>
              <a:buChar char="■"/>
              <a:defRPr/>
            </a:lvl6pPr>
            <a:lvl7pPr indent="-2794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800"/>
              <a:buChar char="●"/>
              <a:defRPr/>
            </a:lvl7pPr>
            <a:lvl8pPr indent="-27305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700"/>
              <a:buChar char="○"/>
              <a:defRPr/>
            </a:lvl8pPr>
            <a:lvl9pPr indent="-2667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600"/>
              <a:buChar char="■"/>
              <a:defRPr/>
            </a:lvl9pPr>
          </a:lstStyle>
          <a:p/>
        </p:txBody>
      </p:sp>
      <p:sp>
        <p:nvSpPr>
          <p:cNvPr id="44" name="Google Shape;44;p9"/>
          <p:cNvSpPr txBox="1"/>
          <p:nvPr>
            <p:ph idx="12" type="sldNum"/>
          </p:nvPr>
        </p:nvSpPr>
        <p:spPr>
          <a:xfrm>
            <a:off x="8832299" y="4946907"/>
            <a:ext cx="365400" cy="21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0"/>
          <p:cNvSpPr txBox="1"/>
          <p:nvPr>
            <p:ph idx="12" type="sldNum"/>
          </p:nvPr>
        </p:nvSpPr>
        <p:spPr>
          <a:xfrm>
            <a:off x="8832299" y="4946907"/>
            <a:ext cx="365400" cy="21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1">
  <p:cSld name="BLANK_1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11"/>
          <p:cNvSpPr/>
          <p:nvPr/>
        </p:nvSpPr>
        <p:spPr>
          <a:xfrm>
            <a:off x="1" y="-335"/>
            <a:ext cx="9144600" cy="5143800"/>
          </a:xfrm>
          <a:prstGeom prst="rect">
            <a:avLst/>
          </a:prstGeom>
          <a:solidFill>
            <a:srgbClr val="0E39A9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A close up of a logo&#10;&#10;Description automatically generated" id="49" name="Google Shape;49;p11"/>
          <p:cNvPicPr preferRelativeResize="0"/>
          <p:nvPr/>
        </p:nvPicPr>
        <p:blipFill rotWithShape="1">
          <a:blip r:embed="rId2">
            <a:alphaModFix/>
          </a:blip>
          <a:srcRect b="19149" l="42816" r="37294" t="18358"/>
          <a:stretch/>
        </p:blipFill>
        <p:spPr>
          <a:xfrm>
            <a:off x="6052536" y="514443"/>
            <a:ext cx="2095112" cy="3703320"/>
          </a:xfrm>
          <a:prstGeom prst="rect">
            <a:avLst/>
          </a:prstGeom>
          <a:noFill/>
          <a:ln>
            <a:noFill/>
          </a:ln>
        </p:spPr>
      </p:pic>
      <p:sp>
        <p:nvSpPr>
          <p:cNvPr id="50" name="Google Shape;50;p11"/>
          <p:cNvSpPr txBox="1"/>
          <p:nvPr>
            <p:ph type="title"/>
          </p:nvPr>
        </p:nvSpPr>
        <p:spPr>
          <a:xfrm>
            <a:off x="70129" y="6703219"/>
            <a:ext cx="15008700" cy="69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850">
            <a:no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1" name="Google Shape;51;p11"/>
          <p:cNvSpPr txBox="1"/>
          <p:nvPr/>
        </p:nvSpPr>
        <p:spPr>
          <a:xfrm>
            <a:off x="334565" y="1676232"/>
            <a:ext cx="4372800" cy="179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</a:pPr>
            <a:r>
              <a:rPr b="0" i="0" lang="en" sz="3300" u="none" cap="none" strike="noStrike">
                <a:solidFill>
                  <a:schemeClr val="lt1"/>
                </a:solidFill>
                <a:latin typeface="Nunito ExtraBold"/>
                <a:ea typeface="Nunito ExtraBold"/>
                <a:cs typeface="Nunito ExtraBold"/>
                <a:sym typeface="Nunito ExtraBold"/>
              </a:rPr>
              <a:t>Happy Learning !</a:t>
            </a:r>
            <a:endParaRPr b="0" i="0" sz="3300" u="none" cap="none" strike="noStrike">
              <a:solidFill>
                <a:schemeClr val="lt1"/>
              </a:solidFill>
              <a:latin typeface="Nunito ExtraBold"/>
              <a:ea typeface="Nunito ExtraBold"/>
              <a:cs typeface="Nunito ExtraBold"/>
              <a:sym typeface="Nunito ExtraBold"/>
            </a:endParaRPr>
          </a:p>
        </p:txBody>
      </p:sp>
      <p:pic>
        <p:nvPicPr>
          <p:cNvPr id="52" name="Google Shape;52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95874" y="683275"/>
            <a:ext cx="3757725" cy="825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2"/>
          <p:cNvSpPr txBox="1"/>
          <p:nvPr>
            <p:ph type="title"/>
          </p:nvPr>
        </p:nvSpPr>
        <p:spPr>
          <a:xfrm>
            <a:off x="0" y="0"/>
            <a:ext cx="3000000" cy="22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  <a:defRPr b="1" i="0" sz="3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1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1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1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1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1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1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1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1800"/>
            </a:lvl9pPr>
          </a:lstStyle>
          <a:p/>
        </p:txBody>
      </p:sp>
      <p:sp>
        <p:nvSpPr>
          <p:cNvPr id="55" name="Google Shape;55;p12"/>
          <p:cNvSpPr txBox="1"/>
          <p:nvPr>
            <p:ph idx="1" type="body"/>
          </p:nvPr>
        </p:nvSpPr>
        <p:spPr>
          <a:xfrm>
            <a:off x="457200" y="1021842"/>
            <a:ext cx="8229600" cy="3394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1pPr>
            <a:lvl2pPr indent="-3429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  <a:defRPr/>
            </a:lvl2pPr>
            <a:lvl3pPr indent="-3429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■"/>
              <a:defRPr/>
            </a:lvl3pPr>
            <a:lvl4pPr indent="-3429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4pPr>
            <a:lvl5pPr indent="-3429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  <a:defRPr/>
            </a:lvl5pPr>
            <a:lvl6pPr indent="-3429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■"/>
              <a:defRPr/>
            </a:lvl6pPr>
            <a:lvl7pPr indent="-3429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7pPr>
            <a:lvl8pPr indent="-3429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  <a:defRPr/>
            </a:lvl8pPr>
            <a:lvl9pPr indent="-3429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800"/>
              <a:buChar char="■"/>
              <a:defRPr/>
            </a:lvl9pPr>
          </a:lstStyle>
          <a:p/>
        </p:txBody>
      </p:sp>
      <p:sp>
        <p:nvSpPr>
          <p:cNvPr id="56" name="Google Shape;56;p12"/>
          <p:cNvSpPr txBox="1"/>
          <p:nvPr>
            <p:ph idx="10" type="dt"/>
          </p:nvPr>
        </p:nvSpPr>
        <p:spPr>
          <a:xfrm>
            <a:off x="0" y="0"/>
            <a:ext cx="3000000" cy="22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7" name="Google Shape;57;p12"/>
          <p:cNvSpPr txBox="1"/>
          <p:nvPr>
            <p:ph idx="11" type="ftr"/>
          </p:nvPr>
        </p:nvSpPr>
        <p:spPr>
          <a:xfrm>
            <a:off x="0" y="0"/>
            <a:ext cx="3000000" cy="22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8" name="Google Shape;58;p12"/>
          <p:cNvSpPr txBox="1"/>
          <p:nvPr>
            <p:ph idx="12" type="sldNum"/>
          </p:nvPr>
        </p:nvSpPr>
        <p:spPr>
          <a:xfrm>
            <a:off x="0" y="0"/>
            <a:ext cx="3000000" cy="22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 Only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3"/>
          <p:cNvSpPr txBox="1"/>
          <p:nvPr>
            <p:ph idx="10" type="dt"/>
          </p:nvPr>
        </p:nvSpPr>
        <p:spPr>
          <a:xfrm>
            <a:off x="457200" y="4857749"/>
            <a:ext cx="21336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1" name="Google Shape;61;p13"/>
          <p:cNvSpPr txBox="1"/>
          <p:nvPr>
            <p:ph idx="11" type="ftr"/>
          </p:nvPr>
        </p:nvSpPr>
        <p:spPr>
          <a:xfrm>
            <a:off x="2640596" y="4857749"/>
            <a:ext cx="55077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2" name="Google Shape;62;p13"/>
          <p:cNvSpPr txBox="1"/>
          <p:nvPr>
            <p:ph idx="12" type="sldNum"/>
          </p:nvPr>
        </p:nvSpPr>
        <p:spPr>
          <a:xfrm>
            <a:off x="8204396" y="4857749"/>
            <a:ext cx="7338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transition spd="med">
    <p:fade thruBlk="1"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 1">
  <p:cSld name="Title and Content"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4"/>
          <p:cNvSpPr txBox="1"/>
          <p:nvPr>
            <p:ph type="title"/>
          </p:nvPr>
        </p:nvSpPr>
        <p:spPr>
          <a:xfrm>
            <a:off x="569519" y="142741"/>
            <a:ext cx="8004900" cy="93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b="0" i="0" sz="3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9pPr>
          </a:lstStyle>
          <a:p/>
        </p:txBody>
      </p:sp>
      <p:sp>
        <p:nvSpPr>
          <p:cNvPr id="65" name="Google Shape;65;p14"/>
          <p:cNvSpPr txBox="1"/>
          <p:nvPr>
            <p:ph idx="1" type="body"/>
          </p:nvPr>
        </p:nvSpPr>
        <p:spPr>
          <a:xfrm>
            <a:off x="1412081" y="930269"/>
            <a:ext cx="6319800" cy="236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b="0" i="0" sz="1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300"/>
              <a:buNone/>
              <a:defRPr/>
            </a:lvl2pPr>
            <a:lvl3pPr indent="-2286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3pPr>
            <a:lvl4pPr indent="-2286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100"/>
              <a:buNone/>
              <a:defRPr/>
            </a:lvl4pPr>
            <a:lvl5pPr indent="-2286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000"/>
              <a:buNone/>
              <a:defRPr/>
            </a:lvl5pPr>
            <a:lvl6pPr indent="-2286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900"/>
              <a:buNone/>
              <a:defRPr/>
            </a:lvl6pPr>
            <a:lvl7pPr indent="-2286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800"/>
              <a:buNone/>
              <a:defRPr/>
            </a:lvl7pPr>
            <a:lvl8pPr indent="-2286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700"/>
              <a:buNone/>
              <a:defRPr/>
            </a:lvl8pPr>
            <a:lvl9pPr indent="-2286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600"/>
              <a:buNone/>
              <a:defRPr/>
            </a:lvl9pPr>
          </a:lstStyle>
          <a:p/>
        </p:txBody>
      </p:sp>
      <p:sp>
        <p:nvSpPr>
          <p:cNvPr id="66" name="Google Shape;66;p14"/>
          <p:cNvSpPr txBox="1"/>
          <p:nvPr>
            <p:ph idx="11" type="ftr"/>
          </p:nvPr>
        </p:nvSpPr>
        <p:spPr>
          <a:xfrm>
            <a:off x="1574006" y="4988871"/>
            <a:ext cx="5565000" cy="151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100" u="none" cap="none" strike="noStrike">
                <a:solidFill>
                  <a:srgbClr val="7E7E7E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7" name="Google Shape;67;p14"/>
          <p:cNvSpPr txBox="1"/>
          <p:nvPr>
            <p:ph idx="10" type="dt"/>
          </p:nvPr>
        </p:nvSpPr>
        <p:spPr>
          <a:xfrm>
            <a:off x="457200" y="4783455"/>
            <a:ext cx="2103000" cy="25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8" name="Google Shape;68;p14"/>
          <p:cNvSpPr txBox="1"/>
          <p:nvPr>
            <p:ph idx="12" type="sldNum"/>
          </p:nvPr>
        </p:nvSpPr>
        <p:spPr>
          <a:xfrm>
            <a:off x="6583680" y="4783455"/>
            <a:ext cx="21030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888888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888888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888888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888888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888888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888888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888888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888888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888888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>
              <a:solidFill>
                <a:srgbClr val="434343"/>
              </a:solidFill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1">
  <p:cSld name="Title Only_1"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5"/>
          <p:cNvSpPr txBox="1"/>
          <p:nvPr>
            <p:ph type="title"/>
          </p:nvPr>
        </p:nvSpPr>
        <p:spPr>
          <a:xfrm>
            <a:off x="3932967" y="348900"/>
            <a:ext cx="1278000" cy="521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b="0" i="0" sz="3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9pPr>
          </a:lstStyle>
          <a:p/>
        </p:txBody>
      </p:sp>
      <p:sp>
        <p:nvSpPr>
          <p:cNvPr id="71" name="Google Shape;71;p15"/>
          <p:cNvSpPr txBox="1"/>
          <p:nvPr>
            <p:ph idx="11" type="ftr"/>
          </p:nvPr>
        </p:nvSpPr>
        <p:spPr>
          <a:xfrm>
            <a:off x="1712499" y="5010073"/>
            <a:ext cx="5564400" cy="151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100" u="none" cap="none" strike="noStrike">
                <a:solidFill>
                  <a:srgbClr val="7E7E7E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2" name="Google Shape;72;p15"/>
          <p:cNvSpPr txBox="1"/>
          <p:nvPr>
            <p:ph idx="10" type="dt"/>
          </p:nvPr>
        </p:nvSpPr>
        <p:spPr>
          <a:xfrm>
            <a:off x="457200" y="4783455"/>
            <a:ext cx="2103000" cy="25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3" name="Google Shape;73;p15"/>
          <p:cNvSpPr txBox="1"/>
          <p:nvPr>
            <p:ph idx="12" type="sldNum"/>
          </p:nvPr>
        </p:nvSpPr>
        <p:spPr>
          <a:xfrm>
            <a:off x="6583680" y="4783455"/>
            <a:ext cx="21030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888888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888888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888888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888888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888888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888888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888888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888888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888888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>
              <a:solidFill>
                <a:srgbClr val="434343"/>
              </a:solidFill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2">
  <p:cSld name="Title Only_2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6"/>
          <p:cNvSpPr txBox="1"/>
          <p:nvPr>
            <p:ph type="title"/>
          </p:nvPr>
        </p:nvSpPr>
        <p:spPr>
          <a:xfrm>
            <a:off x="3932967" y="348900"/>
            <a:ext cx="1278000" cy="521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b="0" i="0" sz="3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9pPr>
          </a:lstStyle>
          <a:p/>
        </p:txBody>
      </p:sp>
      <p:sp>
        <p:nvSpPr>
          <p:cNvPr id="76" name="Google Shape;76;p16"/>
          <p:cNvSpPr txBox="1"/>
          <p:nvPr>
            <p:ph idx="11" type="ftr"/>
          </p:nvPr>
        </p:nvSpPr>
        <p:spPr>
          <a:xfrm>
            <a:off x="1712499" y="5010073"/>
            <a:ext cx="5564400" cy="151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100" u="none" cap="none" strike="noStrike">
                <a:solidFill>
                  <a:srgbClr val="7E7E7E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7" name="Google Shape;77;p16"/>
          <p:cNvSpPr txBox="1"/>
          <p:nvPr>
            <p:ph idx="10" type="dt"/>
          </p:nvPr>
        </p:nvSpPr>
        <p:spPr>
          <a:xfrm>
            <a:off x="457200" y="4783455"/>
            <a:ext cx="2103000" cy="25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8" name="Google Shape;78;p16"/>
          <p:cNvSpPr txBox="1"/>
          <p:nvPr>
            <p:ph idx="12" type="sldNum"/>
          </p:nvPr>
        </p:nvSpPr>
        <p:spPr>
          <a:xfrm>
            <a:off x="6583680" y="4783455"/>
            <a:ext cx="21030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888888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888888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888888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888888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888888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888888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888888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888888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888888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>
              <a:solidFill>
                <a:srgbClr val="434343"/>
              </a:solidFill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3">
  <p:cSld name="Title Only_3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7"/>
          <p:cNvSpPr txBox="1"/>
          <p:nvPr>
            <p:ph type="title"/>
          </p:nvPr>
        </p:nvSpPr>
        <p:spPr>
          <a:xfrm>
            <a:off x="390424" y="497078"/>
            <a:ext cx="8363100" cy="45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b="0" i="0" sz="2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9pPr>
          </a:lstStyle>
          <a:p/>
        </p:txBody>
      </p:sp>
      <p:sp>
        <p:nvSpPr>
          <p:cNvPr id="81" name="Google Shape;81;p17"/>
          <p:cNvSpPr txBox="1"/>
          <p:nvPr>
            <p:ph idx="11" type="ftr"/>
          </p:nvPr>
        </p:nvSpPr>
        <p:spPr>
          <a:xfrm>
            <a:off x="2879178" y="4948409"/>
            <a:ext cx="3503400" cy="11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600" u="none" cap="none" strike="noStrike">
                <a:solidFill>
                  <a:srgbClr val="7D7D7D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2" name="Google Shape;82;p17"/>
          <p:cNvSpPr txBox="1"/>
          <p:nvPr>
            <p:ph idx="10" type="dt"/>
          </p:nvPr>
        </p:nvSpPr>
        <p:spPr>
          <a:xfrm>
            <a:off x="457200" y="4783455"/>
            <a:ext cx="2103000" cy="25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3" name="Google Shape;83;p17"/>
          <p:cNvSpPr txBox="1"/>
          <p:nvPr>
            <p:ph idx="12" type="sldNum"/>
          </p:nvPr>
        </p:nvSpPr>
        <p:spPr>
          <a:xfrm>
            <a:off x="6583680" y="4783455"/>
            <a:ext cx="21030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888888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888888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888888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888888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888888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888888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888888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888888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888888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>
              <a:solidFill>
                <a:srgbClr val="434343"/>
              </a:solidFill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OBJECT_1"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8"/>
          <p:cNvSpPr txBox="1"/>
          <p:nvPr>
            <p:ph type="ctrTitle"/>
          </p:nvPr>
        </p:nvSpPr>
        <p:spPr>
          <a:xfrm>
            <a:off x="2938259" y="1851799"/>
            <a:ext cx="3267600" cy="81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b="0" i="0" sz="5200">
                <a:solidFill>
                  <a:srgbClr val="365F9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9pPr>
          </a:lstStyle>
          <a:p/>
        </p:txBody>
      </p:sp>
      <p:sp>
        <p:nvSpPr>
          <p:cNvPr id="86" name="Google Shape;86;p18"/>
          <p:cNvSpPr txBox="1"/>
          <p:nvPr>
            <p:ph idx="1" type="subTitle"/>
          </p:nvPr>
        </p:nvSpPr>
        <p:spPr>
          <a:xfrm>
            <a:off x="1371600" y="2880360"/>
            <a:ext cx="6400800" cy="12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1pPr>
            <a:lvl2pPr lvl="1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300"/>
              <a:buNone/>
              <a:defRPr/>
            </a:lvl2pPr>
            <a:lvl3pPr lvl="2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3pPr>
            <a:lvl4pPr lvl="3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000"/>
              <a:buNone/>
              <a:defRPr/>
            </a:lvl5pPr>
            <a:lvl6pPr lvl="5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900"/>
              <a:buNone/>
              <a:defRPr/>
            </a:lvl6pPr>
            <a:lvl7pPr lvl="6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800"/>
              <a:buNone/>
              <a:defRPr/>
            </a:lvl7pPr>
            <a:lvl8pPr lvl="7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600"/>
              <a:buNone/>
              <a:defRPr/>
            </a:lvl9pPr>
          </a:lstStyle>
          <a:p/>
        </p:txBody>
      </p:sp>
      <p:sp>
        <p:nvSpPr>
          <p:cNvPr id="87" name="Google Shape;87;p18"/>
          <p:cNvSpPr txBox="1"/>
          <p:nvPr>
            <p:ph idx="11" type="ftr"/>
          </p:nvPr>
        </p:nvSpPr>
        <p:spPr>
          <a:xfrm>
            <a:off x="2879178" y="4948409"/>
            <a:ext cx="3503400" cy="11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600" u="none" cap="none" strike="noStrike">
                <a:solidFill>
                  <a:srgbClr val="7D7D7D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8" name="Google Shape;88;p18"/>
          <p:cNvSpPr txBox="1"/>
          <p:nvPr>
            <p:ph idx="10" type="dt"/>
          </p:nvPr>
        </p:nvSpPr>
        <p:spPr>
          <a:xfrm>
            <a:off x="457200" y="4783455"/>
            <a:ext cx="2103000" cy="25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9" name="Google Shape;89;p18"/>
          <p:cNvSpPr txBox="1"/>
          <p:nvPr>
            <p:ph idx="12" type="sldNum"/>
          </p:nvPr>
        </p:nvSpPr>
        <p:spPr>
          <a:xfrm>
            <a:off x="6583680" y="4783455"/>
            <a:ext cx="21030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888888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888888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888888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888888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888888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888888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888888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888888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888888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>
              <a:solidFill>
                <a:srgbClr val="434343"/>
              </a:solidFill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4">
  <p:cSld name="OBJECT_2"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9"/>
          <p:cNvSpPr txBox="1"/>
          <p:nvPr>
            <p:ph type="title"/>
          </p:nvPr>
        </p:nvSpPr>
        <p:spPr>
          <a:xfrm>
            <a:off x="3368992" y="2453440"/>
            <a:ext cx="2406000" cy="22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b="1" i="0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9pPr>
          </a:lstStyle>
          <a:p/>
        </p:txBody>
      </p:sp>
      <p:sp>
        <p:nvSpPr>
          <p:cNvPr id="92" name="Google Shape;92;p19"/>
          <p:cNvSpPr txBox="1"/>
          <p:nvPr>
            <p:ph idx="11" type="ftr"/>
          </p:nvPr>
        </p:nvSpPr>
        <p:spPr>
          <a:xfrm>
            <a:off x="3108960" y="4783455"/>
            <a:ext cx="2926200" cy="25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3" name="Google Shape;93;p19"/>
          <p:cNvSpPr txBox="1"/>
          <p:nvPr>
            <p:ph idx="10" type="dt"/>
          </p:nvPr>
        </p:nvSpPr>
        <p:spPr>
          <a:xfrm>
            <a:off x="457200" y="4783455"/>
            <a:ext cx="2103000" cy="25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4" name="Google Shape;94;p19"/>
          <p:cNvSpPr txBox="1"/>
          <p:nvPr>
            <p:ph idx="12" type="sldNum"/>
          </p:nvPr>
        </p:nvSpPr>
        <p:spPr>
          <a:xfrm>
            <a:off x="50889" y="4980883"/>
            <a:ext cx="2166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254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7E7E7E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254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7E7E7E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254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7E7E7E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254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7E7E7E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254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7E7E7E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254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7E7E7E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254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7E7E7E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254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7E7E7E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254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7E7E7E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2540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 b="1">
              <a:solidFill>
                <a:srgbClr val="434343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2">
  <p:cSld name="Blank"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0"/>
          <p:cNvSpPr txBox="1"/>
          <p:nvPr>
            <p:ph idx="11" type="ftr"/>
          </p:nvPr>
        </p:nvSpPr>
        <p:spPr>
          <a:xfrm>
            <a:off x="3108960" y="4783455"/>
            <a:ext cx="2926200" cy="25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7" name="Google Shape;97;p20"/>
          <p:cNvSpPr txBox="1"/>
          <p:nvPr>
            <p:ph idx="10" type="dt"/>
          </p:nvPr>
        </p:nvSpPr>
        <p:spPr>
          <a:xfrm>
            <a:off x="457200" y="4783455"/>
            <a:ext cx="2103000" cy="25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8" name="Google Shape;98;p20"/>
          <p:cNvSpPr txBox="1"/>
          <p:nvPr>
            <p:ph idx="12" type="sldNum"/>
          </p:nvPr>
        </p:nvSpPr>
        <p:spPr>
          <a:xfrm>
            <a:off x="50889" y="4980883"/>
            <a:ext cx="2166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254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7E7E7E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254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7E7E7E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254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7E7E7E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254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7E7E7E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254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7E7E7E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254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7E7E7E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254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7E7E7E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254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7E7E7E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254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7E7E7E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2540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 b="1">
              <a:solidFill>
                <a:srgbClr val="434343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>
  <p:cSld name="Two Content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1"/>
          <p:cNvSpPr txBox="1"/>
          <p:nvPr>
            <p:ph type="title"/>
          </p:nvPr>
        </p:nvSpPr>
        <p:spPr>
          <a:xfrm>
            <a:off x="3368992" y="2453440"/>
            <a:ext cx="2406000" cy="22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b="1" i="0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9pPr>
          </a:lstStyle>
          <a:p/>
        </p:txBody>
      </p:sp>
      <p:sp>
        <p:nvSpPr>
          <p:cNvPr id="101" name="Google Shape;101;p21"/>
          <p:cNvSpPr txBox="1"/>
          <p:nvPr>
            <p:ph idx="1" type="body"/>
          </p:nvPr>
        </p:nvSpPr>
        <p:spPr>
          <a:xfrm>
            <a:off x="457200" y="1183005"/>
            <a:ext cx="3977700" cy="339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1pPr>
            <a:lvl2pPr indent="-2286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300"/>
              <a:buNone/>
              <a:defRPr/>
            </a:lvl2pPr>
            <a:lvl3pPr indent="-2286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3pPr>
            <a:lvl4pPr indent="-2286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100"/>
              <a:buNone/>
              <a:defRPr/>
            </a:lvl4pPr>
            <a:lvl5pPr indent="-2286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000"/>
              <a:buNone/>
              <a:defRPr/>
            </a:lvl5pPr>
            <a:lvl6pPr indent="-2286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900"/>
              <a:buNone/>
              <a:defRPr/>
            </a:lvl6pPr>
            <a:lvl7pPr indent="-2286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800"/>
              <a:buNone/>
              <a:defRPr/>
            </a:lvl7pPr>
            <a:lvl8pPr indent="-2286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700"/>
              <a:buNone/>
              <a:defRPr/>
            </a:lvl8pPr>
            <a:lvl9pPr indent="-2286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600"/>
              <a:buNone/>
              <a:defRPr/>
            </a:lvl9pPr>
          </a:lstStyle>
          <a:p/>
        </p:txBody>
      </p:sp>
      <p:sp>
        <p:nvSpPr>
          <p:cNvPr id="102" name="Google Shape;102;p21"/>
          <p:cNvSpPr txBox="1"/>
          <p:nvPr>
            <p:ph idx="2" type="body"/>
          </p:nvPr>
        </p:nvSpPr>
        <p:spPr>
          <a:xfrm>
            <a:off x="4709160" y="1183005"/>
            <a:ext cx="3977700" cy="339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1pPr>
            <a:lvl2pPr indent="-2286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300"/>
              <a:buNone/>
              <a:defRPr/>
            </a:lvl2pPr>
            <a:lvl3pPr indent="-2286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3pPr>
            <a:lvl4pPr indent="-2286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100"/>
              <a:buNone/>
              <a:defRPr/>
            </a:lvl4pPr>
            <a:lvl5pPr indent="-2286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000"/>
              <a:buNone/>
              <a:defRPr/>
            </a:lvl5pPr>
            <a:lvl6pPr indent="-2286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900"/>
              <a:buNone/>
              <a:defRPr/>
            </a:lvl6pPr>
            <a:lvl7pPr indent="-2286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800"/>
              <a:buNone/>
              <a:defRPr/>
            </a:lvl7pPr>
            <a:lvl8pPr indent="-2286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700"/>
              <a:buNone/>
              <a:defRPr/>
            </a:lvl8pPr>
            <a:lvl9pPr indent="-2286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600"/>
              <a:buNone/>
              <a:defRPr/>
            </a:lvl9pPr>
          </a:lstStyle>
          <a:p/>
        </p:txBody>
      </p:sp>
      <p:sp>
        <p:nvSpPr>
          <p:cNvPr id="103" name="Google Shape;103;p21"/>
          <p:cNvSpPr txBox="1"/>
          <p:nvPr>
            <p:ph idx="11" type="ftr"/>
          </p:nvPr>
        </p:nvSpPr>
        <p:spPr>
          <a:xfrm>
            <a:off x="3108960" y="4783455"/>
            <a:ext cx="2926200" cy="25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4" name="Google Shape;104;p21"/>
          <p:cNvSpPr txBox="1"/>
          <p:nvPr>
            <p:ph idx="10" type="dt"/>
          </p:nvPr>
        </p:nvSpPr>
        <p:spPr>
          <a:xfrm>
            <a:off x="457200" y="4783455"/>
            <a:ext cx="2103000" cy="25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5" name="Google Shape;105;p21"/>
          <p:cNvSpPr txBox="1"/>
          <p:nvPr>
            <p:ph idx="12" type="sldNum"/>
          </p:nvPr>
        </p:nvSpPr>
        <p:spPr>
          <a:xfrm>
            <a:off x="50889" y="4980883"/>
            <a:ext cx="2166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254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7E7E7E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254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7E7E7E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254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7E7E7E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254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7E7E7E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254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7E7E7E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254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7E7E7E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254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7E7E7E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254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7E7E7E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254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7E7E7E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2540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 b="1">
              <a:solidFill>
                <a:srgbClr val="434343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1 1">
  <p:cSld name="OBJECT_1_1"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2"/>
          <p:cNvSpPr txBox="1"/>
          <p:nvPr>
            <p:ph type="title"/>
          </p:nvPr>
        </p:nvSpPr>
        <p:spPr>
          <a:xfrm>
            <a:off x="2936867" y="2199322"/>
            <a:ext cx="3275400" cy="673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b="1" i="0" sz="430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9pPr>
          </a:lstStyle>
          <a:p/>
        </p:txBody>
      </p:sp>
      <p:sp>
        <p:nvSpPr>
          <p:cNvPr id="108" name="Google Shape;108;p22"/>
          <p:cNvSpPr txBox="1"/>
          <p:nvPr>
            <p:ph idx="11" type="ftr"/>
          </p:nvPr>
        </p:nvSpPr>
        <p:spPr>
          <a:xfrm>
            <a:off x="708292" y="4920311"/>
            <a:ext cx="6447300" cy="17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9" name="Google Shape;109;p22"/>
          <p:cNvSpPr txBox="1"/>
          <p:nvPr>
            <p:ph idx="10" type="dt"/>
          </p:nvPr>
        </p:nvSpPr>
        <p:spPr>
          <a:xfrm>
            <a:off x="457452" y="4783454"/>
            <a:ext cx="2104200" cy="25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0" name="Google Shape;110;p22"/>
          <p:cNvSpPr txBox="1"/>
          <p:nvPr>
            <p:ph idx="12" type="sldNum"/>
          </p:nvPr>
        </p:nvSpPr>
        <p:spPr>
          <a:xfrm>
            <a:off x="7529030" y="4838548"/>
            <a:ext cx="1884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254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58585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254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58585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254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58585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254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58585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254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58585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254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58585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254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58585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254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58585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254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58585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2540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 b="1" sz="800">
              <a:solidFill>
                <a:srgbClr val="434343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Slide ">
  <p:cSld name="TITLE_AND_BODY_1"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2 1">
  <p:cSld name="Blank 2"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24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1">
  <p:cSld name="BLANK_1"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26"/>
          <p:cNvSpPr/>
          <p:nvPr/>
        </p:nvSpPr>
        <p:spPr>
          <a:xfrm>
            <a:off x="1" y="-335"/>
            <a:ext cx="9144600" cy="5143800"/>
          </a:xfrm>
          <a:prstGeom prst="rect">
            <a:avLst/>
          </a:prstGeom>
          <a:solidFill>
            <a:srgbClr val="0E39A9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A close up of a logo&#10;&#10;Description automatically generated" id="125" name="Google Shape;125;p26"/>
          <p:cNvPicPr preferRelativeResize="0"/>
          <p:nvPr/>
        </p:nvPicPr>
        <p:blipFill rotWithShape="1">
          <a:blip r:embed="rId2">
            <a:alphaModFix/>
          </a:blip>
          <a:srcRect b="19147" l="42816" r="37294" t="18360"/>
          <a:stretch/>
        </p:blipFill>
        <p:spPr>
          <a:xfrm>
            <a:off x="6052536" y="514443"/>
            <a:ext cx="2095112" cy="3703320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p26"/>
          <p:cNvSpPr txBox="1"/>
          <p:nvPr>
            <p:ph type="title"/>
          </p:nvPr>
        </p:nvSpPr>
        <p:spPr>
          <a:xfrm>
            <a:off x="70129" y="6703219"/>
            <a:ext cx="15008700" cy="69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850">
            <a:no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27" name="Google Shape;127;p26"/>
          <p:cNvSpPr txBox="1"/>
          <p:nvPr/>
        </p:nvSpPr>
        <p:spPr>
          <a:xfrm>
            <a:off x="334565" y="1676232"/>
            <a:ext cx="4372800" cy="179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</a:pPr>
            <a:r>
              <a:rPr b="0" i="0" lang="en" sz="3300" u="none" cap="none" strike="noStrike">
                <a:solidFill>
                  <a:schemeClr val="lt1"/>
                </a:solidFill>
                <a:latin typeface="Nunito ExtraBold"/>
                <a:ea typeface="Nunito ExtraBold"/>
                <a:cs typeface="Nunito ExtraBold"/>
                <a:sym typeface="Nunito ExtraBold"/>
              </a:rPr>
              <a:t>Power Ahead!</a:t>
            </a:r>
            <a:endParaRPr b="0" i="0" sz="3300" u="none" cap="none" strike="noStrike">
              <a:solidFill>
                <a:schemeClr val="lt1"/>
              </a:solidFill>
              <a:latin typeface="Nunito ExtraBold"/>
              <a:ea typeface="Nunito ExtraBold"/>
              <a:cs typeface="Nunito ExtraBold"/>
              <a:sym typeface="Nunito ExtraBold"/>
            </a:endParaRPr>
          </a:p>
        </p:txBody>
      </p:sp>
      <p:pic>
        <p:nvPicPr>
          <p:cNvPr id="128" name="Google Shape;128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21875" y="769949"/>
            <a:ext cx="3071452" cy="1261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27"/>
          <p:cNvSpPr txBox="1"/>
          <p:nvPr>
            <p:ph type="ctrTitle"/>
          </p:nvPr>
        </p:nvSpPr>
        <p:spPr>
          <a:xfrm>
            <a:off x="1260908" y="717750"/>
            <a:ext cx="66222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4800"/>
              <a:buFont typeface="Nunito"/>
              <a:buNone/>
              <a:defRPr sz="4800">
                <a:solidFill>
                  <a:srgbClr val="0E39A9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4800"/>
              <a:buFont typeface="Nunito"/>
              <a:buNone/>
              <a:defRPr sz="4800">
                <a:solidFill>
                  <a:srgbClr val="0E39A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4800"/>
              <a:buFont typeface="Nunito"/>
              <a:buNone/>
              <a:defRPr sz="4800">
                <a:solidFill>
                  <a:srgbClr val="0E39A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4800"/>
              <a:buFont typeface="Nunito"/>
              <a:buNone/>
              <a:defRPr sz="4800">
                <a:solidFill>
                  <a:srgbClr val="0E39A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4800"/>
              <a:buFont typeface="Nunito"/>
              <a:buNone/>
              <a:defRPr sz="4800">
                <a:solidFill>
                  <a:srgbClr val="0E39A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4800"/>
              <a:buFont typeface="Nunito"/>
              <a:buNone/>
              <a:defRPr sz="4800">
                <a:solidFill>
                  <a:srgbClr val="0E39A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4800"/>
              <a:buFont typeface="Nunito"/>
              <a:buNone/>
              <a:defRPr sz="4800">
                <a:solidFill>
                  <a:srgbClr val="0E39A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4800"/>
              <a:buFont typeface="Nunito"/>
              <a:buNone/>
              <a:defRPr sz="4800">
                <a:solidFill>
                  <a:srgbClr val="0E39A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4800"/>
              <a:buFont typeface="Nunito"/>
              <a:buNone/>
              <a:defRPr sz="4800">
                <a:solidFill>
                  <a:srgbClr val="0E39A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/>
        </p:txBody>
      </p:sp>
      <p:sp>
        <p:nvSpPr>
          <p:cNvPr id="131" name="Google Shape;131;p27"/>
          <p:cNvSpPr txBox="1"/>
          <p:nvPr>
            <p:ph idx="1" type="subTitle"/>
          </p:nvPr>
        </p:nvSpPr>
        <p:spPr>
          <a:xfrm>
            <a:off x="1260902" y="2770350"/>
            <a:ext cx="66222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600"/>
              <a:buFont typeface="Nunito SemiBold"/>
              <a:buNone/>
              <a:defRPr b="1" sz="2600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600"/>
              <a:buFont typeface="Nunito SemiBold"/>
              <a:buNone/>
              <a:defRPr b="1" sz="2600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600"/>
              <a:buFont typeface="Nunito SemiBold"/>
              <a:buNone/>
              <a:defRPr b="1" sz="2600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600"/>
              <a:buFont typeface="Nunito SemiBold"/>
              <a:buNone/>
              <a:defRPr b="1" sz="2600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600"/>
              <a:buFont typeface="Nunito SemiBold"/>
              <a:buNone/>
              <a:defRPr b="1" sz="2600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600"/>
              <a:buFont typeface="Nunito SemiBold"/>
              <a:buNone/>
              <a:defRPr b="1" sz="2600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600"/>
              <a:buFont typeface="Nunito SemiBold"/>
              <a:buNone/>
              <a:defRPr b="1" sz="2600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600"/>
              <a:buFont typeface="Nunito SemiBold"/>
              <a:buNone/>
              <a:defRPr b="1" sz="2600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600"/>
              <a:buFont typeface="Nunito SemiBold"/>
              <a:buNone/>
              <a:defRPr b="1" sz="2600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28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3600"/>
              <a:buNone/>
              <a:defRPr sz="3600">
                <a:solidFill>
                  <a:srgbClr val="0E39A9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3600"/>
              <a:buNone/>
              <a:defRPr sz="3600">
                <a:solidFill>
                  <a:srgbClr val="0E39A9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3600"/>
              <a:buNone/>
              <a:defRPr sz="3600">
                <a:solidFill>
                  <a:srgbClr val="0E39A9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3600"/>
              <a:buNone/>
              <a:defRPr sz="3600">
                <a:solidFill>
                  <a:srgbClr val="0E39A9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3600"/>
              <a:buNone/>
              <a:defRPr sz="3600">
                <a:solidFill>
                  <a:srgbClr val="0E39A9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3600"/>
              <a:buNone/>
              <a:defRPr sz="3600">
                <a:solidFill>
                  <a:srgbClr val="0E39A9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3600"/>
              <a:buNone/>
              <a:defRPr sz="3600">
                <a:solidFill>
                  <a:srgbClr val="0E39A9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3600"/>
              <a:buNone/>
              <a:defRPr sz="3600">
                <a:solidFill>
                  <a:srgbClr val="0E39A9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3600"/>
              <a:buNone/>
              <a:defRPr sz="3600">
                <a:solidFill>
                  <a:srgbClr val="0E39A9"/>
                </a:solidFill>
              </a:defRPr>
            </a:lvl9pPr>
          </a:lstStyle>
          <a:p/>
        </p:txBody>
      </p:sp>
      <p:sp>
        <p:nvSpPr>
          <p:cNvPr id="134" name="Google Shape;134;p28"/>
          <p:cNvSpPr txBox="1"/>
          <p:nvPr>
            <p:ph idx="12" type="sldNum"/>
          </p:nvPr>
        </p:nvSpPr>
        <p:spPr>
          <a:xfrm>
            <a:off x="8832299" y="4946907"/>
            <a:ext cx="365400" cy="21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29"/>
          <p:cNvSpPr txBox="1"/>
          <p:nvPr>
            <p:ph type="title"/>
          </p:nvPr>
        </p:nvSpPr>
        <p:spPr>
          <a:xfrm>
            <a:off x="202550" y="289279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9pPr>
          </a:lstStyle>
          <a:p/>
        </p:txBody>
      </p:sp>
      <p:sp>
        <p:nvSpPr>
          <p:cNvPr id="137" name="Google Shape;137;p29"/>
          <p:cNvSpPr txBox="1"/>
          <p:nvPr>
            <p:ph idx="1" type="body"/>
          </p:nvPr>
        </p:nvSpPr>
        <p:spPr>
          <a:xfrm>
            <a:off x="202550" y="861975"/>
            <a:ext cx="8629800" cy="370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238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Nunito"/>
              <a:buChar char="●"/>
              <a:defRPr>
                <a:latin typeface="Nunito"/>
                <a:ea typeface="Nunito"/>
                <a:cs typeface="Nunito"/>
                <a:sym typeface="Nunito"/>
              </a:defRPr>
            </a:lvl1pPr>
            <a:lvl2pPr indent="-31115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300"/>
              <a:buFont typeface="Nunito"/>
              <a:buChar char="○"/>
              <a:defRPr>
                <a:latin typeface="Nunito"/>
                <a:ea typeface="Nunito"/>
                <a:cs typeface="Nunito"/>
                <a:sym typeface="Nunito"/>
              </a:defRPr>
            </a:lvl2pPr>
            <a:lvl3pPr indent="-3048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Font typeface="Nunito"/>
              <a:buChar char="■"/>
              <a:defRPr>
                <a:latin typeface="Nunito"/>
                <a:ea typeface="Nunito"/>
                <a:cs typeface="Nunito"/>
                <a:sym typeface="Nunito"/>
              </a:defRPr>
            </a:lvl3pPr>
            <a:lvl4pPr indent="-29845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100"/>
              <a:buFont typeface="Nunito"/>
              <a:buChar char="●"/>
              <a:defRPr>
                <a:latin typeface="Nunito"/>
                <a:ea typeface="Nunito"/>
                <a:cs typeface="Nunito"/>
                <a:sym typeface="Nunito"/>
              </a:defRPr>
            </a:lvl4pPr>
            <a:lvl5pPr indent="-2921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000"/>
              <a:buFont typeface="Nunito"/>
              <a:buChar char="○"/>
              <a:defRPr>
                <a:latin typeface="Nunito"/>
                <a:ea typeface="Nunito"/>
                <a:cs typeface="Nunito"/>
                <a:sym typeface="Nunito"/>
              </a:defRPr>
            </a:lvl5pPr>
            <a:lvl6pPr indent="-28575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900"/>
              <a:buFont typeface="Nunito"/>
              <a:buChar char="■"/>
              <a:defRPr>
                <a:latin typeface="Nunito"/>
                <a:ea typeface="Nunito"/>
                <a:cs typeface="Nunito"/>
                <a:sym typeface="Nunito"/>
              </a:defRPr>
            </a:lvl6pPr>
            <a:lvl7pPr indent="-2794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800"/>
              <a:buFont typeface="Nunito"/>
              <a:buChar char="●"/>
              <a:defRPr>
                <a:latin typeface="Nunito"/>
                <a:ea typeface="Nunito"/>
                <a:cs typeface="Nunito"/>
                <a:sym typeface="Nunito"/>
              </a:defRPr>
            </a:lvl7pPr>
            <a:lvl8pPr indent="-27305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700"/>
              <a:buFont typeface="Nunito"/>
              <a:buChar char="○"/>
              <a:defRPr>
                <a:latin typeface="Nunito"/>
                <a:ea typeface="Nunito"/>
                <a:cs typeface="Nunito"/>
                <a:sym typeface="Nunito"/>
              </a:defRPr>
            </a:lvl8pPr>
            <a:lvl9pPr indent="-2667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600"/>
              <a:buFont typeface="Nunito"/>
              <a:buChar char="■"/>
              <a:defRPr>
                <a:latin typeface="Nunito"/>
                <a:ea typeface="Nunito"/>
                <a:cs typeface="Nunito"/>
                <a:sym typeface="Nunito"/>
              </a:defRPr>
            </a:lvl9pPr>
          </a:lstStyle>
          <a:p/>
        </p:txBody>
      </p:sp>
      <p:sp>
        <p:nvSpPr>
          <p:cNvPr id="138" name="Google Shape;138;p29"/>
          <p:cNvSpPr txBox="1"/>
          <p:nvPr>
            <p:ph idx="12" type="sldNum"/>
          </p:nvPr>
        </p:nvSpPr>
        <p:spPr>
          <a:xfrm>
            <a:off x="8832299" y="4946907"/>
            <a:ext cx="365400" cy="21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able">
  <p:cSld name="CUSTOM"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30"/>
          <p:cNvSpPr txBox="1"/>
          <p:nvPr>
            <p:ph type="title"/>
          </p:nvPr>
        </p:nvSpPr>
        <p:spPr>
          <a:xfrm>
            <a:off x="201972" y="288368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9pPr>
          </a:lstStyle>
          <a:p/>
        </p:txBody>
      </p:sp>
      <p:graphicFrame>
        <p:nvGraphicFramePr>
          <p:cNvPr id="141" name="Google Shape;141;p30"/>
          <p:cNvGraphicFramePr/>
          <p:nvPr/>
        </p:nvGraphicFramePr>
        <p:xfrm>
          <a:off x="201942" y="833662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{A5698273-5225-4557-BD2E-0B8C5CF09AB3}</a:tableStyleId>
              </a:tblPr>
              <a:tblGrid>
                <a:gridCol w="883125"/>
                <a:gridCol w="3886050"/>
                <a:gridCol w="3886050"/>
              </a:tblGrid>
              <a:tr h="6735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Nunito"/>
                          <a:ea typeface="Nunito"/>
                          <a:cs typeface="Nunito"/>
                          <a:sym typeface="Nunito"/>
                        </a:rPr>
                        <a:t>Cluster</a:t>
                      </a:r>
                      <a:endParaRPr sz="1400" u="none" cap="none" strike="noStrik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45725" marB="45725" marR="91450" marL="91450" anchor="ctr"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Nunito"/>
                          <a:ea typeface="Nunito"/>
                          <a:cs typeface="Nunito"/>
                          <a:sym typeface="Nunito"/>
                        </a:rPr>
                        <a:t>Cluster Profile </a:t>
                      </a:r>
                      <a:endParaRPr sz="1400" u="none" cap="none" strike="noStrik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Nunito"/>
                          <a:ea typeface="Nunito"/>
                          <a:cs typeface="Nunito"/>
                          <a:sym typeface="Nunito"/>
                        </a:rPr>
                        <a:t>Business Insights for Marketing Team</a:t>
                      </a:r>
                      <a:endParaRPr sz="1400" u="none" cap="none" strike="noStrik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</a:tr>
              <a:tr h="7533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>
                          <a:latin typeface="Nunito"/>
                          <a:ea typeface="Nunito"/>
                          <a:cs typeface="Nunito"/>
                          <a:sym typeface="Nunito"/>
                        </a:rPr>
                        <a:t>1</a:t>
                      </a:r>
                      <a:endParaRPr sz="1200" u="none" cap="none" strike="noStrik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45725" marB="45725" marR="91450" marL="91450" anchor="ctr"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>
                          <a:latin typeface="Nunito"/>
                          <a:ea typeface="Nunito"/>
                          <a:cs typeface="Nunito"/>
                          <a:sym typeface="Nunito"/>
                        </a:rPr>
                        <a:t>High value customers who have many credit cards and prefer to engage online</a:t>
                      </a:r>
                      <a:endParaRPr sz="1200" u="none" cap="none" strike="noStrik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>
                          <a:latin typeface="Nunito"/>
                          <a:ea typeface="Nunito"/>
                          <a:cs typeface="Nunito"/>
                          <a:sym typeface="Nunito"/>
                        </a:rPr>
                        <a:t>Engage Online – Set up priority calling in lines – Upsell and Cross sell premium products</a:t>
                      </a:r>
                      <a:endParaRPr sz="1200" u="none" cap="none" strike="noStrik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</a:tr>
              <a:tr h="6695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>
                          <a:latin typeface="Nunito"/>
                          <a:ea typeface="Nunito"/>
                          <a:cs typeface="Nunito"/>
                          <a:sym typeface="Nunito"/>
                        </a:rPr>
                        <a:t>2</a:t>
                      </a:r>
                      <a:endParaRPr sz="1200" u="none" cap="none" strike="noStrik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45725" marB="45725" marR="91450" marL="91450" anchor="ctr"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aseline="30000" lang="en" sz="1200" u="none" cap="none" strike="noStrike">
                          <a:latin typeface="Nunito"/>
                          <a:ea typeface="Nunito"/>
                          <a:cs typeface="Nunito"/>
                          <a:sym typeface="Nunito"/>
                        </a:rPr>
                        <a:t>…</a:t>
                      </a:r>
                      <a:endParaRPr sz="1200" u="none" cap="none" strike="noStrik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>
                          <a:latin typeface="Nunito"/>
                          <a:ea typeface="Nunito"/>
                          <a:cs typeface="Nunito"/>
                          <a:sym typeface="Nunito"/>
                        </a:rPr>
                        <a:t>..</a:t>
                      </a:r>
                      <a:endParaRPr sz="1200" u="none" cap="none" strike="noStrik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</a:tr>
              <a:tr h="6695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>
                          <a:latin typeface="Nunito"/>
                          <a:ea typeface="Nunito"/>
                          <a:cs typeface="Nunito"/>
                          <a:sym typeface="Nunito"/>
                        </a:rPr>
                        <a:t>3</a:t>
                      </a:r>
                      <a:endParaRPr sz="1200" u="none" cap="none" strike="noStrik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45725" marB="45725" marR="91450" marL="91450" anchor="ctr"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>
                          <a:latin typeface="Nunito"/>
                          <a:ea typeface="Nunito"/>
                          <a:cs typeface="Nunito"/>
                          <a:sym typeface="Nunito"/>
                        </a:rPr>
                        <a:t>…</a:t>
                      </a:r>
                      <a:endParaRPr sz="1200" u="none" cap="none" strike="noStrik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>
                          <a:latin typeface="Nunito"/>
                          <a:ea typeface="Nunito"/>
                          <a:cs typeface="Nunito"/>
                          <a:sym typeface="Nunito"/>
                        </a:rPr>
                        <a:t>…</a:t>
                      </a:r>
                      <a:endParaRPr sz="1200" u="none" cap="none" strike="noStrik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</a:tr>
              <a:tr h="6695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45725" marB="45725" marR="91450" marL="91450" anchor="ctr"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</a:tr>
            </a:tbl>
          </a:graphicData>
        </a:graphic>
      </p:graphicFrame>
      <p:sp>
        <p:nvSpPr>
          <p:cNvPr id="142" name="Google Shape;142;p30"/>
          <p:cNvSpPr txBox="1"/>
          <p:nvPr>
            <p:ph idx="12" type="sldNum"/>
          </p:nvPr>
        </p:nvSpPr>
        <p:spPr>
          <a:xfrm>
            <a:off x="8832299" y="4946907"/>
            <a:ext cx="365400" cy="21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31"/>
          <p:cNvSpPr txBox="1"/>
          <p:nvPr>
            <p:ph type="title"/>
          </p:nvPr>
        </p:nvSpPr>
        <p:spPr>
          <a:xfrm>
            <a:off x="201972" y="288368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9pPr>
          </a:lstStyle>
          <a:p/>
        </p:txBody>
      </p:sp>
      <p:sp>
        <p:nvSpPr>
          <p:cNvPr id="145" name="Google Shape;145;p31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46" name="Google Shape;146;p31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47" name="Google Shape;147;p31"/>
          <p:cNvSpPr txBox="1"/>
          <p:nvPr>
            <p:ph idx="12" type="sldNum"/>
          </p:nvPr>
        </p:nvSpPr>
        <p:spPr>
          <a:xfrm>
            <a:off x="8832299" y="4946907"/>
            <a:ext cx="365400" cy="21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32"/>
          <p:cNvSpPr txBox="1"/>
          <p:nvPr>
            <p:ph type="title"/>
          </p:nvPr>
        </p:nvSpPr>
        <p:spPr>
          <a:xfrm>
            <a:off x="201972" y="288368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9pPr>
          </a:lstStyle>
          <a:p/>
        </p:txBody>
      </p:sp>
      <p:sp>
        <p:nvSpPr>
          <p:cNvPr id="150" name="Google Shape;150;p32"/>
          <p:cNvSpPr txBox="1"/>
          <p:nvPr>
            <p:ph idx="12" type="sldNum"/>
          </p:nvPr>
        </p:nvSpPr>
        <p:spPr>
          <a:xfrm>
            <a:off x="8832299" y="4946907"/>
            <a:ext cx="365400" cy="21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33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53" name="Google Shape;153;p33"/>
          <p:cNvSpPr txBox="1"/>
          <p:nvPr>
            <p:ph idx="12" type="sldNum"/>
          </p:nvPr>
        </p:nvSpPr>
        <p:spPr>
          <a:xfrm>
            <a:off x="8832299" y="4946907"/>
            <a:ext cx="365400" cy="21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34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6" name="Google Shape;156;p34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57" name="Google Shape;157;p34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58" name="Google Shape;158;p34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238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1pPr>
            <a:lvl2pPr indent="-31115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300"/>
              <a:buChar char="○"/>
              <a:defRPr/>
            </a:lvl2pPr>
            <a:lvl3pPr indent="-3048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/>
            </a:lvl3pPr>
            <a:lvl4pPr indent="-29845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indent="-2921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000"/>
              <a:buChar char="○"/>
              <a:defRPr/>
            </a:lvl5pPr>
            <a:lvl6pPr indent="-28575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900"/>
              <a:buChar char="■"/>
              <a:defRPr/>
            </a:lvl6pPr>
            <a:lvl7pPr indent="-2794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800"/>
              <a:buChar char="●"/>
              <a:defRPr/>
            </a:lvl7pPr>
            <a:lvl8pPr indent="-27305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700"/>
              <a:buChar char="○"/>
              <a:defRPr/>
            </a:lvl8pPr>
            <a:lvl9pPr indent="-2667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600"/>
              <a:buChar char="■"/>
              <a:defRPr/>
            </a:lvl9pPr>
          </a:lstStyle>
          <a:p/>
        </p:txBody>
      </p:sp>
      <p:sp>
        <p:nvSpPr>
          <p:cNvPr id="159" name="Google Shape;159;p34"/>
          <p:cNvSpPr txBox="1"/>
          <p:nvPr>
            <p:ph idx="12" type="sldNum"/>
          </p:nvPr>
        </p:nvSpPr>
        <p:spPr>
          <a:xfrm>
            <a:off x="8832299" y="4946907"/>
            <a:ext cx="365400" cy="21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35"/>
          <p:cNvSpPr txBox="1"/>
          <p:nvPr>
            <p:ph idx="12" type="sldNum"/>
          </p:nvPr>
        </p:nvSpPr>
        <p:spPr>
          <a:xfrm>
            <a:off x="8832299" y="4946907"/>
            <a:ext cx="365400" cy="21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<Relationship Id="rId14" Type="http://schemas.openxmlformats.org/officeDocument/2006/relationships/slideLayout" Target="../slideLayouts/slideLayout13.xml"/><Relationship Id="rId15" Type="http://schemas.openxmlformats.org/officeDocument/2006/relationships/slideLayout" Target="../slideLayouts/slideLayout14.xml"/><Relationship Id="rId16" Type="http://schemas.openxmlformats.org/officeDocument/2006/relationships/slideLayout" Target="../slideLayouts/slideLayout15.xml"/><Relationship Id="rId17" Type="http://schemas.openxmlformats.org/officeDocument/2006/relationships/slideLayout" Target="../slideLayouts/slideLayout16.xml"/><Relationship Id="rId18" Type="http://schemas.openxmlformats.org/officeDocument/2006/relationships/slideLayout" Target="../slideLayouts/slideLayout17.xml"/><Relationship Id="rId19" Type="http://schemas.openxmlformats.org/officeDocument/2006/relationships/slideLayout" Target="../slideLayouts/slideLayout18.xml"/><Relationship Id="rId20" Type="http://schemas.openxmlformats.org/officeDocument/2006/relationships/slideLayout" Target="../slideLayouts/slideLayout19.xml"/><Relationship Id="rId21" Type="http://schemas.openxmlformats.org/officeDocument/2006/relationships/slideLayout" Target="../slideLayouts/slideLayout20.xml"/><Relationship Id="rId22" Type="http://schemas.openxmlformats.org/officeDocument/2006/relationships/slideLayout" Target="../slideLayouts/slideLayout21.xml"/><Relationship Id="rId23" Type="http://schemas.openxmlformats.org/officeDocument/2006/relationships/slideLayout" Target="../slideLayouts/slideLayout22.xml"/><Relationship Id="rId24" Type="http://schemas.openxmlformats.org/officeDocument/2006/relationships/slideLayout" Target="../slideLayouts/slideLayout23.xml"/><Relationship Id="rId25" Type="http://schemas.openxmlformats.org/officeDocument/2006/relationships/theme" Target="../theme/theme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24.xml"/><Relationship Id="rId3" Type="http://schemas.openxmlformats.org/officeDocument/2006/relationships/slideLayout" Target="../slideLayouts/slideLayout25.xml"/><Relationship Id="rId4" Type="http://schemas.openxmlformats.org/officeDocument/2006/relationships/slideLayout" Target="../slideLayouts/slideLayout26.xml"/><Relationship Id="rId5" Type="http://schemas.openxmlformats.org/officeDocument/2006/relationships/slideLayout" Target="../slideLayouts/slideLayout27.xml"/><Relationship Id="rId6" Type="http://schemas.openxmlformats.org/officeDocument/2006/relationships/slideLayout" Target="../slideLayouts/slideLayout28.xml"/><Relationship Id="rId7" Type="http://schemas.openxmlformats.org/officeDocument/2006/relationships/slideLayout" Target="../slideLayouts/slideLayout29.xml"/><Relationship Id="rId8" Type="http://schemas.openxmlformats.org/officeDocument/2006/relationships/slideLayout" Target="../slideLayouts/slideLayout30.xml"/><Relationship Id="rId9" Type="http://schemas.openxmlformats.org/officeDocument/2006/relationships/slideLayout" Target="../slideLayouts/slideLayout31.xml"/><Relationship Id="rId10" Type="http://schemas.openxmlformats.org/officeDocument/2006/relationships/slideLayout" Target="../slideLayouts/slideLayout32.xml"/><Relationship Id="rId11" Type="http://schemas.openxmlformats.org/officeDocument/2006/relationships/slideLayout" Target="../slideLayouts/slideLayout33.xml"/><Relationship Id="rId12" Type="http://schemas.openxmlformats.org/officeDocument/2006/relationships/theme" Target="../theme/theme3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201972" y="288368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200"/>
              <a:buFont typeface="Nunito"/>
              <a:buNone/>
              <a:defRPr b="1" i="0" sz="22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500"/>
              <a:buFont typeface="Nunito SemiBold"/>
              <a:buNone/>
              <a:defRPr b="1" i="0" sz="2500" u="none" cap="none" strike="noStrike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500"/>
              <a:buFont typeface="Nunito SemiBold"/>
              <a:buNone/>
              <a:defRPr b="1" i="0" sz="2500" u="none" cap="none" strike="noStrike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500"/>
              <a:buFont typeface="Nunito SemiBold"/>
              <a:buNone/>
              <a:defRPr b="1" i="0" sz="2500" u="none" cap="none" strike="noStrike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500"/>
              <a:buFont typeface="Nunito SemiBold"/>
              <a:buNone/>
              <a:defRPr b="1" i="0" sz="2500" u="none" cap="none" strike="noStrike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500"/>
              <a:buFont typeface="Nunito SemiBold"/>
              <a:buNone/>
              <a:defRPr b="1" i="0" sz="2500" u="none" cap="none" strike="noStrike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500"/>
              <a:buFont typeface="Nunito SemiBold"/>
              <a:buNone/>
              <a:defRPr b="1" i="0" sz="2500" u="none" cap="none" strike="noStrike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500"/>
              <a:buFont typeface="Nunito SemiBold"/>
              <a:buNone/>
              <a:defRPr b="1" i="0" sz="2500" u="none" cap="none" strike="noStrike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500"/>
              <a:buFont typeface="Nunito SemiBold"/>
              <a:buNone/>
              <a:defRPr b="1" i="0" sz="2500" u="none" cap="none" strike="noStrike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8610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238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Nunito"/>
              <a:buChar char="●"/>
              <a:defRPr b="0" i="0" sz="15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-311150" lvl="1" marL="9144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Nunito"/>
              <a:buChar char="○"/>
              <a:defRPr b="0" i="0" sz="13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-304800" lvl="2" marL="13716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Nunito"/>
              <a:buChar char="■"/>
              <a:defRPr b="0" i="0" sz="12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-298450" lvl="3" marL="18288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●"/>
              <a:defRPr b="0" i="0" sz="11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-292100" lvl="4" marL="22860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Nunito"/>
              <a:buChar char="○"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-285750" lvl="5" marL="27432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900"/>
              <a:buFont typeface="Nunito"/>
              <a:buChar char="■"/>
              <a:defRPr b="0" i="0" sz="9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-279400" lvl="6" marL="32004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800"/>
              <a:buFont typeface="Nunito"/>
              <a:buChar char="●"/>
              <a:defRPr b="0" i="0" sz="8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-273050" lvl="7" marL="36576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700"/>
              <a:buFont typeface="Nunito"/>
              <a:buChar char="○"/>
              <a:defRPr b="0" i="0" sz="7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-266700" lvl="8" marL="4114800" marR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600"/>
              <a:buFont typeface="Nunito"/>
              <a:buChar char="■"/>
              <a:defRPr b="0" i="0" sz="6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/>
        </p:txBody>
      </p:sp>
      <p:sp>
        <p:nvSpPr>
          <p:cNvPr id="8" name="Google Shape;8;p1"/>
          <p:cNvSpPr txBox="1"/>
          <p:nvPr/>
        </p:nvSpPr>
        <p:spPr>
          <a:xfrm>
            <a:off x="2234400" y="4917657"/>
            <a:ext cx="4675200" cy="27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12700" marR="0" rtl="0" algn="ctr">
              <a:lnSpc>
                <a:spcPct val="1025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1" i="0" lang="en" sz="7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rPr>
              <a:t>Proprietary content. © Great Learning. All Rights Reserved. Unauthorized use or distribution prohibited.</a:t>
            </a:r>
            <a:endParaRPr b="1" i="0" sz="700" u="none" cap="none" strike="noStrike">
              <a:solidFill>
                <a:srgbClr val="434343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9" name="Google Shape;9;p1"/>
          <p:cNvSpPr txBox="1"/>
          <p:nvPr>
            <p:ph idx="12" type="sldNum"/>
          </p:nvPr>
        </p:nvSpPr>
        <p:spPr>
          <a:xfrm>
            <a:off x="8832299" y="4946907"/>
            <a:ext cx="365400" cy="21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0" name="Google Shape;10;p1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7669500" y="68264"/>
            <a:ext cx="1395476" cy="57270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1" name="Google Shape;11;p1"/>
          <p:cNvGrpSpPr/>
          <p:nvPr/>
        </p:nvGrpSpPr>
        <p:grpSpPr>
          <a:xfrm>
            <a:off x="6593" y="10"/>
            <a:ext cx="175500" cy="709221"/>
            <a:chOff x="6593" y="10"/>
            <a:chExt cx="175500" cy="709221"/>
          </a:xfrm>
        </p:grpSpPr>
        <p:sp>
          <p:nvSpPr>
            <p:cNvPr id="12" name="Google Shape;12;p1"/>
            <p:cNvSpPr/>
            <p:nvPr/>
          </p:nvSpPr>
          <p:spPr>
            <a:xfrm>
              <a:off x="6593" y="10"/>
              <a:ext cx="175500" cy="355500"/>
            </a:xfrm>
            <a:prstGeom prst="rect">
              <a:avLst/>
            </a:prstGeom>
            <a:solidFill>
              <a:srgbClr val="0E39A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13;p1"/>
            <p:cNvSpPr/>
            <p:nvPr/>
          </p:nvSpPr>
          <p:spPr>
            <a:xfrm>
              <a:off x="6593" y="353731"/>
              <a:ext cx="175500" cy="355500"/>
            </a:xfrm>
            <a:prstGeom prst="rect">
              <a:avLst/>
            </a:prstGeom>
            <a:solidFill>
              <a:srgbClr val="1974D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  <p:sldLayoutId id="2147483659" r:id="rId13"/>
    <p:sldLayoutId id="2147483660" r:id="rId14"/>
    <p:sldLayoutId id="2147483661" r:id="rId15"/>
    <p:sldLayoutId id="2147483662" r:id="rId16"/>
    <p:sldLayoutId id="2147483663" r:id="rId17"/>
    <p:sldLayoutId id="2147483664" r:id="rId18"/>
    <p:sldLayoutId id="2147483665" r:id="rId19"/>
    <p:sldLayoutId id="2147483666" r:id="rId20"/>
    <p:sldLayoutId id="2147483667" r:id="rId21"/>
    <p:sldLayoutId id="2147483668" r:id="rId22"/>
    <p:sldLayoutId id="2147483669" r:id="rId23"/>
    <p:sldLayoutId id="2147483670" r:id="rId24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25"/>
          <p:cNvSpPr txBox="1"/>
          <p:nvPr>
            <p:ph type="title"/>
          </p:nvPr>
        </p:nvSpPr>
        <p:spPr>
          <a:xfrm>
            <a:off x="201972" y="288368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200"/>
              <a:buFont typeface="Nunito"/>
              <a:buNone/>
              <a:defRPr b="1" i="0" sz="22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500"/>
              <a:buFont typeface="Nunito SemiBold"/>
              <a:buNone/>
              <a:defRPr b="1" i="0" sz="2500" u="none" cap="none" strike="noStrike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500"/>
              <a:buFont typeface="Nunito SemiBold"/>
              <a:buNone/>
              <a:defRPr b="1" i="0" sz="2500" u="none" cap="none" strike="noStrike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500"/>
              <a:buFont typeface="Nunito SemiBold"/>
              <a:buNone/>
              <a:defRPr b="1" i="0" sz="2500" u="none" cap="none" strike="noStrike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500"/>
              <a:buFont typeface="Nunito SemiBold"/>
              <a:buNone/>
              <a:defRPr b="1" i="0" sz="2500" u="none" cap="none" strike="noStrike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500"/>
              <a:buFont typeface="Nunito SemiBold"/>
              <a:buNone/>
              <a:defRPr b="1" i="0" sz="2500" u="none" cap="none" strike="noStrike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500"/>
              <a:buFont typeface="Nunito SemiBold"/>
              <a:buNone/>
              <a:defRPr b="1" i="0" sz="2500" u="none" cap="none" strike="noStrike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500"/>
              <a:buFont typeface="Nunito SemiBold"/>
              <a:buNone/>
              <a:defRPr b="1" i="0" sz="2500" u="none" cap="none" strike="noStrike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500"/>
              <a:buFont typeface="Nunito SemiBold"/>
              <a:buNone/>
              <a:defRPr b="1" i="0" sz="2500" u="none" cap="none" strike="noStrike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9pPr>
          </a:lstStyle>
          <a:p/>
        </p:txBody>
      </p:sp>
      <p:sp>
        <p:nvSpPr>
          <p:cNvPr id="116" name="Google Shape;116;p25"/>
          <p:cNvSpPr txBox="1"/>
          <p:nvPr>
            <p:ph idx="1" type="body"/>
          </p:nvPr>
        </p:nvSpPr>
        <p:spPr>
          <a:xfrm>
            <a:off x="311700" y="8610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238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Nunito"/>
              <a:buChar char="●"/>
              <a:defRPr b="0" i="0" sz="15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-311150" lvl="1" marL="9144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Nunito"/>
              <a:buChar char="○"/>
              <a:defRPr b="0" i="0" sz="13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-304800" lvl="2" marL="13716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Nunito"/>
              <a:buChar char="■"/>
              <a:defRPr b="0" i="0" sz="12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-298450" lvl="3" marL="18288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●"/>
              <a:defRPr b="0" i="0" sz="11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-292100" lvl="4" marL="22860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Nunito"/>
              <a:buChar char="○"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-285750" lvl="5" marL="27432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900"/>
              <a:buFont typeface="Nunito"/>
              <a:buChar char="■"/>
              <a:defRPr b="0" i="0" sz="9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-279400" lvl="6" marL="32004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800"/>
              <a:buFont typeface="Nunito"/>
              <a:buChar char="●"/>
              <a:defRPr b="0" i="0" sz="8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-273050" lvl="7" marL="36576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700"/>
              <a:buFont typeface="Nunito"/>
              <a:buChar char="○"/>
              <a:defRPr b="0" i="0" sz="7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-266700" lvl="8" marL="4114800" marR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600"/>
              <a:buFont typeface="Nunito"/>
              <a:buChar char="■"/>
              <a:defRPr b="0" i="0" sz="6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/>
        </p:txBody>
      </p:sp>
      <p:sp>
        <p:nvSpPr>
          <p:cNvPr id="117" name="Google Shape;117;p25"/>
          <p:cNvSpPr txBox="1"/>
          <p:nvPr/>
        </p:nvSpPr>
        <p:spPr>
          <a:xfrm>
            <a:off x="2234400" y="4917657"/>
            <a:ext cx="4675200" cy="27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12700" marR="0" rtl="0" algn="ctr">
              <a:lnSpc>
                <a:spcPct val="1025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1" i="0" lang="en" sz="7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rPr>
              <a:t>Proprietary content. © Great Learning. All Rights Reserved. Unauthorized use or distribution prohibited.</a:t>
            </a:r>
            <a:endParaRPr b="1" i="0" sz="700" u="none" cap="none" strike="noStrike">
              <a:solidFill>
                <a:srgbClr val="434343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18" name="Google Shape;118;p25"/>
          <p:cNvSpPr txBox="1"/>
          <p:nvPr>
            <p:ph idx="12" type="sldNum"/>
          </p:nvPr>
        </p:nvSpPr>
        <p:spPr>
          <a:xfrm>
            <a:off x="8832299" y="4946907"/>
            <a:ext cx="365400" cy="21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19" name="Google Shape;119;p25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7669500" y="68264"/>
            <a:ext cx="1395475" cy="5727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20" name="Google Shape;120;p25"/>
          <p:cNvGrpSpPr/>
          <p:nvPr/>
        </p:nvGrpSpPr>
        <p:grpSpPr>
          <a:xfrm>
            <a:off x="6593" y="10"/>
            <a:ext cx="175500" cy="709221"/>
            <a:chOff x="6593" y="10"/>
            <a:chExt cx="175500" cy="709221"/>
          </a:xfrm>
        </p:grpSpPr>
        <p:sp>
          <p:nvSpPr>
            <p:cNvPr id="121" name="Google Shape;121;p25"/>
            <p:cNvSpPr/>
            <p:nvPr/>
          </p:nvSpPr>
          <p:spPr>
            <a:xfrm>
              <a:off x="6593" y="10"/>
              <a:ext cx="175500" cy="355500"/>
            </a:xfrm>
            <a:prstGeom prst="rect">
              <a:avLst/>
            </a:prstGeom>
            <a:solidFill>
              <a:srgbClr val="0E39A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2" name="Google Shape;122;p25"/>
            <p:cNvSpPr/>
            <p:nvPr/>
          </p:nvSpPr>
          <p:spPr>
            <a:xfrm>
              <a:off x="6593" y="353731"/>
              <a:ext cx="175500" cy="355500"/>
            </a:xfrm>
            <a:prstGeom prst="rect">
              <a:avLst/>
            </a:prstGeom>
            <a:solidFill>
              <a:srgbClr val="1974D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71" r:id="rId2"/>
    <p:sldLayoutId id="2147483672" r:id="rId3"/>
    <p:sldLayoutId id="2147483673" r:id="rId4"/>
    <p:sldLayoutId id="2147483674" r:id="rId5"/>
    <p:sldLayoutId id="2147483675" r:id="rId6"/>
    <p:sldLayoutId id="2147483676" r:id="rId7"/>
    <p:sldLayoutId id="2147483677" r:id="rId8"/>
    <p:sldLayoutId id="2147483678" r:id="rId9"/>
    <p:sldLayoutId id="2147483679" r:id="rId10"/>
    <p:sldLayoutId id="2147483680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Rectangle 168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22B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Google Shape;166;p36"/>
          <p:cNvSpPr txBox="1"/>
          <p:nvPr/>
        </p:nvSpPr>
        <p:spPr>
          <a:xfrm>
            <a:off x="1627632" y="1227550"/>
            <a:ext cx="6217920" cy="81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Aptos Display"/>
              </a:rPr>
              <a:t>Aurora Stays Q&amp;A</a:t>
            </a:r>
          </a:p>
        </p:txBody>
      </p:sp>
      <p:sp>
        <p:nvSpPr>
          <p:cNvPr id="167" name="Google Shape;167;p36"/>
          <p:cNvSpPr txBox="1"/>
          <p:nvPr/>
        </p:nvSpPr>
        <p:spPr>
          <a:xfrm>
            <a:off x="1627632" y="1940550"/>
            <a:ext cx="6492240" cy="63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r>
              <a:rPr sz="2100">
                <a:solidFill>
                  <a:srgbClr val="FFFFFF"/>
                </a:solidFill>
                <a:latin typeface="Aptos"/>
              </a:rPr>
              <a:t>Retrieval-Augmented Generation (RAG) POC</a:t>
            </a:r>
          </a:p>
        </p:txBody>
      </p:sp>
      <p:sp>
        <p:nvSpPr>
          <p:cNvPr id="168" name="Google Shape;168;p36"/>
          <p:cNvSpPr txBox="1"/>
          <p:nvPr/>
        </p:nvSpPr>
        <p:spPr>
          <a:xfrm>
            <a:off x="1627632" y="2586175"/>
            <a:ext cx="219456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r>
              <a:rPr sz="1600">
                <a:solidFill>
                  <a:srgbClr val="B9E0E6"/>
                </a:solidFill>
                <a:latin typeface="Aptos"/>
              </a:rPr>
              <a:t>14 October 2026</a:t>
            </a:r>
          </a:p>
        </p:txBody>
      </p:sp>
      <p:sp>
        <p:nvSpPr>
          <p:cNvPr id="170" name="Rectangle 169"/>
          <p:cNvSpPr/>
          <p:nvPr/>
        </p:nvSpPr>
        <p:spPr>
          <a:xfrm>
            <a:off x="1627632" y="2852928"/>
            <a:ext cx="2148840" cy="64008"/>
          </a:xfrm>
          <a:prstGeom prst="rect">
            <a:avLst/>
          </a:prstGeom>
          <a:solidFill>
            <a:srgbClr val="009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Rectangle 186"/>
          <p:cNvSpPr/>
          <p:nvPr/>
        </p:nvSpPr>
        <p:spPr>
          <a:xfrm>
            <a:off x="0" y="841248"/>
            <a:ext cx="9144000" cy="45720"/>
          </a:xfrm>
          <a:prstGeom prst="rect">
            <a:avLst/>
          </a:prstGeom>
          <a:solidFill>
            <a:srgbClr val="009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6" name="Rectangle 185"/>
          <p:cNvSpPr/>
          <p:nvPr/>
        </p:nvSpPr>
        <p:spPr>
          <a:xfrm>
            <a:off x="0" y="0"/>
            <a:ext cx="9144000" cy="841248"/>
          </a:xfrm>
          <a:prstGeom prst="rect">
            <a:avLst/>
          </a:prstGeom>
          <a:solidFill>
            <a:srgbClr val="122B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3" name="Google Shape;173;p37"/>
          <p:cNvSpPr txBox="1"/>
          <p:nvPr>
            <p:ph type="title"/>
          </p:nvPr>
        </p:nvSpPr>
        <p:spPr>
          <a:xfrm>
            <a:off x="202550" y="289279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r>
              <a:rPr sz="2200" b="1">
                <a:solidFill>
                  <a:srgbClr val="FFFFFF"/>
                </a:solidFill>
                <a:latin typeface="Aptos Display"/>
              </a:rPr>
              <a:t>Contents / Agenda</a:t>
            </a:r>
          </a:p>
        </p:txBody>
      </p:sp>
      <p:sp>
        <p:nvSpPr>
          <p:cNvPr id="175" name="Google Shape;175;p37"/>
          <p:cNvSpPr txBox="1"/>
          <p:nvPr/>
        </p:nvSpPr>
        <p:spPr>
          <a:xfrm>
            <a:off x="644599" y="1013375"/>
            <a:ext cx="5632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r>
              <a:rPr sz="1600">
                <a:solidFill>
                  <a:srgbClr val="2A2D32"/>
                </a:solidFill>
                <a:latin typeface="Aptos"/>
              </a:rPr>
              <a:t>Executive Summary</a:t>
            </a:r>
          </a:p>
        </p:txBody>
      </p:sp>
      <p:sp>
        <p:nvSpPr>
          <p:cNvPr id="177" name="Google Shape;177;p37"/>
          <p:cNvSpPr txBox="1"/>
          <p:nvPr/>
        </p:nvSpPr>
        <p:spPr>
          <a:xfrm>
            <a:off x="644599" y="1487755"/>
            <a:ext cx="5632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r>
              <a:rPr sz="1600">
                <a:solidFill>
                  <a:srgbClr val="2A2D32"/>
                </a:solidFill>
                <a:latin typeface="Aptos"/>
              </a:rPr>
              <a:t>Business Problem and Solution Approach</a:t>
            </a:r>
          </a:p>
        </p:txBody>
      </p:sp>
      <p:sp>
        <p:nvSpPr>
          <p:cNvPr id="179" name="Google Shape;179;p37"/>
          <p:cNvSpPr txBox="1"/>
          <p:nvPr/>
        </p:nvSpPr>
        <p:spPr>
          <a:xfrm>
            <a:off x="644599" y="1962135"/>
            <a:ext cx="5632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r>
              <a:rPr sz="1600">
                <a:solidFill>
                  <a:srgbClr val="2A2D32"/>
                </a:solidFill>
                <a:latin typeface="Aptos"/>
              </a:rPr>
              <a:t>Data Understanding</a:t>
            </a:r>
          </a:p>
        </p:txBody>
      </p:sp>
      <p:sp>
        <p:nvSpPr>
          <p:cNvPr id="181" name="Google Shape;181;p37"/>
          <p:cNvSpPr txBox="1"/>
          <p:nvPr/>
        </p:nvSpPr>
        <p:spPr>
          <a:xfrm>
            <a:off x="644599" y="2436515"/>
            <a:ext cx="5632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r>
              <a:rPr sz="1600">
                <a:solidFill>
                  <a:srgbClr val="2A2D32"/>
                </a:solidFill>
                <a:latin typeface="Aptos"/>
              </a:rPr>
              <a:t>Retrieval-Augmented Generation System</a:t>
            </a:r>
          </a:p>
        </p:txBody>
      </p:sp>
      <p:sp>
        <p:nvSpPr>
          <p:cNvPr id="183" name="Google Shape;183;p37"/>
          <p:cNvSpPr txBox="1"/>
          <p:nvPr/>
        </p:nvSpPr>
        <p:spPr>
          <a:xfrm>
            <a:off x="644605" y="2910895"/>
            <a:ext cx="5632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r>
              <a:rPr sz="1600">
                <a:solidFill>
                  <a:srgbClr val="2A2D32"/>
                </a:solidFill>
                <a:latin typeface="Aptos"/>
              </a:rPr>
              <a:t>Evaluation</a:t>
            </a:r>
          </a:p>
        </p:txBody>
      </p:sp>
      <p:sp>
        <p:nvSpPr>
          <p:cNvPr id="185" name="Google Shape;185;p37"/>
          <p:cNvSpPr txBox="1"/>
          <p:nvPr/>
        </p:nvSpPr>
        <p:spPr>
          <a:xfrm>
            <a:off x="644605" y="3385275"/>
            <a:ext cx="5632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r>
              <a:rPr sz="1600">
                <a:solidFill>
                  <a:srgbClr val="2A2D32"/>
                </a:solidFill>
                <a:latin typeface="Aptos"/>
              </a:rPr>
              <a:t>Recommendations and Next Steps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Rectangle 193"/>
          <p:cNvSpPr/>
          <p:nvPr/>
        </p:nvSpPr>
        <p:spPr>
          <a:xfrm>
            <a:off x="0" y="841248"/>
            <a:ext cx="9144000" cy="45720"/>
          </a:xfrm>
          <a:prstGeom prst="rect">
            <a:avLst/>
          </a:prstGeom>
          <a:solidFill>
            <a:srgbClr val="009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3" name="Rectangle 192"/>
          <p:cNvSpPr/>
          <p:nvPr/>
        </p:nvSpPr>
        <p:spPr>
          <a:xfrm>
            <a:off x="0" y="0"/>
            <a:ext cx="9144000" cy="841248"/>
          </a:xfrm>
          <a:prstGeom prst="rect">
            <a:avLst/>
          </a:prstGeom>
          <a:solidFill>
            <a:srgbClr val="122B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0" name="Google Shape;190;p38"/>
          <p:cNvSpPr txBox="1"/>
          <p:nvPr>
            <p:ph type="title"/>
          </p:nvPr>
        </p:nvSpPr>
        <p:spPr>
          <a:xfrm>
            <a:off x="202550" y="289279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r>
              <a:rPr sz="2200" b="1">
                <a:solidFill>
                  <a:srgbClr val="FFFFFF"/>
                </a:solidFill>
                <a:latin typeface="Aptos Display"/>
              </a:rPr>
              <a:t>Executive Summary</a:t>
            </a:r>
          </a:p>
        </p:txBody>
      </p:sp>
      <p:sp>
        <p:nvSpPr>
          <p:cNvPr id="195" name="Rectangle 194"/>
          <p:cNvSpPr/>
          <p:nvPr/>
        </p:nvSpPr>
        <p:spPr>
          <a:xfrm>
            <a:off x="621792" y="1133856"/>
            <a:ext cx="54864" cy="3639312"/>
          </a:xfrm>
          <a:prstGeom prst="rect">
            <a:avLst/>
          </a:prstGeom>
          <a:solidFill>
            <a:srgbClr val="009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6" name="TextBox 195"/>
          <p:cNvSpPr txBox="1"/>
          <p:nvPr/>
        </p:nvSpPr>
        <p:spPr>
          <a:xfrm>
            <a:off x="896112" y="1161288"/>
            <a:ext cx="7571231" cy="3602736"/>
          </a:xfrm>
          <a:prstGeom prst="rect">
            <a:avLst/>
          </a:prstGeom>
          <a:noFill/>
        </p:spPr>
        <p:txBody>
          <a:bodyPr wrap="square" lIns="54864" rIns="54864" tIns="36576" bIns="36576">
            <a:normAutofit/>
          </a:bodyPr>
          <a:lstStyle/>
          <a:p>
            <a:pPr marL="274320" indent="-164592">
              <a:buChar char="•"/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  <a:defRPr sz="1550">
                <a:solidFill>
                  <a:srgbClr val="2A2D32"/>
                </a:solidFill>
                <a:latin typeface="Aptos"/>
              </a:defRPr>
            </a:pPr>
            <a:r>
              <a:t>Built a source-grounded RAG assistant for Aurora Stays hotel-policy questions.</a:t>
            </a:r>
          </a:p>
          <a:p>
            <a:pPr marL="274320" indent="-164592">
              <a:buChar char="•"/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  <a:defRPr sz="1550">
                <a:solidFill>
                  <a:srgbClr val="2A2D32"/>
                </a:solidFill>
                <a:latin typeface="Aptos"/>
              </a:defRPr>
            </a:pPr>
            <a:r>
              <a:t>Four policy PDFs are converted to structured Markdown, chunked, embedded, and indexed in FAISS.</a:t>
            </a:r>
          </a:p>
          <a:p>
            <a:pPr marL="274320" indent="-164592">
              <a:buChar char="•"/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  <a:defRPr sz="1550">
                <a:solidFill>
                  <a:srgbClr val="2A2D32"/>
                </a:solidFill>
                <a:latin typeface="Aptos"/>
              </a:defRPr>
            </a:pPr>
            <a:r>
              <a:t>Selected baseline: k=5, MMR lambda=0.50, fetch_k=20, CrossEncoder reranking.</a:t>
            </a:r>
          </a:p>
          <a:p>
            <a:pPr marL="274320" indent="-164592">
              <a:buChar char="•"/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  <a:defRPr sz="1550">
                <a:solidFill>
                  <a:srgbClr val="2A2D32"/>
                </a:solidFill>
                <a:latin typeface="Aptos"/>
              </a:defRPr>
            </a:pPr>
            <a:r>
              <a:t>Held-out result: 9/10 cases passed; composite score 0.941.</a:t>
            </a:r>
          </a:p>
          <a:p>
            <a:pPr marL="274320" indent="-164592">
              <a:buChar char="•"/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  <a:defRPr sz="1550">
                <a:solidFill>
                  <a:srgbClr val="2A2D32"/>
                </a:solidFill>
                <a:latin typeface="Aptos"/>
              </a:defRPr>
            </a:pPr>
            <a:r>
              <a:t>Average metrics: Faithfulness 0.993 | Recall 0.977 | Precision 0.808 | Relevancy 0.939.</a:t>
            </a:r>
          </a:p>
          <a:p>
            <a:pPr marL="274320" indent="-164592">
              <a:buChar char="•"/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  <a:defRPr sz="1550">
                <a:solidFill>
                  <a:srgbClr val="2A2D32"/>
                </a:solidFill>
                <a:latin typeface="Aptos"/>
              </a:defRPr>
            </a:pPr>
            <a:r>
              <a:t>Main remaining issue: the Accessible King benchmark question is underspecified; a focused clarification experiment raised precision to 0.961.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Rectangle 202"/>
          <p:cNvSpPr/>
          <p:nvPr/>
        </p:nvSpPr>
        <p:spPr>
          <a:xfrm>
            <a:off x="0" y="841248"/>
            <a:ext cx="9144000" cy="45720"/>
          </a:xfrm>
          <a:prstGeom prst="rect">
            <a:avLst/>
          </a:prstGeom>
          <a:solidFill>
            <a:srgbClr val="009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2" name="Rectangle 201"/>
          <p:cNvSpPr/>
          <p:nvPr/>
        </p:nvSpPr>
        <p:spPr>
          <a:xfrm>
            <a:off x="0" y="0"/>
            <a:ext cx="9144000" cy="841248"/>
          </a:xfrm>
          <a:prstGeom prst="rect">
            <a:avLst/>
          </a:prstGeom>
          <a:solidFill>
            <a:srgbClr val="122B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7" name="Google Shape;197;p39"/>
          <p:cNvSpPr txBox="1"/>
          <p:nvPr>
            <p:ph type="title"/>
          </p:nvPr>
        </p:nvSpPr>
        <p:spPr>
          <a:xfrm>
            <a:off x="202550" y="289279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r>
              <a:rPr sz="2200" b="1">
                <a:solidFill>
                  <a:srgbClr val="FFFFFF"/>
                </a:solidFill>
                <a:latin typeface="Aptos Display"/>
              </a:rPr>
              <a:t>Business Problem Overview and Solution Approach</a:t>
            </a:r>
          </a:p>
        </p:txBody>
      </p:sp>
      <p:sp>
        <p:nvSpPr>
          <p:cNvPr id="204" name="Rectangle 203"/>
          <p:cNvSpPr/>
          <p:nvPr/>
        </p:nvSpPr>
        <p:spPr>
          <a:xfrm>
            <a:off x="621792" y="1133856"/>
            <a:ext cx="54864" cy="3639312"/>
          </a:xfrm>
          <a:prstGeom prst="rect">
            <a:avLst/>
          </a:prstGeom>
          <a:solidFill>
            <a:srgbClr val="009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5" name="TextBox 204"/>
          <p:cNvSpPr txBox="1"/>
          <p:nvPr/>
        </p:nvSpPr>
        <p:spPr>
          <a:xfrm>
            <a:off x="896112" y="1161288"/>
            <a:ext cx="7571231" cy="3602736"/>
          </a:xfrm>
          <a:prstGeom prst="rect">
            <a:avLst/>
          </a:prstGeom>
          <a:noFill/>
        </p:spPr>
        <p:txBody>
          <a:bodyPr wrap="square" lIns="54864" rIns="54864" tIns="36576" bIns="36576">
            <a:normAutofit/>
          </a:bodyPr>
          <a:lstStyle/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  <a:defRPr sz="1500">
                <a:solidFill>
                  <a:srgbClr val="2A2D32"/>
                </a:solidFill>
                <a:latin typeface="Aptos"/>
              </a:defRPr>
            </a:pPr>
            <a:r>
              <a:rPr b="1">
                <a:solidFill>
                  <a:srgbClr val="122B46"/>
                </a:solidFill>
              </a:rPr>
              <a:t>Problem</a:t>
            </a:r>
          </a:p>
          <a:p>
            <a:pPr marL="274320" indent="-164592">
              <a:buChar char="•"/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  <a:defRPr sz="1500">
                <a:solidFill>
                  <a:srgbClr val="2A2D32"/>
                </a:solidFill>
                <a:latin typeface="Aptos"/>
              </a:defRPr>
            </a:pPr>
            <a:r>
              <a:t>Staff handle about 1,200 guest queries per week; roughly 40% require multiple policy documents.</a:t>
            </a:r>
          </a:p>
          <a:p>
            <a:pPr marL="274320" indent="-164592">
              <a:buChar char="•"/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  <a:defRPr sz="1500">
                <a:solidFill>
                  <a:srgbClr val="2A2D32"/>
                </a:solidFill>
                <a:latin typeface="Aptos"/>
              </a:defRPr>
            </a:pPr>
            <a:r>
              <a:t>Manual lookup takes 8–12 minutes and creates a 15–20% risk of incomplete or incorrect answers.</a:t>
            </a:r>
          </a:p>
          <a:p>
            <a:pPr marL="274320" indent="-164592">
              <a:buChar char="•"/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  <a:defRPr sz="1500">
                <a:solidFill>
                  <a:srgbClr val="2A2D32"/>
                </a:solidFill>
                <a:latin typeface="Aptos"/>
              </a:defRPr>
            </a:pPr>
            <a:r>
              <a:t>Property-specific fees, room features, cancellation rules, and accessibility guidance are easy to mix up.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  <a:defRPr sz="1500">
                <a:solidFill>
                  <a:srgbClr val="2A2D32"/>
                </a:solidFill>
                <a:latin typeface="Aptos"/>
              </a:defRPr>
            </a:pPr>
            <a:r>
              <a:rPr b="1">
                <a:solidFill>
                  <a:srgbClr val="122B46"/>
                </a:solidFill>
              </a:rPr>
              <a:t>Solution approach</a:t>
            </a:r>
          </a:p>
          <a:p>
            <a:pPr marL="274320" indent="-164592">
              <a:buChar char="•"/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  <a:defRPr sz="1500">
                <a:solidFill>
                  <a:srgbClr val="2A2D32"/>
                </a:solidFill>
                <a:latin typeface="Aptos"/>
              </a:defRPr>
            </a:pPr>
            <a:r>
              <a:t>Extract policy PDFs with Docling; preserve headings and tables as Markdown.</a:t>
            </a:r>
          </a:p>
          <a:p>
            <a:pPr marL="274320" indent="-164592">
              <a:buChar char="•"/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  <a:defRPr sz="1500">
                <a:solidFill>
                  <a:srgbClr val="2A2D32"/>
                </a:solidFill>
                <a:latin typeface="Aptos"/>
              </a:defRPr>
            </a:pPr>
            <a:r>
              <a:t>Use token-aware chunking, domain embeddings, FAISS retrieval, MMR, and CrossEncoder reranking.</a:t>
            </a:r>
          </a:p>
          <a:p>
            <a:pPr marL="274320" indent="-164592">
              <a:buChar char="•"/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  <a:defRPr sz="1500">
                <a:solidFill>
                  <a:srgbClr val="2A2D32"/>
                </a:solidFill>
                <a:latin typeface="Aptos"/>
              </a:defRPr>
            </a:pPr>
            <a:r>
              <a:t>Generate concise answers with GPT-4o-mini using a strict retrieved-context-only prompt.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Rectangle 210"/>
          <p:cNvSpPr/>
          <p:nvPr/>
        </p:nvSpPr>
        <p:spPr>
          <a:xfrm>
            <a:off x="0" y="841248"/>
            <a:ext cx="9144000" cy="45720"/>
          </a:xfrm>
          <a:prstGeom prst="rect">
            <a:avLst/>
          </a:prstGeom>
          <a:solidFill>
            <a:srgbClr val="009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0" name="Rectangle 209"/>
          <p:cNvSpPr/>
          <p:nvPr/>
        </p:nvSpPr>
        <p:spPr>
          <a:xfrm>
            <a:off x="0" y="0"/>
            <a:ext cx="9144000" cy="841248"/>
          </a:xfrm>
          <a:prstGeom prst="rect">
            <a:avLst/>
          </a:prstGeom>
          <a:solidFill>
            <a:srgbClr val="122B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6" name="Google Shape;206;p40"/>
          <p:cNvSpPr txBox="1"/>
          <p:nvPr>
            <p:ph type="title"/>
          </p:nvPr>
        </p:nvSpPr>
        <p:spPr>
          <a:xfrm>
            <a:off x="202550" y="289279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r>
              <a:rPr sz="2200" b="1">
                <a:solidFill>
                  <a:srgbClr val="FFFFFF"/>
                </a:solidFill>
                <a:latin typeface="Aptos Display"/>
              </a:rPr>
              <a:t>Data Understanding</a:t>
            </a:r>
          </a:p>
        </p:txBody>
      </p:sp>
      <p:sp>
        <p:nvSpPr>
          <p:cNvPr id="212" name="Rectangle 211"/>
          <p:cNvSpPr/>
          <p:nvPr/>
        </p:nvSpPr>
        <p:spPr>
          <a:xfrm>
            <a:off x="621792" y="1133856"/>
            <a:ext cx="54864" cy="3639312"/>
          </a:xfrm>
          <a:prstGeom prst="rect">
            <a:avLst/>
          </a:prstGeom>
          <a:solidFill>
            <a:srgbClr val="009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3" name="TextBox 212"/>
          <p:cNvSpPr txBox="1"/>
          <p:nvPr/>
        </p:nvSpPr>
        <p:spPr>
          <a:xfrm>
            <a:off x="896112" y="1161288"/>
            <a:ext cx="7571231" cy="3602736"/>
          </a:xfrm>
          <a:prstGeom prst="rect">
            <a:avLst/>
          </a:prstGeom>
          <a:noFill/>
        </p:spPr>
        <p:txBody>
          <a:bodyPr wrap="square" lIns="54864" rIns="54864" tIns="36576" bIns="36576">
            <a:normAutofit/>
          </a:bodyPr>
          <a:lstStyle/>
          <a:p>
            <a:pPr marL="274320" indent="-164592">
              <a:buChar char="•"/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  <a:defRPr sz="1600">
                <a:solidFill>
                  <a:srgbClr val="2A2D32"/>
                </a:solidFill>
                <a:latin typeface="Aptos"/>
              </a:defRPr>
            </a:pPr>
            <a:r>
              <a:t>Knowledge base: four selectable-text PDF policy guides.</a:t>
            </a:r>
          </a:p>
          <a:p>
            <a:pPr marL="274320" indent="-164592">
              <a:buChar char="•"/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  <a:defRPr sz="1600">
                <a:solidFill>
                  <a:srgbClr val="2A2D32"/>
                </a:solidFill>
                <a:latin typeface="Aptos"/>
              </a:defRPr>
            </a:pPr>
            <a:r>
              <a:t>Coverage: room/property information; booking and cancellation; refunds and additional charges; conduct and accessibility.</a:t>
            </a:r>
          </a:p>
          <a:p>
            <a:pPr marL="274320" indent="-164592">
              <a:buChar char="•"/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  <a:defRPr sz="1600">
                <a:solidFill>
                  <a:srgbClr val="2A2D32"/>
                </a:solidFill>
                <a:latin typeface="Aptos"/>
              </a:defRPr>
            </a:pPr>
            <a:r>
              <a:t>Source structure includes headings, policy sections, Markdown tables, and a six-property matrix.</a:t>
            </a:r>
          </a:p>
          <a:p>
            <a:pPr marL="274320" indent="-164592">
              <a:buChar char="•"/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  <a:defRPr sz="1600">
                <a:solidFill>
                  <a:srgbClr val="2A2D32"/>
                </a:solidFill>
                <a:latin typeface="Aptos"/>
              </a:defRPr>
            </a:pPr>
            <a:r>
              <a:t>Properties represented: ASH-ATL, ASH-BOS, ASH-CHI, ASH-DEN, ASH-MIA, and ASH-SEA.</a:t>
            </a:r>
          </a:p>
          <a:p>
            <a:pPr marL="274320" indent="-164592">
              <a:buChar char="•"/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  <a:defRPr sz="1600">
                <a:solidFill>
                  <a:srgbClr val="2A2D32"/>
                </a:solidFill>
                <a:latin typeface="Aptos"/>
              </a:defRPr>
            </a:pPr>
            <a:r>
              <a:t>OCR is disabled because the supplied PDFs contain selectable text.</a:t>
            </a:r>
          </a:p>
          <a:p>
            <a:pPr marL="274320" indent="-164592">
              <a:buChar char="•"/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  <a:defRPr sz="1600">
                <a:solidFill>
                  <a:srgbClr val="2A2D32"/>
                </a:solidFill>
                <a:latin typeface="Aptos"/>
              </a:defRPr>
            </a:pPr>
            <a:r>
              <a:t>Chunks are enriched with source, section, property-code, and topic metadata for focused retrieval.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Rectangle 218"/>
          <p:cNvSpPr/>
          <p:nvPr/>
        </p:nvSpPr>
        <p:spPr>
          <a:xfrm>
            <a:off x="0" y="841248"/>
            <a:ext cx="9144000" cy="45720"/>
          </a:xfrm>
          <a:prstGeom prst="rect">
            <a:avLst/>
          </a:prstGeom>
          <a:solidFill>
            <a:srgbClr val="009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8" name="Rectangle 217"/>
          <p:cNvSpPr/>
          <p:nvPr/>
        </p:nvSpPr>
        <p:spPr>
          <a:xfrm>
            <a:off x="0" y="0"/>
            <a:ext cx="9144000" cy="841248"/>
          </a:xfrm>
          <a:prstGeom prst="rect">
            <a:avLst/>
          </a:prstGeom>
          <a:solidFill>
            <a:srgbClr val="122B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4" name="Google Shape;214;p41"/>
          <p:cNvSpPr txBox="1"/>
          <p:nvPr>
            <p:ph type="title"/>
          </p:nvPr>
        </p:nvSpPr>
        <p:spPr>
          <a:xfrm>
            <a:off x="202550" y="289279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r>
              <a:rPr sz="2200" b="1">
                <a:solidFill>
                  <a:srgbClr val="FFFFFF"/>
                </a:solidFill>
                <a:latin typeface="Aptos Display"/>
              </a:rPr>
              <a:t>RAG - Chunking - Embedding Model</a:t>
            </a:r>
          </a:p>
        </p:txBody>
      </p:sp>
      <p:sp>
        <p:nvSpPr>
          <p:cNvPr id="220" name="Rectangle 219"/>
          <p:cNvSpPr/>
          <p:nvPr/>
        </p:nvSpPr>
        <p:spPr>
          <a:xfrm>
            <a:off x="621792" y="1133856"/>
            <a:ext cx="54864" cy="3639312"/>
          </a:xfrm>
          <a:prstGeom prst="rect">
            <a:avLst/>
          </a:prstGeom>
          <a:solidFill>
            <a:srgbClr val="009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1" name="TextBox 220"/>
          <p:cNvSpPr txBox="1"/>
          <p:nvPr/>
        </p:nvSpPr>
        <p:spPr>
          <a:xfrm>
            <a:off x="896112" y="1161288"/>
            <a:ext cx="7571231" cy="3602736"/>
          </a:xfrm>
          <a:prstGeom prst="rect">
            <a:avLst/>
          </a:prstGeom>
          <a:noFill/>
        </p:spPr>
        <p:txBody>
          <a:bodyPr wrap="square" lIns="54864" rIns="54864" tIns="36576" bIns="36576">
            <a:normAutofit/>
          </a:bodyPr>
          <a:lstStyle/>
          <a:p>
            <a:pPr marL="274320" indent="-164592">
              <a:buChar char="•"/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  <a:defRPr sz="1700">
                <a:solidFill>
                  <a:srgbClr val="2A2D32"/>
                </a:solidFill>
                <a:latin typeface="Aptos"/>
              </a:defRPr>
            </a:pPr>
            <a:r>
              <a:t>Embedding model: HarishMaths/Hotel-Policy-Embedding.</a:t>
            </a:r>
          </a:p>
          <a:p>
            <a:pPr marL="274320" indent="-164592">
              <a:buChar char="•"/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  <a:defRPr sz="1700">
                <a:solidFill>
                  <a:srgbClr val="2A2D32"/>
                </a:solidFill>
                <a:latin typeface="Aptos"/>
              </a:defRPr>
            </a:pPr>
            <a:r>
              <a:t>Tokenizer maximum length: 128 tokens.</a:t>
            </a:r>
          </a:p>
          <a:p>
            <a:pPr marL="274320" indent="-164592">
              <a:buChar char="•"/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  <a:defRPr sz="1700">
                <a:solidFill>
                  <a:srgbClr val="2A2D32"/>
                </a:solidFill>
                <a:latin typeface="Aptos"/>
              </a:defRPr>
            </a:pPr>
            <a:r>
              <a:t>Embeddings run on CPU with normalized vectors and progress rendering disabled.</a:t>
            </a:r>
          </a:p>
          <a:p>
            <a:pPr marL="274320" indent="-164592">
              <a:buChar char="•"/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  <a:defRPr sz="1700">
                <a:solidFill>
                  <a:srgbClr val="2A2D32"/>
                </a:solidFill>
                <a:latin typeface="Aptos"/>
              </a:defRPr>
            </a:pPr>
            <a:r>
              <a:t>The same model is used when building and loading the FAISS index.</a:t>
            </a:r>
          </a:p>
          <a:p>
            <a:pPr marL="274320" indent="-164592">
              <a:buChar char="•"/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  <a:defRPr sz="1700">
                <a:solidFill>
                  <a:srgbClr val="2A2D32"/>
                </a:solidFill>
                <a:latin typeface="Aptos"/>
              </a:defRPr>
            </a:pPr>
            <a:r>
              <a:t>Domain-specific embeddings improve matching for hotel-policy terms such as late checkout, pet fees, and room features.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Rectangle 226"/>
          <p:cNvSpPr/>
          <p:nvPr/>
        </p:nvSpPr>
        <p:spPr>
          <a:xfrm>
            <a:off x="0" y="841248"/>
            <a:ext cx="9144000" cy="45720"/>
          </a:xfrm>
          <a:prstGeom prst="rect">
            <a:avLst/>
          </a:prstGeom>
          <a:solidFill>
            <a:srgbClr val="009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6" name="Rectangle 225"/>
          <p:cNvSpPr/>
          <p:nvPr/>
        </p:nvSpPr>
        <p:spPr>
          <a:xfrm>
            <a:off x="0" y="0"/>
            <a:ext cx="9144000" cy="841248"/>
          </a:xfrm>
          <a:prstGeom prst="rect">
            <a:avLst/>
          </a:prstGeom>
          <a:solidFill>
            <a:srgbClr val="122B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2" name="Google Shape;222;p42"/>
          <p:cNvSpPr txBox="1"/>
          <p:nvPr>
            <p:ph type="title"/>
          </p:nvPr>
        </p:nvSpPr>
        <p:spPr>
          <a:xfrm>
            <a:off x="202550" y="289279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r>
              <a:rPr sz="2200" b="1">
                <a:solidFill>
                  <a:srgbClr val="FFFFFF"/>
                </a:solidFill>
                <a:latin typeface="Aptos Display"/>
              </a:rPr>
              <a:t>RAG - Chunking - Chunker</a:t>
            </a:r>
          </a:p>
        </p:txBody>
      </p:sp>
      <p:sp>
        <p:nvSpPr>
          <p:cNvPr id="228" name="Rectangle 227"/>
          <p:cNvSpPr/>
          <p:nvPr/>
        </p:nvSpPr>
        <p:spPr>
          <a:xfrm>
            <a:off x="621792" y="1133856"/>
            <a:ext cx="54864" cy="3639312"/>
          </a:xfrm>
          <a:prstGeom prst="rect">
            <a:avLst/>
          </a:prstGeom>
          <a:solidFill>
            <a:srgbClr val="009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9" name="TextBox 228"/>
          <p:cNvSpPr txBox="1"/>
          <p:nvPr/>
        </p:nvSpPr>
        <p:spPr>
          <a:xfrm>
            <a:off x="896112" y="1161288"/>
            <a:ext cx="7571231" cy="3602736"/>
          </a:xfrm>
          <a:prstGeom prst="rect">
            <a:avLst/>
          </a:prstGeom>
          <a:noFill/>
        </p:spPr>
        <p:txBody>
          <a:bodyPr wrap="square" lIns="54864" rIns="54864" tIns="36576" bIns="36576">
            <a:normAutofit/>
          </a:bodyPr>
          <a:lstStyle/>
          <a:p>
            <a:pPr marL="274320" indent="-164592">
              <a:buChar char="•"/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  <a:defRPr sz="1600">
                <a:solidFill>
                  <a:srgbClr val="2A2D32"/>
                </a:solidFill>
                <a:latin typeface="Aptos"/>
              </a:defRPr>
            </a:pPr>
            <a:r>
              <a:t>Chunker: RecursiveCharacterTextSplitter.from_huggingface_tokenizer.</a:t>
            </a:r>
          </a:p>
          <a:p>
            <a:pPr marL="274320" indent="-164592">
              <a:buChar char="•"/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  <a:defRPr sz="1600">
                <a:solidFill>
                  <a:srgbClr val="2A2D32"/>
                </a:solidFill>
                <a:latin typeface="Aptos"/>
              </a:defRPr>
            </a:pPr>
            <a:r>
              <a:t>Chunk size: 512 tokens; overlap: 64 tokens.</a:t>
            </a:r>
          </a:p>
          <a:p>
            <a:pPr marL="274320" indent="-164592">
              <a:buChar char="•"/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  <a:defRPr sz="1600">
                <a:solidFill>
                  <a:srgbClr val="2A2D32"/>
                </a:solidFill>
                <a:latin typeface="Aptos"/>
              </a:defRPr>
            </a:pPr>
            <a:r>
              <a:t>Split priority: paragraph, line, heading, sentence, word, then character boundaries.</a:t>
            </a:r>
          </a:p>
          <a:p>
            <a:pPr marL="274320" indent="-164592">
              <a:buChar char="•"/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  <a:defRPr sz="1600">
                <a:solidFill>
                  <a:srgbClr val="2A2D32"/>
                </a:solidFill>
                <a:latin typeface="Aptos"/>
              </a:defRPr>
            </a:pPr>
            <a:r>
              <a:t>Atomic property rows are added for property-matrix entries so a single property and fee can be retrieved precisely.</a:t>
            </a:r>
          </a:p>
          <a:p>
            <a:pPr marL="274320" indent="-164592">
              <a:buChar char="•"/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  <a:defRPr sz="1600">
                <a:solidFill>
                  <a:srgbClr val="2A2D32"/>
                </a:solidFill>
                <a:latin typeface="Aptos"/>
              </a:defRPr>
            </a:pPr>
            <a:r>
              <a:t>Metadata is added after splitting to preserve section, topic, and property identity.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Rectangle 234"/>
          <p:cNvSpPr/>
          <p:nvPr/>
        </p:nvSpPr>
        <p:spPr>
          <a:xfrm>
            <a:off x="0" y="841248"/>
            <a:ext cx="9144000" cy="45720"/>
          </a:xfrm>
          <a:prstGeom prst="rect">
            <a:avLst/>
          </a:prstGeom>
          <a:solidFill>
            <a:srgbClr val="009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4" name="Rectangle 233"/>
          <p:cNvSpPr/>
          <p:nvPr/>
        </p:nvSpPr>
        <p:spPr>
          <a:xfrm>
            <a:off x="0" y="0"/>
            <a:ext cx="9144000" cy="841248"/>
          </a:xfrm>
          <a:prstGeom prst="rect">
            <a:avLst/>
          </a:prstGeom>
          <a:solidFill>
            <a:srgbClr val="122B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0" name="Google Shape;230;p43"/>
          <p:cNvSpPr txBox="1"/>
          <p:nvPr>
            <p:ph type="title"/>
          </p:nvPr>
        </p:nvSpPr>
        <p:spPr>
          <a:xfrm>
            <a:off x="202550" y="289279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r>
              <a:rPr sz="2200" b="1">
                <a:solidFill>
                  <a:srgbClr val="FFFFFF"/>
                </a:solidFill>
                <a:latin typeface="Aptos Display"/>
              </a:rPr>
              <a:t>RAG - Chunking - Chunk Documents</a:t>
            </a:r>
          </a:p>
        </p:txBody>
      </p:sp>
      <p:sp>
        <p:nvSpPr>
          <p:cNvPr id="236" name="Rectangle 235"/>
          <p:cNvSpPr/>
          <p:nvPr/>
        </p:nvSpPr>
        <p:spPr>
          <a:xfrm>
            <a:off x="621792" y="1133856"/>
            <a:ext cx="54864" cy="3639312"/>
          </a:xfrm>
          <a:prstGeom prst="rect">
            <a:avLst/>
          </a:prstGeom>
          <a:solidFill>
            <a:srgbClr val="009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7" name="TextBox 236"/>
          <p:cNvSpPr txBox="1"/>
          <p:nvPr/>
        </p:nvSpPr>
        <p:spPr>
          <a:xfrm>
            <a:off x="896112" y="1161288"/>
            <a:ext cx="7571231" cy="3602736"/>
          </a:xfrm>
          <a:prstGeom prst="rect">
            <a:avLst/>
          </a:prstGeom>
          <a:noFill/>
        </p:spPr>
        <p:txBody>
          <a:bodyPr wrap="square" lIns="54864" rIns="54864" tIns="36576" bIns="36576">
            <a:normAutofit/>
          </a:bodyPr>
          <a:lstStyle/>
          <a:p>
            <a:pPr marL="274320" indent="-164592">
              <a:buChar char="•"/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  <a:defRPr sz="1550">
                <a:solidFill>
                  <a:srgbClr val="2A2D32"/>
                </a:solidFill>
                <a:latin typeface="Aptos"/>
              </a:defRPr>
            </a:pPr>
            <a:r>
              <a:t>Total chunks created: 43, including atomic property rows.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  <a:defRPr sz="1550">
                <a:solidFill>
                  <a:srgbClr val="2A2D32"/>
                </a:solidFill>
                <a:latin typeface="Aptos"/>
              </a:defRPr>
            </a:pPr>
            <a:r>
              <a:rPr b="1">
                <a:solidFill>
                  <a:srgbClr val="122B46"/>
                </a:solidFill>
              </a:rPr>
              <a:t>Example focused chunk</a:t>
            </a:r>
          </a:p>
          <a:p>
            <a:pPr lvl="1" marL="274320" indent="0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  <a:defRPr sz="1550">
                <a:solidFill>
                  <a:srgbClr val="2A2D32"/>
                </a:solidFill>
                <a:latin typeface="Aptos"/>
              </a:defRPr>
            </a:pPr>
            <a:r>
              <a:t>## Property-specific matrix | Property: ASH-MIA</a:t>
            </a:r>
          </a:p>
          <a:p>
            <a:pPr lvl="1" marL="274320" indent="0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  <a:defRPr sz="1550">
                <a:solidFill>
                  <a:srgbClr val="2A2D32"/>
                </a:solidFill>
                <a:latin typeface="Aptos"/>
              </a:defRPr>
            </a:pPr>
            <a:r>
              <a:t>ASH-MIA Brickell | Parking: Valet, $55 per night | Pets: $100 per stay; 2 pets max</a:t>
            </a:r>
          </a:p>
          <a:p>
            <a:pPr marL="274320" indent="-164592">
              <a:buChar char="•"/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  <a:defRPr sz="1550">
                <a:solidFill>
                  <a:srgbClr val="2A2D32"/>
                </a:solidFill>
                <a:latin typeface="Aptos"/>
              </a:defRPr>
            </a:pPr>
            <a:r>
              <a:t>One-property rows reduce contamination from unrelated properties and broad policy sections.</a:t>
            </a:r>
          </a:p>
          <a:p>
            <a:pPr marL="274320" indent="-164592">
              <a:buChar char="•"/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  <a:defRPr sz="1550">
                <a:solidFill>
                  <a:srgbClr val="2A2D32"/>
                </a:solidFill>
                <a:latin typeface="Aptos"/>
              </a:defRPr>
            </a:pPr>
            <a:r>
              <a:t>Each chunk carries source, section, property_codes, and topics metadata.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Rectangle 242"/>
          <p:cNvSpPr/>
          <p:nvPr/>
        </p:nvSpPr>
        <p:spPr>
          <a:xfrm>
            <a:off x="0" y="841248"/>
            <a:ext cx="9144000" cy="45720"/>
          </a:xfrm>
          <a:prstGeom prst="rect">
            <a:avLst/>
          </a:prstGeom>
          <a:solidFill>
            <a:srgbClr val="009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2" name="Rectangle 241"/>
          <p:cNvSpPr/>
          <p:nvPr/>
        </p:nvSpPr>
        <p:spPr>
          <a:xfrm>
            <a:off x="0" y="0"/>
            <a:ext cx="9144000" cy="841248"/>
          </a:xfrm>
          <a:prstGeom prst="rect">
            <a:avLst/>
          </a:prstGeom>
          <a:solidFill>
            <a:srgbClr val="122B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8" name="Google Shape;238;p44"/>
          <p:cNvSpPr txBox="1"/>
          <p:nvPr>
            <p:ph type="title"/>
          </p:nvPr>
        </p:nvSpPr>
        <p:spPr>
          <a:xfrm>
            <a:off x="202550" y="289279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r>
              <a:rPr sz="2200" b="1">
                <a:solidFill>
                  <a:srgbClr val="FFFFFF"/>
                </a:solidFill>
                <a:latin typeface="Aptos Display"/>
              </a:rPr>
              <a:t>RAG - Vector Database</a:t>
            </a:r>
          </a:p>
        </p:txBody>
      </p:sp>
      <p:sp>
        <p:nvSpPr>
          <p:cNvPr id="244" name="Rectangle 243"/>
          <p:cNvSpPr/>
          <p:nvPr/>
        </p:nvSpPr>
        <p:spPr>
          <a:xfrm>
            <a:off x="621792" y="1133856"/>
            <a:ext cx="54864" cy="3639312"/>
          </a:xfrm>
          <a:prstGeom prst="rect">
            <a:avLst/>
          </a:prstGeom>
          <a:solidFill>
            <a:srgbClr val="009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5" name="TextBox 244"/>
          <p:cNvSpPr txBox="1"/>
          <p:nvPr/>
        </p:nvSpPr>
        <p:spPr>
          <a:xfrm>
            <a:off x="896112" y="1161288"/>
            <a:ext cx="7571231" cy="3602736"/>
          </a:xfrm>
          <a:prstGeom prst="rect">
            <a:avLst/>
          </a:prstGeom>
          <a:noFill/>
        </p:spPr>
        <p:txBody>
          <a:bodyPr wrap="square" lIns="54864" rIns="54864" tIns="36576" bIns="36576">
            <a:normAutofit/>
          </a:bodyPr>
          <a:lstStyle/>
          <a:p>
            <a:pPr marL="274320" indent="-164592">
              <a:buChar char="•"/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  <a:defRPr sz="1600">
                <a:solidFill>
                  <a:srgbClr val="2A2D32"/>
                </a:solidFill>
                <a:latin typeface="Aptos"/>
              </a:defRPr>
            </a:pPr>
            <a:r>
              <a:t>Vector database: FAISS with 43 normalized document vectors.</a:t>
            </a:r>
          </a:p>
          <a:p>
            <a:pPr marL="274320" indent="-164592">
              <a:buChar char="•"/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  <a:defRPr sz="1600">
                <a:solidFill>
                  <a:srgbClr val="2A2D32"/>
                </a:solidFill>
                <a:latin typeface="Aptos"/>
              </a:defRPr>
            </a:pPr>
            <a:r>
              <a:t>Index is persisted for the backend under backend/faiss_index.</a:t>
            </a:r>
          </a:p>
          <a:p>
            <a:pPr marL="274320" indent="-164592">
              <a:buChar char="•"/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  <a:defRPr sz="1600">
                <a:solidFill>
                  <a:srgbClr val="2A2D32"/>
                </a:solidFill>
                <a:latin typeface="Aptos"/>
              </a:defRPr>
            </a:pPr>
            <a:r>
              <a:t>Final retrieval setting: k=5 chunks.</a:t>
            </a:r>
          </a:p>
          <a:p>
            <a:pPr marL="274320" indent="-164592">
              <a:buChar char="•"/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  <a:defRPr sz="1600">
                <a:solidFill>
                  <a:srgbClr val="2A2D32"/>
                </a:solidFill>
                <a:latin typeface="Aptos"/>
              </a:defRPr>
            </a:pPr>
            <a:r>
              <a:t>Candidate search uses MMR lambda=0.50 and fetch_k=20.</a:t>
            </a:r>
          </a:p>
          <a:p>
            <a:pPr marL="274320" indent="-164592">
              <a:buChar char="•"/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  <a:defRPr sz="1600">
                <a:solidFill>
                  <a:srgbClr val="2A2D32"/>
                </a:solidFill>
                <a:latin typeface="Aptos"/>
              </a:defRPr>
            </a:pPr>
            <a:r>
              <a:t>CrossEncoder ms-marco-MiniLM-L-6-v2 reranks candidates; topic and property metadata provide additional boosts.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Rectangle 250"/>
          <p:cNvSpPr/>
          <p:nvPr/>
        </p:nvSpPr>
        <p:spPr>
          <a:xfrm>
            <a:off x="0" y="841248"/>
            <a:ext cx="9144000" cy="45720"/>
          </a:xfrm>
          <a:prstGeom prst="rect">
            <a:avLst/>
          </a:prstGeom>
          <a:solidFill>
            <a:srgbClr val="009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0" name="Rectangle 249"/>
          <p:cNvSpPr/>
          <p:nvPr/>
        </p:nvSpPr>
        <p:spPr>
          <a:xfrm>
            <a:off x="0" y="0"/>
            <a:ext cx="9144000" cy="841248"/>
          </a:xfrm>
          <a:prstGeom prst="rect">
            <a:avLst/>
          </a:prstGeom>
          <a:solidFill>
            <a:srgbClr val="122B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6" name="Google Shape;246;p45"/>
          <p:cNvSpPr txBox="1"/>
          <p:nvPr>
            <p:ph type="title"/>
          </p:nvPr>
        </p:nvSpPr>
        <p:spPr>
          <a:xfrm>
            <a:off x="202550" y="289279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r>
              <a:rPr sz="2200" b="1">
                <a:solidFill>
                  <a:srgbClr val="FFFFFF"/>
                </a:solidFill>
                <a:latin typeface="Aptos Display"/>
              </a:rPr>
              <a:t>RAG - Vector Database - Retrieval Function</a:t>
            </a:r>
          </a:p>
        </p:txBody>
      </p:sp>
      <p:sp>
        <p:nvSpPr>
          <p:cNvPr id="252" name="Rectangle 251"/>
          <p:cNvSpPr/>
          <p:nvPr/>
        </p:nvSpPr>
        <p:spPr>
          <a:xfrm>
            <a:off x="621792" y="1133856"/>
            <a:ext cx="54864" cy="3639312"/>
          </a:xfrm>
          <a:prstGeom prst="rect">
            <a:avLst/>
          </a:prstGeom>
          <a:solidFill>
            <a:srgbClr val="009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3" name="TextBox 252"/>
          <p:cNvSpPr txBox="1"/>
          <p:nvPr/>
        </p:nvSpPr>
        <p:spPr>
          <a:xfrm>
            <a:off x="896112" y="1161288"/>
            <a:ext cx="7571231" cy="3602736"/>
          </a:xfrm>
          <a:prstGeom prst="rect">
            <a:avLst/>
          </a:prstGeom>
          <a:noFill/>
        </p:spPr>
        <p:txBody>
          <a:bodyPr wrap="square" lIns="54864" rIns="54864" tIns="36576" bIns="36576">
            <a:normAutofit/>
          </a:bodyPr>
          <a:lstStyle/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  <a:defRPr sz="1550">
                <a:solidFill>
                  <a:srgbClr val="2A2D32"/>
                </a:solidFill>
                <a:latin typeface="Aptos"/>
              </a:defRPr>
            </a:pPr>
            <a:r>
              <a:t>Query: What are the parking fees at the Atlanta and Miami hotels?</a:t>
            </a:r>
          </a:p>
          <a:p>
            <a:pPr marL="274320" indent="-164592">
              <a:buChar char="•"/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  <a:defRPr sz="1550">
                <a:solidFill>
                  <a:srgbClr val="2A2D32"/>
                </a:solidFill>
                <a:latin typeface="Aptos"/>
              </a:defRPr>
            </a:pPr>
            <a:r>
              <a:t>Property routing identifies ASH-ATL and ASH-MIA; topic routing identifies parking.</a:t>
            </a:r>
          </a:p>
          <a:p>
            <a:pPr marL="274320" indent="-164592">
              <a:buChar char="•"/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  <a:defRPr sz="1550">
                <a:solidFill>
                  <a:srgbClr val="2A2D32"/>
                </a:solidFill>
                <a:latin typeface="Aptos"/>
              </a:defRPr>
            </a:pPr>
            <a:r>
              <a:t>Candidate chunks are retrieved with MMR, then reranked for direct relevance.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  <a:defRPr sz="1550">
                <a:solidFill>
                  <a:srgbClr val="2A2D32"/>
                </a:solidFill>
                <a:latin typeface="Aptos"/>
              </a:defRPr>
            </a:pPr>
            <a:r>
              <a:rPr b="1">
                <a:solidFill>
                  <a:srgbClr val="122B46"/>
                </a:solidFill>
              </a:rPr>
              <a:t>Relevant evidence</a:t>
            </a:r>
          </a:p>
          <a:p>
            <a:pPr lvl="1" marL="274320" indent="0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  <a:defRPr sz="1550">
                <a:solidFill>
                  <a:srgbClr val="2A2D32"/>
                </a:solidFill>
                <a:latin typeface="Aptos"/>
              </a:defRPr>
            </a:pPr>
            <a:r>
              <a:t>ASH-ATL Midtown: self parking, $28 per night.</a:t>
            </a:r>
          </a:p>
          <a:p>
            <a:pPr lvl="1" marL="274320" indent="0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  <a:defRPr sz="1550">
                <a:solidFill>
                  <a:srgbClr val="2A2D32"/>
                </a:solidFill>
                <a:latin typeface="Aptos"/>
              </a:defRPr>
            </a:pPr>
            <a:r>
              <a:t>ASH-MIA Brickell: valet, $55 per night.</a:t>
            </a:r>
          </a:p>
          <a:p>
            <a:pPr marL="274320" indent="-164592">
              <a:buChar char="•"/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  <a:defRPr sz="1550">
                <a:solidFill>
                  <a:srgbClr val="2A2D32"/>
                </a:solidFill>
                <a:latin typeface="Aptos"/>
              </a:defRPr>
            </a:pPr>
            <a:r>
              <a:t>The final context contains the two requested property rows instead of unrelated policy sections.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Rectangle 258"/>
          <p:cNvSpPr/>
          <p:nvPr/>
        </p:nvSpPr>
        <p:spPr>
          <a:xfrm>
            <a:off x="0" y="841248"/>
            <a:ext cx="9144000" cy="45720"/>
          </a:xfrm>
          <a:prstGeom prst="rect">
            <a:avLst/>
          </a:prstGeom>
          <a:solidFill>
            <a:srgbClr val="009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8" name="Rectangle 257"/>
          <p:cNvSpPr/>
          <p:nvPr/>
        </p:nvSpPr>
        <p:spPr>
          <a:xfrm>
            <a:off x="0" y="0"/>
            <a:ext cx="9144000" cy="841248"/>
          </a:xfrm>
          <a:prstGeom prst="rect">
            <a:avLst/>
          </a:prstGeom>
          <a:solidFill>
            <a:srgbClr val="122B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4" name="Google Shape;254;p46"/>
          <p:cNvSpPr txBox="1"/>
          <p:nvPr>
            <p:ph type="title"/>
          </p:nvPr>
        </p:nvSpPr>
        <p:spPr>
          <a:xfrm>
            <a:off x="202550" y="289279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r>
              <a:rPr sz="2200" b="1">
                <a:solidFill>
                  <a:srgbClr val="FFFFFF"/>
                </a:solidFill>
                <a:latin typeface="Aptos Display"/>
              </a:rPr>
              <a:t>RAG - Generation System - Load the LLM</a:t>
            </a:r>
          </a:p>
        </p:txBody>
      </p:sp>
      <p:sp>
        <p:nvSpPr>
          <p:cNvPr id="260" name="Rectangle 259"/>
          <p:cNvSpPr/>
          <p:nvPr/>
        </p:nvSpPr>
        <p:spPr>
          <a:xfrm>
            <a:off x="621792" y="1133856"/>
            <a:ext cx="54864" cy="3639312"/>
          </a:xfrm>
          <a:prstGeom prst="rect">
            <a:avLst/>
          </a:prstGeom>
          <a:solidFill>
            <a:srgbClr val="009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1" name="TextBox 260"/>
          <p:cNvSpPr txBox="1"/>
          <p:nvPr/>
        </p:nvSpPr>
        <p:spPr>
          <a:xfrm>
            <a:off x="896112" y="1161288"/>
            <a:ext cx="7571231" cy="3602736"/>
          </a:xfrm>
          <a:prstGeom prst="rect">
            <a:avLst/>
          </a:prstGeom>
          <a:noFill/>
        </p:spPr>
        <p:txBody>
          <a:bodyPr wrap="square" lIns="54864" rIns="54864" tIns="36576" bIns="36576">
            <a:normAutofit/>
          </a:bodyPr>
          <a:lstStyle/>
          <a:p>
            <a:pPr marL="274320" indent="-164592">
              <a:buChar char="•"/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  <a:defRPr sz="1700">
                <a:solidFill>
                  <a:srgbClr val="2A2D32"/>
                </a:solidFill>
                <a:latin typeface="Aptos"/>
              </a:defRPr>
            </a:pPr>
            <a:r>
              <a:t>Generator: OpenAI-compatible ChatOpenAI wrapper.</a:t>
            </a:r>
          </a:p>
          <a:p>
            <a:pPr marL="274320" indent="-164592">
              <a:buChar char="•"/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  <a:defRPr sz="1700">
                <a:solidFill>
                  <a:srgbClr val="2A2D32"/>
                </a:solidFill>
                <a:latin typeface="Aptos"/>
              </a:defRPr>
            </a:pPr>
            <a:r>
              <a:t>Model: gpt-4o-mini.</a:t>
            </a:r>
          </a:p>
          <a:p>
            <a:pPr marL="274320" indent="-164592">
              <a:buChar char="•"/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  <a:defRPr sz="1700">
                <a:solidFill>
                  <a:srgbClr val="2A2D32"/>
                </a:solidFill>
                <a:latin typeface="Aptos"/>
              </a:defRPr>
            </a:pPr>
            <a:r>
              <a:t>temperature=0.0 | top_p=1.0 | max_tokens=512.</a:t>
            </a:r>
          </a:p>
          <a:p>
            <a:pPr marL="274320" indent="-164592">
              <a:buChar char="•"/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  <a:defRPr sz="1700">
                <a:solidFill>
                  <a:srgbClr val="2A2D32"/>
                </a:solidFill>
                <a:latin typeface="Aptos"/>
              </a:defRPr>
            </a:pPr>
            <a:r>
              <a:t>API key and base URL are loaded from environment/configuration rather than hard-coded.</a:t>
            </a:r>
          </a:p>
          <a:p>
            <a:pPr marL="274320" indent="-164592">
              <a:buChar char="•"/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  <a:defRPr sz="1700">
                <a:solidFill>
                  <a:srgbClr val="2A2D32"/>
                </a:solidFill>
                <a:latin typeface="Aptos"/>
              </a:defRPr>
            </a:pPr>
            <a:r>
              <a:t>Deterministic settings favor repeatable, concise policy answers for evaluation and operations.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Rectangle 266"/>
          <p:cNvSpPr/>
          <p:nvPr/>
        </p:nvSpPr>
        <p:spPr>
          <a:xfrm>
            <a:off x="0" y="841248"/>
            <a:ext cx="9144000" cy="45720"/>
          </a:xfrm>
          <a:prstGeom prst="rect">
            <a:avLst/>
          </a:prstGeom>
          <a:solidFill>
            <a:srgbClr val="009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6" name="Rectangle 265"/>
          <p:cNvSpPr/>
          <p:nvPr/>
        </p:nvSpPr>
        <p:spPr>
          <a:xfrm>
            <a:off x="0" y="0"/>
            <a:ext cx="9144000" cy="841248"/>
          </a:xfrm>
          <a:prstGeom prst="rect">
            <a:avLst/>
          </a:prstGeom>
          <a:solidFill>
            <a:srgbClr val="122B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2" name="Google Shape;262;p47"/>
          <p:cNvSpPr txBox="1"/>
          <p:nvPr>
            <p:ph type="title"/>
          </p:nvPr>
        </p:nvSpPr>
        <p:spPr>
          <a:xfrm>
            <a:off x="202550" y="289279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r>
              <a:rPr sz="2200" b="1">
                <a:solidFill>
                  <a:srgbClr val="FFFFFF"/>
                </a:solidFill>
                <a:latin typeface="Aptos Display"/>
              </a:rPr>
              <a:t>RAG - Generation System - Generation Prompt</a:t>
            </a:r>
          </a:p>
        </p:txBody>
      </p:sp>
      <p:sp>
        <p:nvSpPr>
          <p:cNvPr id="268" name="Rectangle 267"/>
          <p:cNvSpPr/>
          <p:nvPr/>
        </p:nvSpPr>
        <p:spPr>
          <a:xfrm>
            <a:off x="621792" y="1133856"/>
            <a:ext cx="54864" cy="3639312"/>
          </a:xfrm>
          <a:prstGeom prst="rect">
            <a:avLst/>
          </a:prstGeom>
          <a:solidFill>
            <a:srgbClr val="009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9" name="TextBox 268"/>
          <p:cNvSpPr txBox="1"/>
          <p:nvPr/>
        </p:nvSpPr>
        <p:spPr>
          <a:xfrm>
            <a:off x="896112" y="1161288"/>
            <a:ext cx="7571231" cy="3602736"/>
          </a:xfrm>
          <a:prstGeom prst="rect">
            <a:avLst/>
          </a:prstGeom>
          <a:noFill/>
        </p:spPr>
        <p:txBody>
          <a:bodyPr wrap="square" lIns="54864" rIns="54864" tIns="36576" bIns="36576">
            <a:normAutofit/>
          </a:bodyPr>
          <a:lstStyle/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  <a:defRPr sz="1500">
                <a:solidFill>
                  <a:srgbClr val="2A2D32"/>
                </a:solidFill>
                <a:latin typeface="Aptos"/>
              </a:defRPr>
            </a:pPr>
            <a:r>
              <a:t>Prompt inputs: user query + retrieved policy information.</a:t>
            </a:r>
          </a:p>
          <a:p>
            <a:pPr marL="274320" indent="-164592">
              <a:buChar char="•"/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  <a:defRPr sz="1500">
                <a:solidFill>
                  <a:srgbClr val="2A2D32"/>
                </a:solidFill>
                <a:latin typeface="Aptos"/>
              </a:defRPr>
            </a:pPr>
            <a:r>
              <a:t>Use only information explicitly supported by retrieved policy text.</a:t>
            </a:r>
          </a:p>
          <a:p>
            <a:pPr marL="274320" indent="-164592">
              <a:buChar char="•"/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  <a:defRPr sz="1500">
                <a:solidFill>
                  <a:srgbClr val="2A2D32"/>
                </a:solidFill>
                <a:latin typeface="Aptos"/>
              </a:defRPr>
            </a:pPr>
            <a:r>
              <a:t>Include relevant conditions, exclusions, limits, exceptions, and coverage details.</a:t>
            </a:r>
          </a:p>
          <a:p>
            <a:pPr marL="274320" indent="-164592">
              <a:buChar char="•"/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  <a:defRPr sz="1500">
                <a:solidFill>
                  <a:srgbClr val="2A2D32"/>
                </a:solidFill>
                <a:latin typeface="Aptos"/>
              </a:defRPr>
            </a:pPr>
            <a:r>
              <a:t>Focus on the question; omit unrelated content and do not invent facts.</a:t>
            </a:r>
          </a:p>
          <a:p>
            <a:pPr marL="274320" indent="-164592">
              <a:buChar char="•"/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  <a:defRPr sz="1500">
                <a:solidFill>
                  <a:srgbClr val="2A2D32"/>
                </a:solidFill>
                <a:latin typeface="Aptos"/>
              </a:defRPr>
            </a:pPr>
            <a:r>
              <a:t>If evidence is insufficient, return: The available policy documents do not contain enough information to answer this question.</a:t>
            </a:r>
          </a:p>
          <a:p>
            <a:pPr marL="274320" indent="-164592">
              <a:buChar char="•"/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  <a:defRPr sz="1500">
                <a:solidFill>
                  <a:srgbClr val="2A2D32"/>
                </a:solidFill>
                <a:latin typeface="Aptos"/>
              </a:defRPr>
            </a:pPr>
            <a:r>
              <a:t>Additional guards focus Advance Purchase, Accessible King, and late-checkout questions on their relevant evidence.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Rectangle 274"/>
          <p:cNvSpPr/>
          <p:nvPr/>
        </p:nvSpPr>
        <p:spPr>
          <a:xfrm>
            <a:off x="0" y="841248"/>
            <a:ext cx="9144000" cy="45720"/>
          </a:xfrm>
          <a:prstGeom prst="rect">
            <a:avLst/>
          </a:prstGeom>
          <a:solidFill>
            <a:srgbClr val="009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4" name="Rectangle 273"/>
          <p:cNvSpPr/>
          <p:nvPr/>
        </p:nvSpPr>
        <p:spPr>
          <a:xfrm>
            <a:off x="0" y="0"/>
            <a:ext cx="9144000" cy="841248"/>
          </a:xfrm>
          <a:prstGeom prst="rect">
            <a:avLst/>
          </a:prstGeom>
          <a:solidFill>
            <a:srgbClr val="122B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0" name="Google Shape;270;p48"/>
          <p:cNvSpPr txBox="1"/>
          <p:nvPr>
            <p:ph type="title"/>
          </p:nvPr>
        </p:nvSpPr>
        <p:spPr>
          <a:xfrm>
            <a:off x="202550" y="289279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r>
              <a:rPr sz="2200" b="1">
                <a:solidFill>
                  <a:srgbClr val="FFFFFF"/>
                </a:solidFill>
                <a:latin typeface="Aptos Display"/>
              </a:rPr>
              <a:t>RAG - Generation System - RAG Function</a:t>
            </a:r>
          </a:p>
        </p:txBody>
      </p:sp>
      <p:sp>
        <p:nvSpPr>
          <p:cNvPr id="276" name="Rectangle 275"/>
          <p:cNvSpPr/>
          <p:nvPr/>
        </p:nvSpPr>
        <p:spPr>
          <a:xfrm>
            <a:off x="621792" y="1133856"/>
            <a:ext cx="54864" cy="3639312"/>
          </a:xfrm>
          <a:prstGeom prst="rect">
            <a:avLst/>
          </a:prstGeom>
          <a:solidFill>
            <a:srgbClr val="009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7" name="TextBox 276"/>
          <p:cNvSpPr txBox="1"/>
          <p:nvPr/>
        </p:nvSpPr>
        <p:spPr>
          <a:xfrm>
            <a:off x="896112" y="1161288"/>
            <a:ext cx="7571231" cy="3602736"/>
          </a:xfrm>
          <a:prstGeom prst="rect">
            <a:avLst/>
          </a:prstGeom>
          <a:noFill/>
        </p:spPr>
        <p:txBody>
          <a:bodyPr wrap="square" lIns="54864" rIns="54864" tIns="36576" bIns="36576">
            <a:normAutofit/>
          </a:bodyPr>
          <a:lstStyle/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  <a:defRPr sz="1550">
                <a:solidFill>
                  <a:srgbClr val="2A2D32"/>
                </a:solidFill>
                <a:latin typeface="Aptos"/>
              </a:defRPr>
            </a:pPr>
            <a:r>
              <a:t>Pipeline: query -&gt; retrieve top-k chunks -&gt; generate grounded answer -&gt; return answer and evidence.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  <a:defRPr sz="1550">
                <a:solidFill>
                  <a:srgbClr val="2A2D32"/>
                </a:solidFill>
                <a:latin typeface="Aptos"/>
              </a:defRPr>
            </a:pPr>
            <a:r>
              <a:t>Example query: What is the cancellation policy for a flexible reservation?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  <a:defRPr sz="1550">
                <a:solidFill>
                  <a:srgbClr val="2A2D32"/>
                </a:solidFill>
                <a:latin typeface="Aptos"/>
              </a:defRPr>
            </a:pPr>
            <a:r>
              <a:t>Example answer: Flexible rates can normally be canceled by 6:00 PM local property time one day before arrival without a room charge. Later cancellation or no-show may be charged one night plus tax; the confirmation controls if it differs.</a:t>
            </a:r>
          </a:p>
          <a:p>
            <a:pPr marL="274320" indent="-164592">
              <a:buChar char="•"/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  <a:defRPr sz="1550">
                <a:solidFill>
                  <a:srgbClr val="2A2D32"/>
                </a:solidFill>
                <a:latin typeface="Aptos"/>
              </a:defRPr>
            </a:pPr>
            <a:r>
              <a:t>The response endpoint can return the answer alone or the answer plus relevant chunks for verification.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Rectangle 282"/>
          <p:cNvSpPr/>
          <p:nvPr/>
        </p:nvSpPr>
        <p:spPr>
          <a:xfrm>
            <a:off x="0" y="841248"/>
            <a:ext cx="9144000" cy="45720"/>
          </a:xfrm>
          <a:prstGeom prst="rect">
            <a:avLst/>
          </a:prstGeom>
          <a:solidFill>
            <a:srgbClr val="009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2" name="Rectangle 281"/>
          <p:cNvSpPr/>
          <p:nvPr/>
        </p:nvSpPr>
        <p:spPr>
          <a:xfrm>
            <a:off x="0" y="0"/>
            <a:ext cx="9144000" cy="841248"/>
          </a:xfrm>
          <a:prstGeom prst="rect">
            <a:avLst/>
          </a:prstGeom>
          <a:solidFill>
            <a:srgbClr val="122B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8" name="Google Shape;278;p49"/>
          <p:cNvSpPr txBox="1"/>
          <p:nvPr>
            <p:ph type="title"/>
          </p:nvPr>
        </p:nvSpPr>
        <p:spPr>
          <a:xfrm>
            <a:off x="202550" y="289279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r>
              <a:rPr sz="2200" b="1">
                <a:solidFill>
                  <a:srgbClr val="FFFFFF"/>
                </a:solidFill>
                <a:latin typeface="Aptos Display"/>
              </a:rPr>
              <a:t>Evaluation - Load the Evaluation Data</a:t>
            </a:r>
          </a:p>
        </p:txBody>
      </p:sp>
      <p:sp>
        <p:nvSpPr>
          <p:cNvPr id="284" name="Rectangle 283"/>
          <p:cNvSpPr/>
          <p:nvPr/>
        </p:nvSpPr>
        <p:spPr>
          <a:xfrm>
            <a:off x="621792" y="1133856"/>
            <a:ext cx="54864" cy="3639312"/>
          </a:xfrm>
          <a:prstGeom prst="rect">
            <a:avLst/>
          </a:prstGeom>
          <a:solidFill>
            <a:srgbClr val="009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5" name="TextBox 284"/>
          <p:cNvSpPr txBox="1"/>
          <p:nvPr/>
        </p:nvSpPr>
        <p:spPr>
          <a:xfrm>
            <a:off x="896112" y="1161288"/>
            <a:ext cx="7571231" cy="3602736"/>
          </a:xfrm>
          <a:prstGeom prst="rect">
            <a:avLst/>
          </a:prstGeom>
          <a:noFill/>
        </p:spPr>
        <p:txBody>
          <a:bodyPr wrap="square" lIns="54864" rIns="54864" tIns="36576" bIns="36576">
            <a:normAutofit/>
          </a:bodyPr>
          <a:lstStyle/>
          <a:p>
            <a:pPr marL="274320" indent="-164592">
              <a:buChar char="•"/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  <a:defRPr sz="1500">
                <a:solidFill>
                  <a:srgbClr val="2A2D32"/>
                </a:solidFill>
                <a:latin typeface="Aptos"/>
              </a:defRPr>
            </a:pPr>
            <a:r>
              <a:t>Development evaluation file: data/evaluation.csv.</a:t>
            </a:r>
          </a:p>
          <a:p>
            <a:pPr marL="274320" indent="-164592">
              <a:buChar char="•"/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  <a:defRPr sz="1500">
                <a:solidFill>
                  <a:srgbClr val="2A2D32"/>
                </a:solidFill>
                <a:latin typeface="Aptos"/>
              </a:defRPr>
            </a:pPr>
            <a:r>
              <a:t>10 records with question, expected answer, and ground-truth relevant context.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  <a:defRPr sz="1500">
                <a:solidFill>
                  <a:srgbClr val="2A2D32"/>
                </a:solidFill>
                <a:latin typeface="Aptos"/>
              </a:defRPr>
            </a:pPr>
            <a:r>
              <a:t>Sample question: What time can I check in at ASH-CHI Loop, and when do I need to be out?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  <a:defRPr sz="1500">
                <a:solidFill>
                  <a:srgbClr val="2A2D32"/>
                </a:solidFill>
                <a:latin typeface="Aptos"/>
              </a:defRPr>
            </a:pPr>
            <a:r>
              <a:t>Expected answer: Standard check-in is 3:00 PM and standard check-out is 12:00 PM local property time; early arrival and late departure depend on availability and approval.</a:t>
            </a:r>
          </a:p>
          <a:p>
            <a:pPr marL="274320" indent="-164592">
              <a:buChar char="•"/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  <a:defRPr sz="1500">
                <a:solidFill>
                  <a:srgbClr val="2A2D32"/>
                </a:solidFill>
                <a:latin typeface="Aptos"/>
              </a:defRPr>
            </a:pPr>
            <a:r>
              <a:t>Multi-context records use &lt;&gt; separators so relevant policy sections can be evaluated together.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Rectangle 290"/>
          <p:cNvSpPr/>
          <p:nvPr/>
        </p:nvSpPr>
        <p:spPr>
          <a:xfrm>
            <a:off x="0" y="841248"/>
            <a:ext cx="9144000" cy="45720"/>
          </a:xfrm>
          <a:prstGeom prst="rect">
            <a:avLst/>
          </a:prstGeom>
          <a:solidFill>
            <a:srgbClr val="009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0" name="Rectangle 289"/>
          <p:cNvSpPr/>
          <p:nvPr/>
        </p:nvSpPr>
        <p:spPr>
          <a:xfrm>
            <a:off x="0" y="0"/>
            <a:ext cx="9144000" cy="841248"/>
          </a:xfrm>
          <a:prstGeom prst="rect">
            <a:avLst/>
          </a:prstGeom>
          <a:solidFill>
            <a:srgbClr val="122B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6" name="Google Shape;286;p50"/>
          <p:cNvSpPr txBox="1"/>
          <p:nvPr>
            <p:ph type="title"/>
          </p:nvPr>
        </p:nvSpPr>
        <p:spPr>
          <a:xfrm>
            <a:off x="202550" y="289279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r>
              <a:rPr sz="2200" b="1">
                <a:solidFill>
                  <a:srgbClr val="FFFFFF"/>
                </a:solidFill>
                <a:latin typeface="Aptos Display"/>
              </a:rPr>
              <a:t>Evaluation - Define the Evaluation Model</a:t>
            </a:r>
          </a:p>
        </p:txBody>
      </p:sp>
      <p:sp>
        <p:nvSpPr>
          <p:cNvPr id="292" name="Rectangle 291"/>
          <p:cNvSpPr/>
          <p:nvPr/>
        </p:nvSpPr>
        <p:spPr>
          <a:xfrm>
            <a:off x="621792" y="1133856"/>
            <a:ext cx="54864" cy="3639312"/>
          </a:xfrm>
          <a:prstGeom prst="rect">
            <a:avLst/>
          </a:prstGeom>
          <a:solidFill>
            <a:srgbClr val="009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3" name="TextBox 292"/>
          <p:cNvSpPr txBox="1"/>
          <p:nvPr/>
        </p:nvSpPr>
        <p:spPr>
          <a:xfrm>
            <a:off x="896112" y="1161288"/>
            <a:ext cx="7571231" cy="3602736"/>
          </a:xfrm>
          <a:prstGeom prst="rect">
            <a:avLst/>
          </a:prstGeom>
          <a:noFill/>
        </p:spPr>
        <p:txBody>
          <a:bodyPr wrap="square" lIns="54864" rIns="54864" tIns="36576" bIns="36576">
            <a:normAutofit/>
          </a:bodyPr>
          <a:lstStyle/>
          <a:p>
            <a:pPr marL="274320" indent="-164592">
              <a:buChar char="•"/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  <a:defRPr sz="1600">
                <a:solidFill>
                  <a:srgbClr val="2A2D32"/>
                </a:solidFill>
                <a:latin typeface="Aptos"/>
              </a:defRPr>
            </a:pPr>
            <a:r>
              <a:t>Judge model: gpt-4o through the DeepEval OpenAIModel wrapper.</a:t>
            </a:r>
          </a:p>
          <a:p>
            <a:pPr marL="274320" indent="-164592">
              <a:buChar char="•"/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  <a:defRPr sz="1600">
                <a:solidFill>
                  <a:srgbClr val="2A2D32"/>
                </a:solidFill>
                <a:latin typeface="Aptos"/>
              </a:defRPr>
            </a:pPr>
            <a:r>
              <a:t>The generator remains gpt-4o-mini with temperature=0.0, top_p=1.0, and max_tokens=512.</a:t>
            </a:r>
          </a:p>
          <a:p>
            <a:pPr marL="274320" indent="-164592">
              <a:buChar char="•"/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  <a:defRPr sz="1600">
                <a:solidFill>
                  <a:srgbClr val="2A2D32"/>
                </a:solidFill>
                <a:latin typeface="Aptos"/>
              </a:defRPr>
            </a:pPr>
            <a:r>
              <a:t>The stronger judge model scores factual support, retrieval coverage, retrieval focus, and answer relevance.</a:t>
            </a:r>
          </a:p>
          <a:p>
            <a:pPr marL="274320" indent="-164592">
              <a:buChar char="•"/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  <a:defRPr sz="1600">
                <a:solidFill>
                  <a:srgbClr val="2A2D32"/>
                </a:solidFill>
                <a:latin typeface="Aptos"/>
              </a:defRPr>
            </a:pPr>
            <a:r>
              <a:t>Evaluations run synchronously so each test case has a stable, auditable metric result.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Rectangle 298"/>
          <p:cNvSpPr/>
          <p:nvPr/>
        </p:nvSpPr>
        <p:spPr>
          <a:xfrm>
            <a:off x="0" y="841248"/>
            <a:ext cx="9144000" cy="45720"/>
          </a:xfrm>
          <a:prstGeom prst="rect">
            <a:avLst/>
          </a:prstGeom>
          <a:solidFill>
            <a:srgbClr val="009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8" name="Rectangle 297"/>
          <p:cNvSpPr/>
          <p:nvPr/>
        </p:nvSpPr>
        <p:spPr>
          <a:xfrm>
            <a:off x="0" y="0"/>
            <a:ext cx="9144000" cy="841248"/>
          </a:xfrm>
          <a:prstGeom prst="rect">
            <a:avLst/>
          </a:prstGeom>
          <a:solidFill>
            <a:srgbClr val="122B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4" name="Google Shape;294;p51"/>
          <p:cNvSpPr txBox="1"/>
          <p:nvPr>
            <p:ph type="title"/>
          </p:nvPr>
        </p:nvSpPr>
        <p:spPr>
          <a:xfrm>
            <a:off x="202550" y="289279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r>
              <a:rPr sz="2200" b="1">
                <a:solidFill>
                  <a:srgbClr val="FFFFFF"/>
                </a:solidFill>
                <a:latin typeface="Aptos Display"/>
              </a:rPr>
              <a:t>Evaluation - Define the Evaluation Metrics</a:t>
            </a:r>
          </a:p>
        </p:txBody>
      </p:sp>
      <p:sp>
        <p:nvSpPr>
          <p:cNvPr id="300" name="Rectangle 299"/>
          <p:cNvSpPr/>
          <p:nvPr/>
        </p:nvSpPr>
        <p:spPr>
          <a:xfrm>
            <a:off x="621792" y="1133856"/>
            <a:ext cx="54864" cy="3639312"/>
          </a:xfrm>
          <a:prstGeom prst="rect">
            <a:avLst/>
          </a:prstGeom>
          <a:solidFill>
            <a:srgbClr val="009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1" name="TextBox 300"/>
          <p:cNvSpPr txBox="1"/>
          <p:nvPr/>
        </p:nvSpPr>
        <p:spPr>
          <a:xfrm>
            <a:off x="896112" y="1161288"/>
            <a:ext cx="7571231" cy="3602736"/>
          </a:xfrm>
          <a:prstGeom prst="rect">
            <a:avLst/>
          </a:prstGeom>
          <a:noFill/>
        </p:spPr>
        <p:txBody>
          <a:bodyPr wrap="square" lIns="54864" rIns="54864" tIns="36576" bIns="36576">
            <a:normAutofit/>
          </a:bodyPr>
          <a:lstStyle/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  <a:defRPr sz="1550">
                <a:solidFill>
                  <a:srgbClr val="2A2D32"/>
                </a:solidFill>
                <a:latin typeface="Aptos"/>
              </a:defRPr>
            </a:pPr>
            <a:r>
              <a:t>Faithfulness &gt;= 0.85: every important answer claim is supported by retrieved context.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  <a:defRPr sz="1550">
                <a:solidFill>
                  <a:srgbClr val="2A2D32"/>
                </a:solidFill>
                <a:latin typeface="Aptos"/>
              </a:defRPr>
            </a:pPr>
            <a:r>
              <a:t>Contextual Recall &gt;= 0.80: retrieved context contains information needed for the expected answer.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  <a:defRPr sz="1550">
                <a:solidFill>
                  <a:srgbClr val="2A2D32"/>
                </a:solidFill>
                <a:latin typeface="Aptos"/>
              </a:defRPr>
            </a:pPr>
            <a:r>
              <a:t>Contextual Precision &gt;= 0.75: relevant context is prioritized over unrelated content.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  <a:defRPr sz="1550">
                <a:solidFill>
                  <a:srgbClr val="2A2D32"/>
                </a:solidFill>
                <a:latin typeface="Aptos"/>
              </a:defRPr>
            </a:pPr>
            <a:r>
              <a:t>Answer Relevancy &gt;= 0.75: answer directly addresses the user question.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  <a:defRPr sz="1550">
                <a:solidFill>
                  <a:srgbClr val="2A2D32"/>
                </a:solidFill>
                <a:latin typeface="Aptos"/>
              </a:defRPr>
            </a:pPr>
            <a:r>
              <a:t>Composite = 0.35F + 0.25Recall + 0.20Precision + 0.20Relevancy.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  <a:defRPr sz="1550">
                <a:solidFill>
                  <a:srgbClr val="2A2D32"/>
                </a:solidFill>
                <a:latin typeface="Aptos"/>
              </a:defRPr>
            </a:pPr>
            <a:r>
              <a:t>A case passes only when all four metric thresholds are met.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Rectangle 306"/>
          <p:cNvSpPr/>
          <p:nvPr/>
        </p:nvSpPr>
        <p:spPr>
          <a:xfrm>
            <a:off x="0" y="841248"/>
            <a:ext cx="9144000" cy="45720"/>
          </a:xfrm>
          <a:prstGeom prst="rect">
            <a:avLst/>
          </a:prstGeom>
          <a:solidFill>
            <a:srgbClr val="009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6" name="Rectangle 305"/>
          <p:cNvSpPr/>
          <p:nvPr/>
        </p:nvSpPr>
        <p:spPr>
          <a:xfrm>
            <a:off x="0" y="0"/>
            <a:ext cx="9144000" cy="841248"/>
          </a:xfrm>
          <a:prstGeom prst="rect">
            <a:avLst/>
          </a:prstGeom>
          <a:solidFill>
            <a:srgbClr val="122B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2" name="Google Shape;302;p52"/>
          <p:cNvSpPr txBox="1"/>
          <p:nvPr>
            <p:ph type="title"/>
          </p:nvPr>
        </p:nvSpPr>
        <p:spPr>
          <a:xfrm>
            <a:off x="202550" y="289279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r>
              <a:rPr sz="2200" b="1">
                <a:solidFill>
                  <a:srgbClr val="FFFFFF"/>
                </a:solidFill>
                <a:latin typeface="Aptos Display"/>
              </a:rPr>
              <a:t>Evaluation - Build and Run the Evaluation</a:t>
            </a:r>
          </a:p>
        </p:txBody>
      </p:sp>
      <p:sp>
        <p:nvSpPr>
          <p:cNvPr id="308" name="Rectangle 307"/>
          <p:cNvSpPr/>
          <p:nvPr/>
        </p:nvSpPr>
        <p:spPr>
          <a:xfrm>
            <a:off x="621792" y="1133856"/>
            <a:ext cx="54864" cy="3639312"/>
          </a:xfrm>
          <a:prstGeom prst="rect">
            <a:avLst/>
          </a:prstGeom>
          <a:solidFill>
            <a:srgbClr val="009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9" name="TextBox 308"/>
          <p:cNvSpPr txBox="1"/>
          <p:nvPr/>
        </p:nvSpPr>
        <p:spPr>
          <a:xfrm>
            <a:off x="896112" y="1161288"/>
            <a:ext cx="7571231" cy="3602736"/>
          </a:xfrm>
          <a:prstGeom prst="rect">
            <a:avLst/>
          </a:prstGeom>
          <a:noFill/>
        </p:spPr>
        <p:txBody>
          <a:bodyPr wrap="square" lIns="54864" rIns="54864" tIns="36576" bIns="36576">
            <a:normAutofit/>
          </a:bodyPr>
          <a:lstStyle/>
          <a:p>
            <a:pPr marL="274320" indent="-164592">
              <a:buChar char="•"/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  <a:defRPr sz="1450">
                <a:solidFill>
                  <a:srgbClr val="2A2D32"/>
                </a:solidFill>
                <a:latin typeface="Aptos"/>
              </a:defRPr>
            </a:pPr>
            <a:r>
              <a:t>Retrieval tuning matrix selected chunk_size=512, overlap=64, MMR lambda=0.50, and fetch_k=20.</a:t>
            </a:r>
          </a:p>
          <a:p>
            <a:pPr marL="274320" indent="-164592">
              <a:buChar char="•"/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  <a:defRPr sz="1450">
                <a:solidFill>
                  <a:srgbClr val="2A2D32"/>
                </a:solidFill>
                <a:latin typeface="Aptos"/>
              </a:defRPr>
            </a:pPr>
            <a:r>
              <a:t>Dev proxy coverage: 0.836; held-out test proxy coverage: 0.850.</a:t>
            </a:r>
          </a:p>
          <a:p>
            <a:pPr marL="274320" indent="-164592">
              <a:buChar char="•"/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  <a:defRPr sz="1450">
                <a:solidFill>
                  <a:srgbClr val="2A2D32"/>
                </a:solidFill>
                <a:latin typeface="Aptos"/>
              </a:defRPr>
            </a:pPr>
            <a:r>
              <a:t>Full DeepEval is the acceptance test; proxy coverage is used only to narrow candidates.</a:t>
            </a:r>
          </a:p>
          <a:p>
            <a:pPr marL="274320" indent="-164592">
              <a:buChar char="•"/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  <a:defRPr sz="1450">
                <a:solidFill>
                  <a:srgbClr val="2A2D32"/>
                </a:solidFill>
                <a:latin typeface="Aptos"/>
              </a:defRPr>
            </a:pPr>
            <a:r>
              <a:t>The evaluation creates LLMTestCase objects with input, expected output, actual output, retrieval context, and reference context.</a:t>
            </a:r>
          </a:p>
          <a:p>
            <a:pPr marL="274320" indent="-164592">
              <a:buChar char="•"/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  <a:defRPr sz="1450">
                <a:solidFill>
                  <a:srgbClr val="2A2D32"/>
                </a:solidFill>
                <a:latin typeface="Aptos"/>
              </a:defRPr>
            </a:pPr>
            <a:r>
              <a:t>Cases are classified as AUTO ANSWER, ASSISTED REVIEW, or MANUAL LOOKUP from the composite score.</a:t>
            </a:r>
          </a:p>
          <a:p>
            <a:pPr marL="274320" indent="-164592">
              <a:buChar char="•"/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  <a:defRPr sz="1450">
                <a:solidFill>
                  <a:srgbClr val="2A2D32"/>
                </a:solidFill>
                <a:latin typeface="Aptos"/>
              </a:defRPr>
            </a:pPr>
            <a:r>
              <a:t>Result: baseline k=5 is the selected configuration by highest composite score.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9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Rectangle 314"/>
          <p:cNvSpPr/>
          <p:nvPr/>
        </p:nvSpPr>
        <p:spPr>
          <a:xfrm>
            <a:off x="0" y="841248"/>
            <a:ext cx="9144000" cy="45720"/>
          </a:xfrm>
          <a:prstGeom prst="rect">
            <a:avLst/>
          </a:prstGeom>
          <a:solidFill>
            <a:srgbClr val="009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4" name="Rectangle 313"/>
          <p:cNvSpPr/>
          <p:nvPr/>
        </p:nvSpPr>
        <p:spPr>
          <a:xfrm>
            <a:off x="0" y="0"/>
            <a:ext cx="9144000" cy="841248"/>
          </a:xfrm>
          <a:prstGeom prst="rect">
            <a:avLst/>
          </a:prstGeom>
          <a:solidFill>
            <a:srgbClr val="122B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0" name="Google Shape;310;p53"/>
          <p:cNvSpPr txBox="1"/>
          <p:nvPr>
            <p:ph type="title"/>
          </p:nvPr>
        </p:nvSpPr>
        <p:spPr>
          <a:xfrm>
            <a:off x="202550" y="289279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r>
              <a:rPr sz="2200" b="1">
                <a:solidFill>
                  <a:srgbClr val="FFFFFF"/>
                </a:solidFill>
                <a:latin typeface="Aptos Display"/>
              </a:rPr>
              <a:t>Evaluation - Load the Test Data</a:t>
            </a:r>
          </a:p>
        </p:txBody>
      </p:sp>
      <p:sp>
        <p:nvSpPr>
          <p:cNvPr id="316" name="Rectangle 315"/>
          <p:cNvSpPr/>
          <p:nvPr/>
        </p:nvSpPr>
        <p:spPr>
          <a:xfrm>
            <a:off x="621792" y="1133856"/>
            <a:ext cx="54864" cy="3639312"/>
          </a:xfrm>
          <a:prstGeom prst="rect">
            <a:avLst/>
          </a:prstGeom>
          <a:solidFill>
            <a:srgbClr val="009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7" name="TextBox 316"/>
          <p:cNvSpPr txBox="1"/>
          <p:nvPr/>
        </p:nvSpPr>
        <p:spPr>
          <a:xfrm>
            <a:off x="896112" y="1161288"/>
            <a:ext cx="7571231" cy="3602736"/>
          </a:xfrm>
          <a:prstGeom prst="rect">
            <a:avLst/>
          </a:prstGeom>
          <a:noFill/>
        </p:spPr>
        <p:txBody>
          <a:bodyPr wrap="square" lIns="54864" rIns="54864" tIns="36576" bIns="36576">
            <a:normAutofit/>
          </a:bodyPr>
          <a:lstStyle/>
          <a:p>
            <a:pPr marL="274320" indent="-164592">
              <a:buChar char="•"/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  <a:defRPr sz="1500">
                <a:solidFill>
                  <a:srgbClr val="2A2D32"/>
                </a:solidFill>
                <a:latin typeface="Aptos"/>
              </a:defRPr>
            </a:pPr>
            <a:r>
              <a:t>Held-out file: data/test.xlsx.</a:t>
            </a:r>
          </a:p>
          <a:p>
            <a:pPr marL="274320" indent="-164592">
              <a:buChar char="•"/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  <a:defRPr sz="1500">
                <a:solidFill>
                  <a:srgbClr val="2A2D32"/>
                </a:solidFill>
                <a:latin typeface="Aptos"/>
              </a:defRPr>
            </a:pPr>
            <a:r>
              <a:t>10 unseen questions covering cancellation, discounts, room occupancy, accessibility, parking, breakfast, rate changes, checkout, pets, and incidental holds.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  <a:defRPr sz="1500">
                <a:solidFill>
                  <a:srgbClr val="2A2D32"/>
                </a:solidFill>
                <a:latin typeface="Aptos"/>
              </a:defRPr>
            </a:pPr>
            <a:r>
              <a:t>Sample question: How many people can stay in a Double Queen room?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  <a:defRPr sz="1500">
                <a:solidFill>
                  <a:srgbClr val="2A2D32"/>
                </a:solidFill>
                <a:latin typeface="Aptos"/>
              </a:defRPr>
            </a:pPr>
            <a:r>
              <a:t>Expected answer: Up to 4 guests, subject to fire-code and property occupancy limits; recheck the room and rate if the group size changes.</a:t>
            </a:r>
          </a:p>
          <a:p>
            <a:pPr marL="274320" indent="-164592">
              <a:buChar char="•"/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  <a:defRPr sz="1500">
                <a:solidFill>
                  <a:srgbClr val="2A2D32"/>
                </a:solidFill>
                <a:latin typeface="Aptos"/>
              </a:defRPr>
            </a:pPr>
            <a:r>
              <a:t>The held-out set is used only for final comparison and selection of the baseline.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7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Rectangle 322"/>
          <p:cNvSpPr/>
          <p:nvPr/>
        </p:nvSpPr>
        <p:spPr>
          <a:xfrm>
            <a:off x="0" y="841248"/>
            <a:ext cx="9144000" cy="45720"/>
          </a:xfrm>
          <a:prstGeom prst="rect">
            <a:avLst/>
          </a:prstGeom>
          <a:solidFill>
            <a:srgbClr val="009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2" name="Rectangle 321"/>
          <p:cNvSpPr/>
          <p:nvPr/>
        </p:nvSpPr>
        <p:spPr>
          <a:xfrm>
            <a:off x="0" y="0"/>
            <a:ext cx="9144000" cy="841248"/>
          </a:xfrm>
          <a:prstGeom prst="rect">
            <a:avLst/>
          </a:prstGeom>
          <a:solidFill>
            <a:srgbClr val="122B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8" name="Google Shape;318;p54"/>
          <p:cNvSpPr txBox="1"/>
          <p:nvPr>
            <p:ph type="title"/>
          </p:nvPr>
        </p:nvSpPr>
        <p:spPr>
          <a:xfrm>
            <a:off x="202550" y="289279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r>
              <a:rPr sz="2200" b="1">
                <a:solidFill>
                  <a:srgbClr val="FFFFFF"/>
                </a:solidFill>
                <a:latin typeface="Aptos Display"/>
              </a:rPr>
              <a:t>Evaluation - Build and Run the Evaluation</a:t>
            </a:r>
          </a:p>
        </p:txBody>
      </p:sp>
      <p:sp>
        <p:nvSpPr>
          <p:cNvPr id="324" name="Rectangle 323"/>
          <p:cNvSpPr/>
          <p:nvPr/>
        </p:nvSpPr>
        <p:spPr>
          <a:xfrm>
            <a:off x="621792" y="1133856"/>
            <a:ext cx="54864" cy="3639312"/>
          </a:xfrm>
          <a:prstGeom prst="rect">
            <a:avLst/>
          </a:prstGeom>
          <a:solidFill>
            <a:srgbClr val="009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5" name="TextBox 324"/>
          <p:cNvSpPr txBox="1"/>
          <p:nvPr/>
        </p:nvSpPr>
        <p:spPr>
          <a:xfrm>
            <a:off x="896112" y="1161288"/>
            <a:ext cx="7571231" cy="3602736"/>
          </a:xfrm>
          <a:prstGeom prst="rect">
            <a:avLst/>
          </a:prstGeom>
          <a:noFill/>
        </p:spPr>
        <p:txBody>
          <a:bodyPr wrap="square" lIns="54864" rIns="54864" tIns="36576" bIns="36576">
            <a:normAutofit/>
          </a:bodyPr>
          <a:lstStyle/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  <a:defRPr sz="1400">
                <a:solidFill>
                  <a:srgbClr val="2A2D32"/>
                </a:solidFill>
                <a:latin typeface="Aptos"/>
              </a:defRPr>
            </a:pPr>
            <a:r>
              <a:rPr b="1">
                <a:solidFill>
                  <a:srgbClr val="122B46"/>
                </a:solidFill>
              </a:rPr>
              <a:t>Held-out DeepEval comparison (10 cases)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  <a:defRPr sz="1400">
                <a:solidFill>
                  <a:srgbClr val="2A2D32"/>
                </a:solidFill>
                <a:latin typeface="Aptos"/>
              </a:defRPr>
            </a:pPr>
            <a:r>
              <a:t>Baseline k=5     F=.993  R=.977  P=.808  AR=.939  Composite=.941  Pass=9/10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  <a:defRPr sz="1400">
                <a:solidFill>
                  <a:srgbClr val="2A2D32"/>
                </a:solidFill>
                <a:latin typeface="Aptos"/>
              </a:defRPr>
            </a:pPr>
            <a:r>
              <a:t>Hybrid k=5       F=.995  R=.979  P=.787  AR=.922  Composite=.935  Pass=8/10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  <a:defRPr sz="1400">
                <a:solidFill>
                  <a:srgbClr val="2A2D32"/>
                </a:solidFill>
                <a:latin typeface="Aptos"/>
              </a:defRPr>
            </a:pPr>
            <a:r>
              <a:t>Hybrid k=6       F=.993  R=.982  P=.781  AR=.929  Composite=.935  Pass=8/10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  <a:defRPr sz="1400">
                <a:solidFill>
                  <a:srgbClr val="2A2D32"/>
                </a:solidFill>
                <a:latin typeface="Aptos"/>
              </a:defRPr>
            </a:pPr>
            <a:r>
              <a:rPr b="1">
                <a:solidFill>
                  <a:srgbClr val="1F7752"/>
                </a:solidFill>
              </a:rPr>
              <a:t>Selected: baseline k=5 because it has the highest weighted composite score.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  <a:defRPr sz="1400">
                <a:solidFill>
                  <a:srgbClr val="2A2D32"/>
                </a:solidFill>
                <a:latin typeface="Aptos"/>
              </a:defRPr>
            </a:pPr>
            <a:r>
              <a:rPr b="1">
                <a:solidFill>
                  <a:srgbClr val="A62A2A"/>
                </a:solidFill>
              </a:rPr>
              <a:t>Only remaining failure: Accessible King room inclusions; Contextual Precision=.451.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  <a:defRPr sz="1400">
                <a:solidFill>
                  <a:srgbClr val="2A2D32"/>
                </a:solidFill>
                <a:latin typeface="Aptos"/>
              </a:defRPr>
            </a:pPr>
            <a:r>
              <a:t>The benchmark question is underspecified. A focused clarification plus single-chunk retrieval scored Precision=.961 and passed all four metrics.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Just Logo">
  <a:themeElements>
    <a:clrScheme name="Simple Light">
      <a:dk1>
        <a:srgbClr val="222222"/>
      </a:dk1>
      <a:lt1>
        <a:srgbClr val="FFFFFF"/>
      </a:lt1>
      <a:dk2>
        <a:srgbClr val="222222"/>
      </a:dk2>
      <a:lt2>
        <a:srgbClr val="0E39A9"/>
      </a:lt2>
      <a:accent1>
        <a:srgbClr val="FFAB40"/>
      </a:accent1>
      <a:accent2>
        <a:srgbClr val="6F4294"/>
      </a:accent2>
      <a:accent3>
        <a:srgbClr val="FFA000"/>
      </a:accent3>
      <a:accent4>
        <a:srgbClr val="FFAB40"/>
      </a:accent4>
      <a:accent5>
        <a:srgbClr val="FFDF00"/>
      </a:accent5>
      <a:accent6>
        <a:srgbClr val="1974D5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Just Logo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