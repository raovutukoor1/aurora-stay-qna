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y="5143500" cx="9144000"/>
  <p:notesSz cx="6858000" cy="9144000"/>
  <p:embeddedFontLst>
    <p:embeddedFont>
      <p:font typeface="Nunito SemiBold"/>
      <p:regular r:id="rId40"/>
      <p:bold r:id="rId41"/>
      <p:italic r:id="rId42"/>
      <p:boldItalic r:id="rId43"/>
    </p:embeddedFont>
    <p:embeddedFont>
      <p:font typeface="Nunito"/>
      <p:regular r:id="rId44"/>
      <p:bold r:id="rId45"/>
      <p:italic r:id="rId46"/>
      <p:boldItalic r:id="rId47"/>
    </p:embeddedFont>
    <p:embeddedFont>
      <p:font typeface="Montserrat"/>
      <p:regular r:id="rId48"/>
      <p:bold r:id="rId49"/>
      <p:italic r:id="rId50"/>
      <p:boldItalic r:id="rId51"/>
    </p:embeddedFont>
    <p:embeddedFont>
      <p:font typeface="Nunito ExtraBold"/>
      <p:bold r:id="rId52"/>
      <p:boldItalic r:id="rId53"/>
    </p:embeddedFont>
    <p:embeddedFont>
      <p:font typeface="Century Gothic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698273-5225-4557-BD2E-0B8C5CF09AB3}">
  <a:tblStyle styleId="{A5698273-5225-4557-BD2E-0B8C5CF09AB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SemiBold-regular.fntdata"/><Relationship Id="rId42" Type="http://schemas.openxmlformats.org/officeDocument/2006/relationships/font" Target="fonts/NunitoSemiBold-italic.fntdata"/><Relationship Id="rId41" Type="http://schemas.openxmlformats.org/officeDocument/2006/relationships/font" Target="fonts/NunitoSemiBold-bold.fntdata"/><Relationship Id="rId44" Type="http://schemas.openxmlformats.org/officeDocument/2006/relationships/font" Target="fonts/Nunito-regular.fntdata"/><Relationship Id="rId43" Type="http://schemas.openxmlformats.org/officeDocument/2006/relationships/font" Target="fonts/NunitoSemiBold-boldItalic.fntdata"/><Relationship Id="rId46" Type="http://schemas.openxmlformats.org/officeDocument/2006/relationships/font" Target="fonts/Nunito-italic.fntdata"/><Relationship Id="rId45" Type="http://schemas.openxmlformats.org/officeDocument/2006/relationships/font" Target="fonts/Nuni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Montserrat-regular.fntdata"/><Relationship Id="rId47" Type="http://schemas.openxmlformats.org/officeDocument/2006/relationships/font" Target="fonts/Nunito-boldItalic.fntdata"/><Relationship Id="rId49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Montserrat-boldItalic.fntdata"/><Relationship Id="rId50" Type="http://schemas.openxmlformats.org/officeDocument/2006/relationships/font" Target="fonts/Montserrat-italic.fntdata"/><Relationship Id="rId53" Type="http://schemas.openxmlformats.org/officeDocument/2006/relationships/font" Target="fonts/NunitoExtraBold-boldItalic.fntdata"/><Relationship Id="rId52" Type="http://schemas.openxmlformats.org/officeDocument/2006/relationships/font" Target="fonts/NunitoExtraBold-bold.fntdata"/><Relationship Id="rId11" Type="http://schemas.openxmlformats.org/officeDocument/2006/relationships/slide" Target="slides/slide4.xml"/><Relationship Id="rId55" Type="http://schemas.openxmlformats.org/officeDocument/2006/relationships/font" Target="fonts/CenturyGothic-bold.fntdata"/><Relationship Id="rId10" Type="http://schemas.openxmlformats.org/officeDocument/2006/relationships/slide" Target="slides/slide3.xml"/><Relationship Id="rId54" Type="http://schemas.openxmlformats.org/officeDocument/2006/relationships/font" Target="fonts/CenturyGothic-regular.fntdata"/><Relationship Id="rId13" Type="http://schemas.openxmlformats.org/officeDocument/2006/relationships/slide" Target="slides/slide6.xml"/><Relationship Id="rId57" Type="http://schemas.openxmlformats.org/officeDocument/2006/relationships/font" Target="fonts/CenturyGothic-boldItalic.fntdata"/><Relationship Id="rId12" Type="http://schemas.openxmlformats.org/officeDocument/2006/relationships/slide" Target="slides/slide5.xml"/><Relationship Id="rId56" Type="http://schemas.openxmlformats.org/officeDocument/2006/relationships/font" Target="fonts/CenturyGothic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275fce4f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c275fce4f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1ee84572765e4f1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h1ee84572765e4f1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1ee84572765e4f1b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h1ee84572765e4f1b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1ee84572765e4f1b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h1ee84572765e4f1b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1ee84572765e4f1b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h1ee84572765e4f1b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h1ee84572765e4f1b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h1ee84572765e4f1b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1ee84572765e4f1b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h1ee84572765e4f1b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1ee84572765e4f1b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h1ee84572765e4f1b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h1ee84572765e4f1b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h1ee84572765e4f1b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1ee84572765e4f1b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h1ee84572765e4f1b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1ee84572765e4f1b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h1ee84572765e4f1b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1ee84572765e4f1b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h1ee84572765e4f1b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1ee84572765e4f1b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h1ee84572765e4f1b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1ee84572765e4f1b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h1ee84572765e4f1b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1ee84572765e4f1b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h1ee84572765e4f1b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h1ee84572765e4f1b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h1ee84572765e4f1b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1ee84572765e4f1b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h1ee84572765e4f1b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h1ee84572765e4f1b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h1ee84572765e4f1b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h1ee84572765e4f1b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h1ee84572765e4f1b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h1ee84572765e4f1b_1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h1ee84572765e4f1b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1ee84572765e4f1b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h1ee84572765e4f1b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h1ee84572765e4f1b_1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h1ee84572765e4f1b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h1ee84572765e4f1b_1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h1ee84572765e4f1b_1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h1ee84572765e4f1b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h1ee84572765e4f1b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5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{A5698273-5225-4557-BD2E-0B8C5CF09AB3}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11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1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0" type="dt"/>
          </p:nvPr>
        </p:nvSpPr>
        <p:spPr>
          <a:xfrm>
            <a:off x="457200" y="4857749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2640596" y="4857749"/>
            <a:ext cx="550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204396" y="4857749"/>
            <a:ext cx="73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90424" y="497078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OBJECT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ctrTitle"/>
          </p:nvPr>
        </p:nvSpPr>
        <p:spPr>
          <a:xfrm>
            <a:off x="2938259" y="1851799"/>
            <a:ext cx="3267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OBJECT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 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25" name="Google Shape;125;p26"/>
          <p:cNvPicPr preferRelativeResize="0"/>
          <p:nvPr/>
        </p:nvPicPr>
        <p:blipFill rotWithShape="1">
          <a:blip r:embed="rId2">
            <a:alphaModFix/>
          </a:blip>
          <a:srcRect b="19147" l="42816" r="37294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6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28" name="Google Shape;1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1" name="Google Shape;131;p27"/>
          <p:cNvSpPr txBox="1"/>
          <p:nvPr>
            <p:ph idx="1" type="subTitle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34" name="Google Shape;134;p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8" name="Google Shape;138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41" name="Google Shape;141;p30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{A5698273-5225-4557-BD2E-0B8C5CF09AB3}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3" name="Google Shape;153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7" name="Google Shape;157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8" name="Google Shape;158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59" name="Google Shape;159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7" name="Google Shape;117;p25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" name="Google Shape;118;p2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25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1" name="Google Shape;121;p25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5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"/>
          <p:cNvSpPr txBox="1"/>
          <p:nvPr/>
        </p:nvSpPr>
        <p:spPr>
          <a:xfrm>
            <a:off x="1632725" y="1227550"/>
            <a:ext cx="5411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Presentation Title</a:t>
            </a:r>
            <a:endParaRPr b="1" i="0" sz="41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" name="Google Shape;167;p36"/>
          <p:cNvSpPr txBox="1"/>
          <p:nvPr/>
        </p:nvSpPr>
        <p:spPr>
          <a:xfrm>
            <a:off x="1632725" y="1940550"/>
            <a:ext cx="5199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Project and Course Name</a:t>
            </a:r>
            <a:endParaRPr b="0" i="0" sz="29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" name="Google Shape;168;p36"/>
          <p:cNvSpPr txBox="1"/>
          <p:nvPr/>
        </p:nvSpPr>
        <p:spPr>
          <a:xfrm>
            <a:off x="1632725" y="2586175"/>
            <a:ext cx="117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Date</a:t>
            </a:r>
            <a:endParaRPr b="0" i="0" sz="22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Contents / Agenda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74" name="Google Shape;174;p37"/>
          <p:cNvSpPr/>
          <p:nvPr/>
        </p:nvSpPr>
        <p:spPr>
          <a:xfrm>
            <a:off x="356221" y="11373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" name="Google Shape;175;p37"/>
          <p:cNvSpPr txBox="1"/>
          <p:nvPr/>
        </p:nvSpPr>
        <p:spPr>
          <a:xfrm>
            <a:off x="644599" y="10133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37"/>
          <p:cNvSpPr/>
          <p:nvPr/>
        </p:nvSpPr>
        <p:spPr>
          <a:xfrm>
            <a:off x="356221" y="160868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" name="Google Shape;177;p37"/>
          <p:cNvSpPr txBox="1"/>
          <p:nvPr/>
        </p:nvSpPr>
        <p:spPr>
          <a:xfrm>
            <a:off x="644599" y="148775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Business Problem Overview and Solution Approach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37"/>
          <p:cNvSpPr/>
          <p:nvPr/>
        </p:nvSpPr>
        <p:spPr>
          <a:xfrm>
            <a:off x="356221" y="207999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" name="Google Shape;179;p37"/>
          <p:cNvSpPr txBox="1"/>
          <p:nvPr/>
        </p:nvSpPr>
        <p:spPr>
          <a:xfrm>
            <a:off x="644599" y="196213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Data Understanding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37"/>
          <p:cNvSpPr/>
          <p:nvPr/>
        </p:nvSpPr>
        <p:spPr>
          <a:xfrm>
            <a:off x="356221" y="255129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" name="Google Shape;181;p37"/>
          <p:cNvSpPr txBox="1"/>
          <p:nvPr/>
        </p:nvSpPr>
        <p:spPr>
          <a:xfrm>
            <a:off x="644599" y="243651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Retrieval Augmented Generation System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37"/>
          <p:cNvSpPr/>
          <p:nvPr/>
        </p:nvSpPr>
        <p:spPr>
          <a:xfrm>
            <a:off x="356227" y="302260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3" name="Google Shape;183;p37"/>
          <p:cNvSpPr txBox="1"/>
          <p:nvPr/>
        </p:nvSpPr>
        <p:spPr>
          <a:xfrm>
            <a:off x="644605" y="291089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37"/>
          <p:cNvSpPr/>
          <p:nvPr/>
        </p:nvSpPr>
        <p:spPr>
          <a:xfrm>
            <a:off x="356227" y="349390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5" name="Google Shape;185;p37"/>
          <p:cNvSpPr txBox="1"/>
          <p:nvPr/>
        </p:nvSpPr>
        <p:spPr>
          <a:xfrm>
            <a:off x="644605" y="33852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Deployment - Inference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Executive Summary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91" name="Google Shape;191;p38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2" name="Google Shape;192;p38"/>
          <p:cNvSpPr txBox="1"/>
          <p:nvPr/>
        </p:nvSpPr>
        <p:spPr>
          <a:xfrm>
            <a:off x="691800" y="1327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conclusions and business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recommendations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Business Problem Overview and Solution Approach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98" name="Google Shape;198;p39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9" name="Google Shape;199;p39"/>
          <p:cNvSpPr txBox="1"/>
          <p:nvPr/>
        </p:nvSpPr>
        <p:spPr>
          <a:xfrm>
            <a:off x="691800" y="1327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define the problem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39"/>
          <p:cNvSpPr/>
          <p:nvPr/>
        </p:nvSpPr>
        <p:spPr>
          <a:xfrm>
            <a:off x="403421" y="1832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1" name="Google Shape;201;p39"/>
          <p:cNvSpPr txBox="1"/>
          <p:nvPr/>
        </p:nvSpPr>
        <p:spPr>
          <a:xfrm>
            <a:off x="691800" y="1708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solution approach/methodology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Data Understanding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07" name="Google Shape;207;p40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8" name="Google Shape;208;p40"/>
          <p:cNvSpPr txBox="1"/>
          <p:nvPr/>
        </p:nvSpPr>
        <p:spPr>
          <a:xfrm>
            <a:off x="691800" y="1305250"/>
            <a:ext cx="8107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a few points related to the structure, content, and other relevant aspects of the provided policy documents.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40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RAG - Chunking - Embedding Model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15" name="Google Shape;215;p41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6" name="Google Shape;216;p41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embedding model used and it’s `max_length`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41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RAG - Chunking - Chunker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23" name="Google Shape;223;p42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4" name="Google Shape;224;p42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chunking method used along with its parameters.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42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RAG - Chunking - Chunk Documents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31" name="Google Shape;231;p43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2" name="Google Shape;232;p43"/>
          <p:cNvSpPr txBox="1"/>
          <p:nvPr/>
        </p:nvSpPr>
        <p:spPr>
          <a:xfrm>
            <a:off x="691800" y="1305250"/>
            <a:ext cx="81075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total number of chunks along with a screenshot of any one of the chunks or paste the actual text content of a chunk.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43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RAG - Vector Database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39" name="Google Shape;239;p44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" name="Google Shape;240;p44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Vector Database used and the total number of vectors created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44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RAG - Vector Database - Retrieval Function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47" name="Google Shape;247;p45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8" name="Google Shape;248;p45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any one query along with its relevant retrieved chunks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45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RAG - Generation System - Load the LLM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55" name="Google Shape;255;p46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6" name="Google Shape;256;p46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LLM used along with its parameters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46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RAG - Generation System - Generation Prompt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63" name="Google Shape;263;p47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4" name="Google Shape;264;p47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generation prompt along with any comments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47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RAG - Generation System - RAG function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71" name="Google Shape;271;p48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2" name="Google Shape;272;p48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query passed to the `rag` function along with the generated response.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48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Evaluation</a:t>
            </a:r>
            <a:r>
              <a:rPr lang="en" sz="2400">
                <a:solidFill>
                  <a:srgbClr val="0E39A9"/>
                </a:solidFill>
              </a:rPr>
              <a:t> - Load the evaluation data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79" name="Google Shape;279;p49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0" name="Google Shape;280;p49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any one record from the evaluation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49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Evaluation - Define the evaluation model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87" name="Google Shape;287;p50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8" name="Google Shape;288;p50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model used along with its parameters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50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Evaluation - Define the evaluation metrics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95" name="Google Shape;295;p51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51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evaluation metrics used along with their criteria and relevant steps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51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Evaluation - Build and run the evaluation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303" name="Google Shape;303;p52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4" name="Google Shape;304;p52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evaluation results along with the final output table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52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Evaluation - Load the test data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311" name="Google Shape;311;p53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2" name="Google Shape;312;p53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any one record from the test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53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Evaluation - Build and run the evaluation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319" name="Google Shape;319;p54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0" name="Google Shape;320;p54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test results along with the final output table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54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Deployment - Backend - Serialize the vector database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327" name="Google Shape;327;p55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8" name="Google Shape;328;p55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name of the file in which the vector store is saved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55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Deployment - Backend - Define the Flask application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335" name="Google Shape;335;p56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6" name="Google Shape;336;p56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endpoints used in the Flask application along with comments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p56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Deployment - Backend - Define the dependencies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343" name="Google Shape;343;p57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4" name="Google Shape;344;p57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dependencies used along with its content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57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Deployment - Backend - Define the Dockerfile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351" name="Google Shape;351;p58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2" name="Google Shape;352;p58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Dockerfile used along with its content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58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Deployment - Frontend - Define the Streamlit App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359" name="Google Shape;359;p59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0" name="Google Shape;360;p59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an overview of what the Streamlit app does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59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Deployment - Frontend - Define the Dockerfile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367" name="Google Shape;367;p60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8" name="Google Shape;368;p60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Dockerfile used along with its content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60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Deployment - Frontend - Push the files to GitHub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375" name="Google Shape;375;p61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6" name="Google Shape;376;p61"/>
          <p:cNvSpPr txBox="1"/>
          <p:nvPr/>
        </p:nvSpPr>
        <p:spPr>
          <a:xfrm>
            <a:off x="691800" y="1305250"/>
            <a:ext cx="81075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URL of the GitHub repository where the files have been pushed, along with the names of the files that were pushed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61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Deployment - Inference - Define the forwarded URL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383" name="Google Shape;383;p62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4" name="Google Shape;384;p62"/>
          <p:cNvSpPr txBox="1"/>
          <p:nvPr/>
        </p:nvSpPr>
        <p:spPr>
          <a:xfrm>
            <a:off x="691800" y="1305250"/>
            <a:ext cx="81075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forwarded URL along with screenshots of the Streamlit application deployed in GitHub Codespaces, showing some of the inputs tried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62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Deployment - Inference - Relevant Chunks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391" name="Google Shape;391;p63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2" name="Google Shape;392;p63"/>
          <p:cNvSpPr txBox="1"/>
          <p:nvPr/>
        </p:nvSpPr>
        <p:spPr>
          <a:xfrm>
            <a:off x="691800" y="1305250"/>
            <a:ext cx="81075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corresponding endpoint and the payload sent to the backend along with the response received, or include screenshots of all three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63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Deployment - Inference - Answer with Relevant Chunks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399" name="Google Shape;399;p64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0" name="Google Shape;400;p64"/>
          <p:cNvSpPr txBox="1"/>
          <p:nvPr/>
        </p:nvSpPr>
        <p:spPr>
          <a:xfrm>
            <a:off x="691800" y="1305250"/>
            <a:ext cx="81075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corresponding endpoint and the payload sent to the backend along with the response received, or include screenshots of all three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64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5"/>
          <p:cNvSpPr/>
          <p:nvPr/>
        </p:nvSpPr>
        <p:spPr>
          <a:xfrm>
            <a:off x="0" y="3442950"/>
            <a:ext cx="9162600" cy="78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65"/>
          <p:cNvSpPr txBox="1"/>
          <p:nvPr/>
        </p:nvSpPr>
        <p:spPr>
          <a:xfrm>
            <a:off x="32525" y="3526575"/>
            <a:ext cx="441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APPENDIX</a:t>
            </a:r>
            <a:endParaRPr b="1" i="0" sz="2800" u="none" cap="none" strike="noStrik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chemeClr val="lt2"/>
                </a:solidFill>
              </a:rPr>
              <a:t>Slide header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13" name="Google Shape;413;p66"/>
          <p:cNvSpPr/>
          <p:nvPr/>
        </p:nvSpPr>
        <p:spPr>
          <a:xfrm>
            <a:off x="403421" y="1337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4" name="Google Shape;414;p66"/>
          <p:cNvSpPr txBox="1"/>
          <p:nvPr/>
        </p:nvSpPr>
        <p:spPr>
          <a:xfrm>
            <a:off x="691800" y="1229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add any other pointers (if needed)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7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422" name="Google Shape;422;p6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